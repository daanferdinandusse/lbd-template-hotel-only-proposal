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0287000" cy="18288000"/>
  <p:notesSz cx="6858000" cy="9144000"/>
  <p:embeddedFontLst>
    <p:embeddedFont>
      <p:font typeface="The Seasons Bold" charset="1" panose="00000000000000000000"/>
      <p:regular r:id="rId20"/>
    </p:embeddedFont>
    <p:embeddedFont>
      <p:font typeface="Montserrat Bold" charset="1" panose="00000800000000000000"/>
      <p:regular r:id="rId21"/>
    </p:embeddedFont>
    <p:embeddedFont>
      <p:font typeface="Montserrat" charset="1" panose="00000500000000000000"/>
      <p:regular r:id="rId22"/>
    </p:embeddedFont>
    <p:embeddedFont>
      <p:font typeface="Montserrat Medium Italics" charset="1" panose="00000600000000000000"/>
      <p:regular r:id="rId23"/>
    </p:embeddedFont>
    <p:embeddedFont>
      <p:font typeface="Montserrat Ultra-Bold" charset="1" panose="00000900000000000000"/>
      <p:regular r:id="rId24"/>
    </p:embeddedFont>
    <p:embeddedFont>
      <p:font typeface="Montserrat Medium" charset="1" panose="00000600000000000000"/>
      <p:regular r:id="rId25"/>
    </p:embeddedFont>
    <p:embeddedFont>
      <p:font typeface="Avenir Medium Italics" charset="1" panose="020B0603020203090204"/>
      <p:regular r:id="rId26"/>
    </p:embeddedFont>
    <p:embeddedFont>
      <p:font typeface="Avenir Ultra-Bold" charset="1" panose="020B0803020203020204"/>
      <p:regular r:id="rId27"/>
    </p:embeddedFont>
    <p:embeddedFont>
      <p:font typeface="Avenir Medium" charset="1" panose="020B0603020203020204"/>
      <p:regular r:id="rId28"/>
    </p:embeddedFont>
    <p:embeddedFont>
      <p:font typeface="Montserrat Italics" charset="1" panose="00000500000000000000"/>
      <p:regular r:id="rId29"/>
    </p:embeddedFont>
    <p:embeddedFont>
      <p:font typeface="Nunito" charset="1" panose="00000500000000000000"/>
      <p:regular r:id="rId30"/>
    </p:embeddedFont>
    <p:embeddedFont>
      <p:font typeface="Montserrat Semi-Bold" charset="1" panose="00000700000000000000"/>
      <p:regular r:id="rId31"/>
    </p:embeddedFont>
    <p:embeddedFont>
      <p:font typeface="Montserrat Semi-Bold Italics" charset="1" panose="0000070000000000000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https://app.littleemperors.com/ile/travel" TargetMode="External" Type="http://schemas.openxmlformats.org/officeDocument/2006/relationships/hyperlink"/><Relationship Id="rId4" Target="https://app.littleemperors.com/ile/travel" TargetMode="External" Type="http://schemas.openxmlformats.org/officeDocument/2006/relationships/hyperlink"/><Relationship Id="rId5" Target="https://app.littleemperors.com/ile/travel" TargetMode="External" Type="http://schemas.openxmlformats.org/officeDocument/2006/relationships/hyperlink"/><Relationship Id="rId6"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3.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7.svg" Type="http://schemas.openxmlformats.org/officeDocument/2006/relationships/image"/><Relationship Id="rId4" Target="../media/image1.jpeg" Type="http://schemas.openxmlformats.org/officeDocument/2006/relationships/image"/><Relationship Id="rId5" Target="../media/image8.svg" Type="http://schemas.openxmlformats.org/officeDocument/2006/relationships/image"/><Relationship Id="rId6" Target="../media/image4.jpeg" Type="http://schemas.openxmlformats.org/officeDocument/2006/relationships/image"/><Relationship Id="rId7"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https://app.littleemperors.com/ile/travel" TargetMode="External" Type="http://schemas.openxmlformats.org/officeDocument/2006/relationships/hyperlink"/><Relationship Id="rId5" Target="https://app.littleemperors.com/ile/travel" TargetMode="External" Type="http://schemas.openxmlformats.org/officeDocument/2006/relationships/hyperlink"/><Relationship Id="rId6" Target="https://app.littleemperors.com/ile/travel" TargetMode="External" Type="http://schemas.openxmlformats.org/officeDocument/2006/relationships/hyperlink"/></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3.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7.svg" Type="http://schemas.openxmlformats.org/officeDocument/2006/relationships/image"/><Relationship Id="rId4" Target="../media/image1.jpeg" Type="http://schemas.openxmlformats.org/officeDocument/2006/relationships/image"/><Relationship Id="rId5" Target="../media/image8.svg" Type="http://schemas.openxmlformats.org/officeDocument/2006/relationships/image"/><Relationship Id="rId6" Target="../media/image4.jpeg" Type="http://schemas.openxmlformats.org/officeDocument/2006/relationships/image"/><Relationship Id="rId7"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https://app.littleemperors.com/ile/travel" TargetMode="External" Type="http://schemas.openxmlformats.org/officeDocument/2006/relationships/hyperlink"/><Relationship Id="rId5" Target="https://app.littleemperors.com/ile/travel" TargetMode="External" Type="http://schemas.openxmlformats.org/officeDocument/2006/relationships/hyperlink"/><Relationship Id="rId6" Target="https://app.littleemperors.com/ile/travel"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3.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7.svg" Type="http://schemas.openxmlformats.org/officeDocument/2006/relationships/image"/><Relationship Id="rId4" Target="../media/image1.jpeg" Type="http://schemas.openxmlformats.org/officeDocument/2006/relationships/image"/><Relationship Id="rId5" Target="../media/image8.svg" Type="http://schemas.openxmlformats.org/officeDocument/2006/relationships/image"/><Relationship Id="rId6" Target="../media/image4.jpeg" Type="http://schemas.openxmlformats.org/officeDocument/2006/relationships/image"/><Relationship Id="rId7"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FBFB"/>
        </a:solidFill>
      </p:bgPr>
    </p:bg>
    <p:spTree>
      <p:nvGrpSpPr>
        <p:cNvPr id="1" name=""/>
        <p:cNvGrpSpPr/>
        <p:nvPr/>
      </p:nvGrpSpPr>
      <p:grpSpPr>
        <a:xfrm>
          <a:off x="0" y="0"/>
          <a:ext cx="0" cy="0"/>
          <a:chOff x="0" y="0"/>
          <a:chExt cx="0" cy="0"/>
        </a:xfrm>
      </p:grpSpPr>
      <p:grpSp>
        <p:nvGrpSpPr>
          <p:cNvPr name="Group 2" id="2"/>
          <p:cNvGrpSpPr/>
          <p:nvPr/>
        </p:nvGrpSpPr>
        <p:grpSpPr>
          <a:xfrm rot="0">
            <a:off x="-1132908" y="0"/>
            <a:ext cx="12552815" cy="18288000"/>
            <a:chOff x="0" y="0"/>
            <a:chExt cx="12654423" cy="18436030"/>
          </a:xfrm>
        </p:grpSpPr>
        <p:sp>
          <p:nvSpPr>
            <p:cNvPr name="Freeform 3" id="3"/>
            <p:cNvSpPr/>
            <p:nvPr/>
          </p:nvSpPr>
          <p:spPr>
            <a:xfrm flipH="false" flipV="false" rot="0">
              <a:off x="0" y="0"/>
              <a:ext cx="12654423" cy="18436030"/>
            </a:xfrm>
            <a:custGeom>
              <a:avLst/>
              <a:gdLst/>
              <a:ahLst/>
              <a:cxnLst/>
              <a:rect r="r" b="b" t="t" l="l"/>
              <a:pathLst>
                <a:path h="18436030" w="12654423">
                  <a:moveTo>
                    <a:pt x="12373494" y="0"/>
                  </a:moveTo>
                  <a:lnTo>
                    <a:pt x="280928" y="0"/>
                  </a:lnTo>
                  <a:cubicBezTo>
                    <a:pt x="126544" y="0"/>
                    <a:pt x="0" y="344402"/>
                    <a:pt x="0" y="766118"/>
                  </a:cubicBezTo>
                  <a:lnTo>
                    <a:pt x="0" y="17669912"/>
                  </a:lnTo>
                  <a:cubicBezTo>
                    <a:pt x="0" y="18091627"/>
                    <a:pt x="126544" y="18436030"/>
                    <a:pt x="280928" y="18436030"/>
                  </a:cubicBezTo>
                  <a:lnTo>
                    <a:pt x="12373494" y="18436030"/>
                  </a:lnTo>
                  <a:cubicBezTo>
                    <a:pt x="12527879" y="18436030"/>
                    <a:pt x="12654423" y="18091627"/>
                    <a:pt x="12654423" y="17669912"/>
                  </a:cubicBezTo>
                  <a:lnTo>
                    <a:pt x="12654423" y="766118"/>
                  </a:lnTo>
                  <a:cubicBezTo>
                    <a:pt x="12654423" y="344402"/>
                    <a:pt x="12527879" y="0"/>
                    <a:pt x="12373494" y="0"/>
                  </a:cubicBezTo>
                  <a:close/>
                </a:path>
              </a:pathLst>
            </a:custGeom>
            <a:blipFill>
              <a:blip r:embed="rId2"/>
              <a:stretch>
                <a:fillRect l="-8685" t="0" r="41134" b="81930"/>
              </a:stretch>
            </a:blipFill>
          </p:spPr>
        </p:sp>
      </p:grpSp>
      <p:sp>
        <p:nvSpPr>
          <p:cNvPr name="Freeform 4" id="4"/>
          <p:cNvSpPr/>
          <p:nvPr/>
        </p:nvSpPr>
        <p:spPr>
          <a:xfrm flipH="false" flipV="false" rot="0">
            <a:off x="2498123" y="13728190"/>
            <a:ext cx="5290754" cy="5290754"/>
          </a:xfrm>
          <a:custGeom>
            <a:avLst/>
            <a:gdLst/>
            <a:ahLst/>
            <a:cxnLst/>
            <a:rect r="r" b="b" t="t" l="l"/>
            <a:pathLst>
              <a:path h="5290754" w="5290754">
                <a:moveTo>
                  <a:pt x="0" y="0"/>
                </a:moveTo>
                <a:lnTo>
                  <a:pt x="5290754" y="0"/>
                </a:lnTo>
                <a:lnTo>
                  <a:pt x="5290754" y="5290754"/>
                </a:lnTo>
                <a:lnTo>
                  <a:pt x="0" y="5290754"/>
                </a:lnTo>
                <a:lnTo>
                  <a:pt x="0" y="0"/>
                </a:lnTo>
                <a:close/>
              </a:path>
            </a:pathLst>
          </a:custGeom>
          <a:blipFill>
            <a:blip r:embed="rId3"/>
            <a:stretch>
              <a:fillRect l="0" t="0" r="0" b="0"/>
            </a:stretch>
          </a:blipFill>
        </p:spPr>
      </p:sp>
      <p:sp>
        <p:nvSpPr>
          <p:cNvPr name="TextBox 5" id="5"/>
          <p:cNvSpPr txBox="true"/>
          <p:nvPr/>
        </p:nvSpPr>
        <p:spPr>
          <a:xfrm rot="0">
            <a:off x="0" y="1615968"/>
            <a:ext cx="10287000" cy="1427352"/>
          </a:xfrm>
          <a:prstGeom prst="rect">
            <a:avLst/>
          </a:prstGeom>
        </p:spPr>
        <p:txBody>
          <a:bodyPr anchor="t" rtlCol="false" tIns="0" lIns="0" bIns="0" rIns="0">
            <a:spAutoFit/>
          </a:bodyPr>
          <a:lstStyle/>
          <a:p>
            <a:pPr algn="ctr">
              <a:lnSpc>
                <a:spcPts val="9295"/>
              </a:lnSpc>
            </a:pPr>
            <a:r>
              <a:rPr lang="en-US" b="true" sz="8299" spc="738">
                <a:solidFill>
                  <a:srgbClr val="CC0000"/>
                </a:solidFill>
                <a:latin typeface="The Seasons Bold"/>
                <a:ea typeface="The Seasons Bold"/>
                <a:cs typeface="The Seasons Bold"/>
                <a:sym typeface="The Seasons Bold"/>
              </a:rPr>
              <a:t>LOCATION</a:t>
            </a:r>
          </a:p>
        </p:txBody>
      </p:sp>
      <p:sp>
        <p:nvSpPr>
          <p:cNvPr name="TextBox 6" id="6"/>
          <p:cNvSpPr txBox="true"/>
          <p:nvPr/>
        </p:nvSpPr>
        <p:spPr>
          <a:xfrm rot="0">
            <a:off x="1028700" y="5881280"/>
            <a:ext cx="8229600" cy="403860"/>
          </a:xfrm>
          <a:prstGeom prst="rect">
            <a:avLst/>
          </a:prstGeom>
        </p:spPr>
        <p:txBody>
          <a:bodyPr anchor="t" rtlCol="false" tIns="0" lIns="0" bIns="0" rIns="0">
            <a:spAutoFit/>
          </a:bodyPr>
          <a:lstStyle/>
          <a:p>
            <a:pPr algn="ctr">
              <a:lnSpc>
                <a:spcPts val="3306"/>
              </a:lnSpc>
            </a:pPr>
            <a:r>
              <a:rPr lang="en-US" b="true" sz="2280" spc="273">
                <a:solidFill>
                  <a:srgbClr val="131F5B"/>
                </a:solidFill>
                <a:latin typeface="Montserrat Bold"/>
                <a:ea typeface="Montserrat Bold"/>
                <a:cs typeface="Montserrat Bold"/>
                <a:sym typeface="Montserrat Bold"/>
              </a:rPr>
              <a:t>A BESPOKE PROPOSAL FOR </a:t>
            </a:r>
          </a:p>
        </p:txBody>
      </p:sp>
      <p:sp>
        <p:nvSpPr>
          <p:cNvPr name="TextBox 7" id="7"/>
          <p:cNvSpPr txBox="true"/>
          <p:nvPr/>
        </p:nvSpPr>
        <p:spPr>
          <a:xfrm rot="0">
            <a:off x="1028700" y="1232283"/>
            <a:ext cx="8229600" cy="402735"/>
          </a:xfrm>
          <a:prstGeom prst="rect">
            <a:avLst/>
          </a:prstGeom>
        </p:spPr>
        <p:txBody>
          <a:bodyPr anchor="t" rtlCol="false" tIns="0" lIns="0" bIns="0" rIns="0">
            <a:spAutoFit/>
          </a:bodyPr>
          <a:lstStyle/>
          <a:p>
            <a:pPr algn="ctr">
              <a:lnSpc>
                <a:spcPts val="3285"/>
              </a:lnSpc>
            </a:pPr>
            <a:r>
              <a:rPr lang="en-US" b="true" sz="2693" spc="363">
                <a:solidFill>
                  <a:srgbClr val="131F5B"/>
                </a:solidFill>
                <a:latin typeface="Montserrat Bold"/>
                <a:ea typeface="Montserrat Bold"/>
                <a:cs typeface="Montserrat Bold"/>
                <a:sym typeface="Montserrat Bold"/>
              </a:rPr>
              <a:t>YOUR ULTIMATE DREAM</a:t>
            </a:r>
          </a:p>
        </p:txBody>
      </p:sp>
      <p:sp>
        <p:nvSpPr>
          <p:cNvPr name="TextBox 8" id="8"/>
          <p:cNvSpPr txBox="true"/>
          <p:nvPr/>
        </p:nvSpPr>
        <p:spPr>
          <a:xfrm rot="0">
            <a:off x="1028700" y="16968833"/>
            <a:ext cx="8229600" cy="290467"/>
          </a:xfrm>
          <a:prstGeom prst="rect">
            <a:avLst/>
          </a:prstGeom>
        </p:spPr>
        <p:txBody>
          <a:bodyPr anchor="t" rtlCol="false" tIns="0" lIns="0" bIns="0" rIns="0">
            <a:spAutoFit/>
          </a:bodyPr>
          <a:lstStyle/>
          <a:p>
            <a:pPr algn="ctr">
              <a:lnSpc>
                <a:spcPts val="2309"/>
              </a:lnSpc>
            </a:pPr>
            <a:r>
              <a:rPr lang="en-US" b="true" sz="1893" spc="255">
                <a:solidFill>
                  <a:srgbClr val="FFFFFF"/>
                </a:solidFill>
                <a:latin typeface="Montserrat Bold"/>
                <a:ea typeface="Montserrat Bold"/>
                <a:cs typeface="Montserrat Bold"/>
                <a:sym typeface="Montserrat Bold"/>
              </a:rPr>
              <a:t>LITTLE BLUE DOOR</a:t>
            </a:r>
          </a:p>
        </p:txBody>
      </p:sp>
      <p:sp>
        <p:nvSpPr>
          <p:cNvPr name="TextBox 9" id="9"/>
          <p:cNvSpPr txBox="true"/>
          <p:nvPr/>
        </p:nvSpPr>
        <p:spPr>
          <a:xfrm rot="0">
            <a:off x="1028700" y="6272439"/>
            <a:ext cx="8229600" cy="613411"/>
          </a:xfrm>
          <a:prstGeom prst="rect">
            <a:avLst/>
          </a:prstGeom>
        </p:spPr>
        <p:txBody>
          <a:bodyPr anchor="t" rtlCol="false" tIns="0" lIns="0" bIns="0" rIns="0">
            <a:spAutoFit/>
          </a:bodyPr>
          <a:lstStyle/>
          <a:p>
            <a:pPr algn="ctr">
              <a:lnSpc>
                <a:spcPts val="5045"/>
              </a:lnSpc>
            </a:pPr>
            <a:r>
              <a:rPr lang="en-US" b="true" sz="3479" spc="417">
                <a:solidFill>
                  <a:srgbClr val="CC0000"/>
                </a:solidFill>
                <a:latin typeface="Montserrat Bold"/>
                <a:ea typeface="Montserrat Bold"/>
                <a:cs typeface="Montserrat Bold"/>
                <a:sym typeface="Montserrat Bold"/>
              </a:rPr>
              <a:t>NAME SURNAME OF client</a:t>
            </a:r>
          </a:p>
        </p:txBody>
      </p:sp>
      <p:sp>
        <p:nvSpPr>
          <p:cNvPr name="TextBox 10" id="10"/>
          <p:cNvSpPr txBox="true"/>
          <p:nvPr/>
        </p:nvSpPr>
        <p:spPr>
          <a:xfrm rot="0">
            <a:off x="1028700" y="6911250"/>
            <a:ext cx="8229600" cy="346075"/>
          </a:xfrm>
          <a:prstGeom prst="rect">
            <a:avLst/>
          </a:prstGeom>
        </p:spPr>
        <p:txBody>
          <a:bodyPr anchor="t" rtlCol="false" tIns="0" lIns="0" bIns="0" rIns="0">
            <a:spAutoFit/>
          </a:bodyPr>
          <a:lstStyle/>
          <a:p>
            <a:pPr algn="ctr">
              <a:lnSpc>
                <a:spcPts val="2900"/>
              </a:lnSpc>
            </a:pPr>
            <a:r>
              <a:rPr lang="en-US" b="true" sz="2000" spc="240">
                <a:solidFill>
                  <a:srgbClr val="CC0000"/>
                </a:solidFill>
                <a:latin typeface="Montserrat Bold"/>
                <a:ea typeface="Montserrat Bold"/>
                <a:cs typeface="Montserrat Bold"/>
                <a:sym typeface="Montserrat Bold"/>
              </a:rPr>
              <a:t>DATE RANGE OF ITINERARY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156808" y="16565541"/>
            <a:ext cx="1973384" cy="1973384"/>
          </a:xfrm>
          <a:custGeom>
            <a:avLst/>
            <a:gdLst/>
            <a:ahLst/>
            <a:cxnLst/>
            <a:rect r="r" b="b" t="t" l="l"/>
            <a:pathLst>
              <a:path h="1973384" w="1973384">
                <a:moveTo>
                  <a:pt x="0" y="0"/>
                </a:moveTo>
                <a:lnTo>
                  <a:pt x="1973384" y="0"/>
                </a:lnTo>
                <a:lnTo>
                  <a:pt x="1973384" y="1973383"/>
                </a:lnTo>
                <a:lnTo>
                  <a:pt x="0" y="1973383"/>
                </a:lnTo>
                <a:lnTo>
                  <a:pt x="0" y="0"/>
                </a:lnTo>
                <a:close/>
              </a:path>
            </a:pathLst>
          </a:custGeom>
          <a:blipFill>
            <a:blip r:embed="rId2"/>
            <a:stretch>
              <a:fillRect l="0" t="0" r="0" b="0"/>
            </a:stretch>
          </a:blipFill>
        </p:spPr>
      </p:sp>
      <p:sp>
        <p:nvSpPr>
          <p:cNvPr name="AutoShape 3" id="3"/>
          <p:cNvSpPr/>
          <p:nvPr/>
        </p:nvSpPr>
        <p:spPr>
          <a:xfrm flipH="true">
            <a:off x="514350" y="7900619"/>
            <a:ext cx="9258300" cy="0"/>
          </a:xfrm>
          <a:prstGeom prst="line">
            <a:avLst/>
          </a:prstGeom>
          <a:ln cap="flat" w="38100">
            <a:solidFill>
              <a:srgbClr val="131F5B"/>
            </a:solidFill>
            <a:prstDash val="solid"/>
            <a:headEnd type="none" len="sm" w="sm"/>
            <a:tailEnd type="none" len="sm" w="sm"/>
          </a:ln>
        </p:spPr>
      </p:sp>
      <p:sp>
        <p:nvSpPr>
          <p:cNvPr name="AutoShape 4" id="4"/>
          <p:cNvSpPr/>
          <p:nvPr/>
        </p:nvSpPr>
        <p:spPr>
          <a:xfrm flipH="true">
            <a:off x="514350" y="9317190"/>
            <a:ext cx="9258300" cy="0"/>
          </a:xfrm>
          <a:prstGeom prst="line">
            <a:avLst/>
          </a:prstGeom>
          <a:ln cap="flat" w="38100">
            <a:solidFill>
              <a:srgbClr val="131F5B"/>
            </a:solidFill>
            <a:prstDash val="solid"/>
            <a:headEnd type="none" len="sm" w="sm"/>
            <a:tailEnd type="none" len="sm" w="sm"/>
          </a:ln>
        </p:spPr>
      </p:sp>
      <p:sp>
        <p:nvSpPr>
          <p:cNvPr name="AutoShape 5" id="5"/>
          <p:cNvSpPr/>
          <p:nvPr/>
        </p:nvSpPr>
        <p:spPr>
          <a:xfrm flipH="true">
            <a:off x="514350" y="10729412"/>
            <a:ext cx="9258300" cy="0"/>
          </a:xfrm>
          <a:prstGeom prst="line">
            <a:avLst/>
          </a:prstGeom>
          <a:ln cap="flat" w="38100">
            <a:solidFill>
              <a:srgbClr val="131F5B"/>
            </a:solidFill>
            <a:prstDash val="solid"/>
            <a:headEnd type="none" len="sm" w="sm"/>
            <a:tailEnd type="none" len="sm" w="sm"/>
          </a:ln>
        </p:spPr>
      </p:sp>
      <p:sp>
        <p:nvSpPr>
          <p:cNvPr name="AutoShape 6" id="6"/>
          <p:cNvSpPr/>
          <p:nvPr/>
        </p:nvSpPr>
        <p:spPr>
          <a:xfrm flipH="true">
            <a:off x="420388" y="12066703"/>
            <a:ext cx="9258300" cy="0"/>
          </a:xfrm>
          <a:prstGeom prst="line">
            <a:avLst/>
          </a:prstGeom>
          <a:ln cap="flat" w="38100">
            <a:solidFill>
              <a:srgbClr val="131F5B"/>
            </a:solidFill>
            <a:prstDash val="solid"/>
            <a:headEnd type="none" len="sm" w="sm"/>
            <a:tailEnd type="none" len="sm" w="sm"/>
          </a:ln>
        </p:spPr>
      </p:sp>
      <p:sp>
        <p:nvSpPr>
          <p:cNvPr name="TextBox 7" id="7"/>
          <p:cNvSpPr txBox="true"/>
          <p:nvPr/>
        </p:nvSpPr>
        <p:spPr>
          <a:xfrm rot="0">
            <a:off x="1449088" y="8124043"/>
            <a:ext cx="8229600" cy="878822"/>
          </a:xfrm>
          <a:prstGeom prst="rect">
            <a:avLst/>
          </a:prstGeom>
        </p:spPr>
        <p:txBody>
          <a:bodyPr anchor="t" rtlCol="false" tIns="0" lIns="0" bIns="0" rIns="0">
            <a:spAutoFit/>
          </a:bodyPr>
          <a:lstStyle/>
          <a:p>
            <a:pPr algn="l">
              <a:lnSpc>
                <a:spcPts val="2835"/>
              </a:lnSpc>
            </a:pPr>
            <a:r>
              <a:rPr lang="en-US" sz="2025" spc="127" b="true">
                <a:solidFill>
                  <a:srgbClr val="131F5B"/>
                </a:solidFill>
                <a:latin typeface="Montserrat Bold"/>
                <a:ea typeface="Montserrat Bold"/>
                <a:cs typeface="Montserrat Bold"/>
                <a:sym typeface="Montserrat Bold"/>
              </a:rPr>
              <a:t>Stop A. </a:t>
            </a:r>
            <a:r>
              <a:rPr lang="en-US" sz="2025" spc="127" b="true">
                <a:solidFill>
                  <a:srgbClr val="CC0000"/>
                </a:solidFill>
                <a:latin typeface="Montserrat Bold"/>
                <a:ea typeface="Montserrat Bold"/>
                <a:cs typeface="Montserrat Bold"/>
                <a:sym typeface="Montserrat Bold"/>
              </a:rPr>
              <a:t>Hotel Name</a:t>
            </a:r>
          </a:p>
          <a:p>
            <a:pPr algn="l">
              <a:lnSpc>
                <a:spcPts val="2136"/>
              </a:lnSpc>
            </a:pPr>
            <a:r>
              <a:rPr lang="en-US" sz="1525" spc="96" b="true">
                <a:solidFill>
                  <a:srgbClr val="CC0000"/>
                </a:solidFill>
                <a:latin typeface="Montserrat Bold"/>
                <a:ea typeface="Montserrat Bold"/>
                <a:cs typeface="Montserrat Bold"/>
                <a:sym typeface="Montserrat Bold"/>
              </a:rPr>
              <a:t>Number of N</a:t>
            </a:r>
            <a:r>
              <a:rPr lang="en-US" sz="1525" spc="96" b="true">
                <a:solidFill>
                  <a:srgbClr val="CC0000"/>
                </a:solidFill>
                <a:latin typeface="Montserrat Bold"/>
                <a:ea typeface="Montserrat Bold"/>
                <a:cs typeface="Montserrat Bold"/>
                <a:sym typeface="Montserrat Bold"/>
              </a:rPr>
              <a:t>ights, Date Range</a:t>
            </a:r>
          </a:p>
          <a:p>
            <a:pPr algn="l">
              <a:lnSpc>
                <a:spcPts val="2136"/>
              </a:lnSpc>
              <a:spcBef>
                <a:spcPct val="0"/>
              </a:spcBef>
            </a:pPr>
            <a:r>
              <a:rPr lang="en-US" sz="1525" spc="96">
                <a:solidFill>
                  <a:srgbClr val="CC0000"/>
                </a:solidFill>
                <a:latin typeface="Montserrat"/>
                <a:ea typeface="Montserrat"/>
                <a:cs typeface="Montserrat"/>
                <a:sym typeface="Montserrat"/>
              </a:rPr>
              <a:t>Address of the hotel</a:t>
            </a:r>
          </a:p>
        </p:txBody>
      </p:sp>
      <p:sp>
        <p:nvSpPr>
          <p:cNvPr name="TextBox 8" id="8"/>
          <p:cNvSpPr txBox="true"/>
          <p:nvPr/>
        </p:nvSpPr>
        <p:spPr>
          <a:xfrm rot="0">
            <a:off x="1449088" y="9536265"/>
            <a:ext cx="8229600" cy="878822"/>
          </a:xfrm>
          <a:prstGeom prst="rect">
            <a:avLst/>
          </a:prstGeom>
        </p:spPr>
        <p:txBody>
          <a:bodyPr anchor="t" rtlCol="false" tIns="0" lIns="0" bIns="0" rIns="0">
            <a:spAutoFit/>
          </a:bodyPr>
          <a:lstStyle/>
          <a:p>
            <a:pPr algn="l">
              <a:lnSpc>
                <a:spcPts val="2835"/>
              </a:lnSpc>
            </a:pPr>
            <a:r>
              <a:rPr lang="en-US" sz="2025" spc="127" b="true">
                <a:solidFill>
                  <a:srgbClr val="131F5B"/>
                </a:solidFill>
                <a:latin typeface="Montserrat Bold"/>
                <a:ea typeface="Montserrat Bold"/>
                <a:cs typeface="Montserrat Bold"/>
                <a:sym typeface="Montserrat Bold"/>
              </a:rPr>
              <a:t>Stop B. </a:t>
            </a:r>
            <a:r>
              <a:rPr lang="en-US" sz="2025" spc="127" b="true">
                <a:solidFill>
                  <a:srgbClr val="CC0000"/>
                </a:solidFill>
                <a:latin typeface="Montserrat Bold"/>
                <a:ea typeface="Montserrat Bold"/>
                <a:cs typeface="Montserrat Bold"/>
                <a:sym typeface="Montserrat Bold"/>
              </a:rPr>
              <a:t>Hotel Name</a:t>
            </a:r>
          </a:p>
          <a:p>
            <a:pPr algn="l">
              <a:lnSpc>
                <a:spcPts val="2136"/>
              </a:lnSpc>
            </a:pPr>
            <a:r>
              <a:rPr lang="en-US" sz="1525" spc="96" b="true">
                <a:solidFill>
                  <a:srgbClr val="CC0000"/>
                </a:solidFill>
                <a:latin typeface="Montserrat Bold"/>
                <a:ea typeface="Montserrat Bold"/>
                <a:cs typeface="Montserrat Bold"/>
                <a:sym typeface="Montserrat Bold"/>
              </a:rPr>
              <a:t>Number of N</a:t>
            </a:r>
            <a:r>
              <a:rPr lang="en-US" sz="1525" spc="96" b="true">
                <a:solidFill>
                  <a:srgbClr val="CC0000"/>
                </a:solidFill>
                <a:latin typeface="Montserrat Bold"/>
                <a:ea typeface="Montserrat Bold"/>
                <a:cs typeface="Montserrat Bold"/>
                <a:sym typeface="Montserrat Bold"/>
              </a:rPr>
              <a:t>ights, Date Range</a:t>
            </a:r>
          </a:p>
          <a:p>
            <a:pPr algn="l">
              <a:lnSpc>
                <a:spcPts val="2136"/>
              </a:lnSpc>
              <a:spcBef>
                <a:spcPct val="0"/>
              </a:spcBef>
            </a:pPr>
            <a:r>
              <a:rPr lang="en-US" sz="1525" spc="96">
                <a:solidFill>
                  <a:srgbClr val="CC0000"/>
                </a:solidFill>
                <a:latin typeface="Montserrat"/>
                <a:ea typeface="Montserrat"/>
                <a:cs typeface="Montserrat"/>
                <a:sym typeface="Montserrat"/>
              </a:rPr>
              <a:t>Address of the hotel</a:t>
            </a:r>
          </a:p>
        </p:txBody>
      </p:sp>
      <p:sp>
        <p:nvSpPr>
          <p:cNvPr name="TextBox 9" id="9"/>
          <p:cNvSpPr txBox="true"/>
          <p:nvPr/>
        </p:nvSpPr>
        <p:spPr>
          <a:xfrm rot="0">
            <a:off x="1449088" y="10948487"/>
            <a:ext cx="8229600" cy="878822"/>
          </a:xfrm>
          <a:prstGeom prst="rect">
            <a:avLst/>
          </a:prstGeom>
        </p:spPr>
        <p:txBody>
          <a:bodyPr anchor="t" rtlCol="false" tIns="0" lIns="0" bIns="0" rIns="0">
            <a:spAutoFit/>
          </a:bodyPr>
          <a:lstStyle/>
          <a:p>
            <a:pPr algn="l">
              <a:lnSpc>
                <a:spcPts val="2835"/>
              </a:lnSpc>
            </a:pPr>
            <a:r>
              <a:rPr lang="en-US" sz="2025" spc="127" b="true">
                <a:solidFill>
                  <a:srgbClr val="131F5B"/>
                </a:solidFill>
                <a:latin typeface="Montserrat Bold"/>
                <a:ea typeface="Montserrat Bold"/>
                <a:cs typeface="Montserrat Bold"/>
                <a:sym typeface="Montserrat Bold"/>
              </a:rPr>
              <a:t>Stop C. </a:t>
            </a:r>
            <a:r>
              <a:rPr lang="en-US" sz="2025" spc="127" b="true">
                <a:solidFill>
                  <a:srgbClr val="CC0000"/>
                </a:solidFill>
                <a:latin typeface="Montserrat Bold"/>
                <a:ea typeface="Montserrat Bold"/>
                <a:cs typeface="Montserrat Bold"/>
                <a:sym typeface="Montserrat Bold"/>
              </a:rPr>
              <a:t>Hotel Name</a:t>
            </a:r>
          </a:p>
          <a:p>
            <a:pPr algn="l">
              <a:lnSpc>
                <a:spcPts val="2136"/>
              </a:lnSpc>
            </a:pPr>
            <a:r>
              <a:rPr lang="en-US" sz="1525" spc="96" b="true">
                <a:solidFill>
                  <a:srgbClr val="CC0000"/>
                </a:solidFill>
                <a:latin typeface="Montserrat Bold"/>
                <a:ea typeface="Montserrat Bold"/>
                <a:cs typeface="Montserrat Bold"/>
                <a:sym typeface="Montserrat Bold"/>
              </a:rPr>
              <a:t>Number of N</a:t>
            </a:r>
            <a:r>
              <a:rPr lang="en-US" sz="1525" spc="96" b="true">
                <a:solidFill>
                  <a:srgbClr val="CC0000"/>
                </a:solidFill>
                <a:latin typeface="Montserrat Bold"/>
                <a:ea typeface="Montserrat Bold"/>
                <a:cs typeface="Montserrat Bold"/>
                <a:sym typeface="Montserrat Bold"/>
              </a:rPr>
              <a:t>ights, Date Range</a:t>
            </a:r>
          </a:p>
          <a:p>
            <a:pPr algn="l">
              <a:lnSpc>
                <a:spcPts val="2136"/>
              </a:lnSpc>
              <a:spcBef>
                <a:spcPct val="0"/>
              </a:spcBef>
            </a:pPr>
            <a:r>
              <a:rPr lang="en-US" sz="1525" spc="96">
                <a:solidFill>
                  <a:srgbClr val="CC0000"/>
                </a:solidFill>
                <a:latin typeface="Montserrat"/>
                <a:ea typeface="Montserrat"/>
                <a:cs typeface="Montserrat"/>
                <a:sym typeface="Montserrat"/>
              </a:rPr>
              <a:t>Address of the hotel</a:t>
            </a:r>
          </a:p>
        </p:txBody>
      </p:sp>
      <p:grpSp>
        <p:nvGrpSpPr>
          <p:cNvPr name="Group 10" id="10"/>
          <p:cNvGrpSpPr/>
          <p:nvPr/>
        </p:nvGrpSpPr>
        <p:grpSpPr>
          <a:xfrm rot="0">
            <a:off x="1028700" y="2358161"/>
            <a:ext cx="8229600" cy="5231443"/>
            <a:chOff x="0" y="0"/>
            <a:chExt cx="12654423" cy="8044242"/>
          </a:xfrm>
        </p:grpSpPr>
        <p:sp>
          <p:nvSpPr>
            <p:cNvPr name="Freeform 11" id="11"/>
            <p:cNvSpPr/>
            <p:nvPr/>
          </p:nvSpPr>
          <p:spPr>
            <a:xfrm flipH="false" flipV="false" rot="0">
              <a:off x="0" y="0"/>
              <a:ext cx="12654423" cy="8044242"/>
            </a:xfrm>
            <a:custGeom>
              <a:avLst/>
              <a:gdLst/>
              <a:ahLst/>
              <a:cxnLst/>
              <a:rect r="r" b="b" t="t" l="l"/>
              <a:pathLst>
                <a:path h="8044242" w="12654423">
                  <a:moveTo>
                    <a:pt x="12373494" y="0"/>
                  </a:moveTo>
                  <a:lnTo>
                    <a:pt x="280928" y="0"/>
                  </a:lnTo>
                  <a:cubicBezTo>
                    <a:pt x="126544" y="0"/>
                    <a:pt x="0" y="150274"/>
                    <a:pt x="0" y="334282"/>
                  </a:cubicBezTo>
                  <a:lnTo>
                    <a:pt x="0" y="7709960"/>
                  </a:lnTo>
                  <a:cubicBezTo>
                    <a:pt x="0" y="7893968"/>
                    <a:pt x="126544" y="8044242"/>
                    <a:pt x="280928" y="8044242"/>
                  </a:cubicBezTo>
                  <a:lnTo>
                    <a:pt x="12373494" y="8044242"/>
                  </a:lnTo>
                  <a:cubicBezTo>
                    <a:pt x="12527879" y="8044242"/>
                    <a:pt x="12654423" y="7893968"/>
                    <a:pt x="12654423" y="7709960"/>
                  </a:cubicBezTo>
                  <a:lnTo>
                    <a:pt x="12654423" y="334282"/>
                  </a:lnTo>
                  <a:cubicBezTo>
                    <a:pt x="12654423" y="150274"/>
                    <a:pt x="12527879" y="0"/>
                    <a:pt x="12373494" y="0"/>
                  </a:cubicBezTo>
                  <a:close/>
                </a:path>
              </a:pathLst>
            </a:custGeom>
            <a:blipFill>
              <a:blip r:embed="rId3"/>
              <a:stretch>
                <a:fillRect l="-8685" t="0" r="41134" b="58588"/>
              </a:stretch>
            </a:blipFill>
          </p:spPr>
        </p:sp>
      </p:grpSp>
      <p:sp>
        <p:nvSpPr>
          <p:cNvPr name="TextBox 12" id="12"/>
          <p:cNvSpPr txBox="true"/>
          <p:nvPr/>
        </p:nvSpPr>
        <p:spPr>
          <a:xfrm rot="0">
            <a:off x="3086100" y="4821809"/>
            <a:ext cx="4114800" cy="1066147"/>
          </a:xfrm>
          <a:prstGeom prst="rect">
            <a:avLst/>
          </a:prstGeom>
        </p:spPr>
        <p:txBody>
          <a:bodyPr anchor="t" rtlCol="false" tIns="0" lIns="0" bIns="0" rIns="0">
            <a:spAutoFit/>
          </a:bodyPr>
          <a:lstStyle/>
          <a:p>
            <a:pPr algn="ctr">
              <a:lnSpc>
                <a:spcPts val="2136"/>
              </a:lnSpc>
            </a:pPr>
            <a:r>
              <a:rPr lang="en-US" b="true" sz="1525" spc="96">
                <a:solidFill>
                  <a:srgbClr val="CC0000"/>
                </a:solidFill>
                <a:latin typeface="Montserrat Bold"/>
                <a:ea typeface="Montserrat Bold"/>
                <a:cs typeface="Montserrat Bold"/>
                <a:sym typeface="Montserrat Bold"/>
              </a:rPr>
              <a:t>Map of Destinations</a:t>
            </a:r>
          </a:p>
          <a:p>
            <a:pPr algn="ctr">
              <a:lnSpc>
                <a:spcPts val="2136"/>
              </a:lnSpc>
            </a:pPr>
            <a:r>
              <a:rPr lang="en-US" b="true" sz="1525" spc="96">
                <a:solidFill>
                  <a:srgbClr val="CC0000"/>
                </a:solidFill>
                <a:latin typeface="Montserrat Bold"/>
                <a:ea typeface="Montserrat Bold"/>
                <a:cs typeface="Montserrat Bold"/>
                <a:sym typeface="Montserrat Bold"/>
              </a:rPr>
              <a:t>https://planner.myrouteonline.com/route-planner/</a:t>
            </a:r>
          </a:p>
          <a:p>
            <a:pPr algn="ctr">
              <a:lnSpc>
                <a:spcPts val="2136"/>
              </a:lnSpc>
              <a:spcBef>
                <a:spcPct val="0"/>
              </a:spcBef>
            </a:pPr>
          </a:p>
        </p:txBody>
      </p:sp>
      <p:sp>
        <p:nvSpPr>
          <p:cNvPr name="TextBox 13" id="13"/>
          <p:cNvSpPr txBox="true"/>
          <p:nvPr/>
        </p:nvSpPr>
        <p:spPr>
          <a:xfrm rot="0">
            <a:off x="983096" y="868428"/>
            <a:ext cx="8229600" cy="546609"/>
          </a:xfrm>
          <a:prstGeom prst="rect">
            <a:avLst/>
          </a:prstGeom>
        </p:spPr>
        <p:txBody>
          <a:bodyPr anchor="t" rtlCol="false" tIns="0" lIns="0" bIns="0" rIns="0">
            <a:spAutoFit/>
          </a:bodyPr>
          <a:lstStyle/>
          <a:p>
            <a:pPr algn="ctr" marL="0" indent="0" lvl="1">
              <a:lnSpc>
                <a:spcPts val="4521"/>
              </a:lnSpc>
              <a:spcBef>
                <a:spcPct val="0"/>
              </a:spcBef>
            </a:pPr>
            <a:r>
              <a:rPr lang="en-US" b="true" sz="3229" spc="1178">
                <a:solidFill>
                  <a:srgbClr val="131F5B"/>
                </a:solidFill>
                <a:latin typeface="Montserrat Bold"/>
                <a:ea typeface="Montserrat Bold"/>
                <a:cs typeface="Montserrat Bold"/>
                <a:sym typeface="Montserrat Bold"/>
              </a:rPr>
              <a:t>YOUR ACCOMMODATION</a:t>
            </a:r>
          </a:p>
        </p:txBody>
      </p:sp>
      <p:sp>
        <p:nvSpPr>
          <p:cNvPr name="AutoShape 14" id="14"/>
          <p:cNvSpPr/>
          <p:nvPr/>
        </p:nvSpPr>
        <p:spPr>
          <a:xfrm flipH="true">
            <a:off x="568244" y="1536535"/>
            <a:ext cx="9258300" cy="0"/>
          </a:xfrm>
          <a:prstGeom prst="line">
            <a:avLst/>
          </a:prstGeom>
          <a:ln cap="flat" w="38100">
            <a:solidFill>
              <a:srgbClr val="131F5B"/>
            </a:solidFill>
            <a:prstDash val="solid"/>
            <a:headEnd type="none" len="sm" w="sm"/>
            <a:tailEnd type="none" len="sm" w="sm"/>
          </a:ln>
        </p:spPr>
      </p:sp>
      <p:sp>
        <p:nvSpPr>
          <p:cNvPr name="TextBox 15" id="15"/>
          <p:cNvSpPr txBox="true"/>
          <p:nvPr/>
        </p:nvSpPr>
        <p:spPr>
          <a:xfrm rot="0">
            <a:off x="3541332" y="1707985"/>
            <a:ext cx="3086100" cy="389256"/>
          </a:xfrm>
          <a:prstGeom prst="rect">
            <a:avLst/>
          </a:prstGeom>
        </p:spPr>
        <p:txBody>
          <a:bodyPr anchor="t" rtlCol="false" tIns="0" lIns="0" bIns="0" rIns="0">
            <a:spAutoFit/>
          </a:bodyPr>
          <a:lstStyle/>
          <a:p>
            <a:pPr algn="ctr">
              <a:lnSpc>
                <a:spcPts val="3219"/>
              </a:lnSpc>
              <a:spcBef>
                <a:spcPct val="0"/>
              </a:spcBef>
            </a:pPr>
            <a:r>
              <a:rPr lang="en-US" b="true" sz="2299" spc="839">
                <a:solidFill>
                  <a:srgbClr val="CC0000"/>
                </a:solidFill>
                <a:latin typeface="Montserrat Bold"/>
                <a:ea typeface="Montserrat Bold"/>
                <a:cs typeface="Montserrat Bold"/>
                <a:sym typeface="Montserrat Bold"/>
              </a:rPr>
              <a:t>DA</a:t>
            </a:r>
            <a:r>
              <a:rPr lang="en-US" b="true" sz="2299" spc="839">
                <a:solidFill>
                  <a:srgbClr val="CC0000"/>
                </a:solidFill>
                <a:latin typeface="Montserrat Bold"/>
                <a:ea typeface="Montserrat Bold"/>
                <a:cs typeface="Montserrat Bold"/>
                <a:sym typeface="Montserrat Bold"/>
              </a:rPr>
              <a:t>TE RANGE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611498" y="7782647"/>
            <a:ext cx="9258300" cy="0"/>
          </a:xfrm>
          <a:prstGeom prst="line">
            <a:avLst/>
          </a:prstGeom>
          <a:ln cap="flat" w="38100">
            <a:solidFill>
              <a:srgbClr val="131F5B"/>
            </a:solidFill>
            <a:prstDash val="solid"/>
            <a:headEnd type="none" len="sm" w="sm"/>
            <a:tailEnd type="none" len="sm" w="sm"/>
          </a:ln>
        </p:spPr>
      </p:sp>
      <p:grpSp>
        <p:nvGrpSpPr>
          <p:cNvPr name="Group 3" id="3"/>
          <p:cNvGrpSpPr/>
          <p:nvPr/>
        </p:nvGrpSpPr>
        <p:grpSpPr>
          <a:xfrm rot="0">
            <a:off x="886480" y="2493717"/>
            <a:ext cx="8514040" cy="4145401"/>
            <a:chOff x="0" y="0"/>
            <a:chExt cx="24608481" cy="11981624"/>
          </a:xfrm>
        </p:grpSpPr>
        <p:sp>
          <p:nvSpPr>
            <p:cNvPr name="Freeform 4" id="4"/>
            <p:cNvSpPr/>
            <p:nvPr/>
          </p:nvSpPr>
          <p:spPr>
            <a:xfrm flipH="false" flipV="false" rot="0">
              <a:off x="0" y="0"/>
              <a:ext cx="24608481" cy="11981624"/>
            </a:xfrm>
            <a:custGeom>
              <a:avLst/>
              <a:gdLst/>
              <a:ahLst/>
              <a:cxnLst/>
              <a:rect r="r" b="b" t="t" l="l"/>
              <a:pathLst>
                <a:path h="11981624" w="24608481">
                  <a:moveTo>
                    <a:pt x="24608481" y="287329"/>
                  </a:moveTo>
                  <a:lnTo>
                    <a:pt x="24608481" y="11694295"/>
                  </a:lnTo>
                  <a:cubicBezTo>
                    <a:pt x="24608481" y="11853044"/>
                    <a:pt x="24424022" y="11981624"/>
                    <a:pt x="24196280" y="11981624"/>
                  </a:cubicBezTo>
                  <a:lnTo>
                    <a:pt x="412202" y="11981624"/>
                  </a:lnTo>
                  <a:cubicBezTo>
                    <a:pt x="184461" y="11981624"/>
                    <a:pt x="0" y="11853044"/>
                    <a:pt x="0" y="11694295"/>
                  </a:cubicBezTo>
                  <a:lnTo>
                    <a:pt x="0" y="287329"/>
                  </a:lnTo>
                  <a:cubicBezTo>
                    <a:pt x="0" y="128580"/>
                    <a:pt x="184461" y="0"/>
                    <a:pt x="412202" y="0"/>
                  </a:cubicBezTo>
                  <a:lnTo>
                    <a:pt x="24196280" y="0"/>
                  </a:lnTo>
                  <a:cubicBezTo>
                    <a:pt x="24424022" y="0"/>
                    <a:pt x="24608481" y="128580"/>
                    <a:pt x="24608481" y="287329"/>
                  </a:cubicBezTo>
                  <a:close/>
                </a:path>
              </a:pathLst>
            </a:custGeom>
            <a:blipFill>
              <a:blip r:embed="rId2"/>
              <a:stretch>
                <a:fillRect l="-24413" t="0" r="13966" b="11599"/>
              </a:stretch>
            </a:blipFill>
          </p:spPr>
        </p:sp>
      </p:grpSp>
      <p:sp>
        <p:nvSpPr>
          <p:cNvPr name="TextBox 5" id="5"/>
          <p:cNvSpPr txBox="true"/>
          <p:nvPr/>
        </p:nvSpPr>
        <p:spPr>
          <a:xfrm rot="0">
            <a:off x="1125848" y="8146395"/>
            <a:ext cx="8229600" cy="613283"/>
          </a:xfrm>
          <a:prstGeom prst="rect">
            <a:avLst/>
          </a:prstGeom>
        </p:spPr>
        <p:txBody>
          <a:bodyPr anchor="t" rtlCol="false" tIns="0" lIns="0" bIns="0" rIns="0">
            <a:spAutoFit/>
          </a:bodyPr>
          <a:lstStyle/>
          <a:p>
            <a:pPr algn="l">
              <a:lnSpc>
                <a:spcPts val="2701"/>
              </a:lnSpc>
            </a:pPr>
            <a:r>
              <a:rPr lang="en-US" sz="1929" spc="192" b="true">
                <a:solidFill>
                  <a:srgbClr val="CC0000"/>
                </a:solidFill>
                <a:latin typeface="Montserrat Bold"/>
                <a:ea typeface="Montserrat Bold"/>
                <a:cs typeface="Montserrat Bold"/>
                <a:sym typeface="Montserrat Bold"/>
              </a:rPr>
              <a:t>Accommodation Name</a:t>
            </a:r>
          </a:p>
          <a:p>
            <a:pPr algn="l">
              <a:lnSpc>
                <a:spcPts val="2142"/>
              </a:lnSpc>
              <a:spcBef>
                <a:spcPct val="0"/>
              </a:spcBef>
            </a:pPr>
            <a:r>
              <a:rPr lang="en-US" sz="1530" spc="153">
                <a:solidFill>
                  <a:srgbClr val="CC0000"/>
                </a:solidFill>
                <a:latin typeface="Montserrat"/>
                <a:ea typeface="Montserrat"/>
                <a:cs typeface="Montserrat"/>
                <a:sym typeface="Montserrat"/>
              </a:rPr>
              <a:t>Location</a:t>
            </a:r>
          </a:p>
        </p:txBody>
      </p:sp>
      <p:sp>
        <p:nvSpPr>
          <p:cNvPr name="TextBox 6" id="6"/>
          <p:cNvSpPr txBox="true"/>
          <p:nvPr/>
        </p:nvSpPr>
        <p:spPr>
          <a:xfrm rot="0">
            <a:off x="1125848" y="9113901"/>
            <a:ext cx="8229600" cy="2666347"/>
          </a:xfrm>
          <a:prstGeom prst="rect">
            <a:avLst/>
          </a:prstGeom>
        </p:spPr>
        <p:txBody>
          <a:bodyPr anchor="t" rtlCol="false" tIns="0" lIns="0" bIns="0" rIns="0">
            <a:spAutoFit/>
          </a:bodyPr>
          <a:lstStyle/>
          <a:p>
            <a:pPr algn="l">
              <a:lnSpc>
                <a:spcPts val="2136"/>
              </a:lnSpc>
            </a:pPr>
            <a:r>
              <a:rPr lang="en-US" b="true" sz="1525" spc="96">
                <a:solidFill>
                  <a:srgbClr val="131F5B"/>
                </a:solidFill>
                <a:latin typeface="Montserrat Bold"/>
                <a:ea typeface="Montserrat Bold"/>
                <a:cs typeface="Montserrat Bold"/>
                <a:sym typeface="Montserrat Bold"/>
              </a:rPr>
              <a:t>Area Overview</a:t>
            </a:r>
          </a:p>
          <a:p>
            <a:pPr algn="l">
              <a:lnSpc>
                <a:spcPts val="2136"/>
              </a:lnSpc>
            </a:pPr>
          </a:p>
          <a:p>
            <a:pPr algn="l">
              <a:lnSpc>
                <a:spcPts val="2136"/>
              </a:lnSpc>
            </a:pPr>
            <a:r>
              <a:rPr lang="en-US" sz="1525" spc="96">
                <a:solidFill>
                  <a:srgbClr val="CC0000"/>
                </a:solidFill>
                <a:latin typeface="Montserrat"/>
                <a:ea typeface="Montserrat"/>
                <a:cs typeface="Montserrat"/>
                <a:sym typeface="Montserrat"/>
              </a:rPr>
              <a:t>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a:t>
            </a:r>
          </a:p>
          <a:p>
            <a:pPr algn="l">
              <a:lnSpc>
                <a:spcPts val="2136"/>
              </a:lnSpc>
            </a:pPr>
          </a:p>
          <a:p>
            <a:pPr algn="l">
              <a:lnSpc>
                <a:spcPts val="2136"/>
              </a:lnSpc>
            </a:pPr>
          </a:p>
        </p:txBody>
      </p:sp>
      <p:sp>
        <p:nvSpPr>
          <p:cNvPr name="TextBox 7" id="7"/>
          <p:cNvSpPr txBox="true"/>
          <p:nvPr/>
        </p:nvSpPr>
        <p:spPr>
          <a:xfrm rot="0">
            <a:off x="4606640" y="6982018"/>
            <a:ext cx="1268016" cy="389256"/>
          </a:xfrm>
          <a:prstGeom prst="rect">
            <a:avLst/>
          </a:prstGeom>
        </p:spPr>
        <p:txBody>
          <a:bodyPr anchor="t" rtlCol="false" tIns="0" lIns="0" bIns="0" rIns="0">
            <a:spAutoFit/>
          </a:bodyPr>
          <a:lstStyle/>
          <a:p>
            <a:pPr algn="ctr" marL="0" indent="0" lvl="1">
              <a:lnSpc>
                <a:spcPts val="3219"/>
              </a:lnSpc>
              <a:spcBef>
                <a:spcPct val="0"/>
              </a:spcBef>
            </a:pPr>
            <a:r>
              <a:rPr lang="en-US" b="true" sz="2299" spc="839">
                <a:solidFill>
                  <a:srgbClr val="131F5B"/>
                </a:solidFill>
                <a:latin typeface="Montserrat Bold"/>
                <a:ea typeface="Montserrat Bold"/>
                <a:cs typeface="Montserrat Bold"/>
                <a:sym typeface="Montserrat Bold"/>
              </a:rPr>
              <a:t>DATE</a:t>
            </a:r>
          </a:p>
        </p:txBody>
      </p:sp>
      <p:grpSp>
        <p:nvGrpSpPr>
          <p:cNvPr name="Group 8" id="8"/>
          <p:cNvGrpSpPr/>
          <p:nvPr/>
        </p:nvGrpSpPr>
        <p:grpSpPr>
          <a:xfrm rot="0">
            <a:off x="1703178" y="12713698"/>
            <a:ext cx="6880644" cy="3186160"/>
            <a:chOff x="0" y="0"/>
            <a:chExt cx="9174192" cy="4248214"/>
          </a:xfrm>
        </p:grpSpPr>
        <p:sp>
          <p:nvSpPr>
            <p:cNvPr name="TextBox 9" id="9"/>
            <p:cNvSpPr txBox="true"/>
            <p:nvPr/>
          </p:nvSpPr>
          <p:spPr>
            <a:xfrm rot="0">
              <a:off x="1596456" y="-66675"/>
              <a:ext cx="5981280" cy="793782"/>
            </a:xfrm>
            <a:prstGeom prst="rect">
              <a:avLst/>
            </a:prstGeom>
          </p:spPr>
          <p:txBody>
            <a:bodyPr anchor="t" rtlCol="false" tIns="0" lIns="0" bIns="0" rIns="0">
              <a:spAutoFit/>
            </a:bodyPr>
            <a:lstStyle/>
            <a:p>
              <a:pPr algn="ctr">
                <a:lnSpc>
                  <a:spcPts val="2486"/>
                </a:lnSpc>
              </a:pPr>
              <a:r>
                <a:rPr lang="en-US" b="true" sz="1525" spc="96">
                  <a:solidFill>
                    <a:srgbClr val="131F5B"/>
                  </a:solidFill>
                  <a:latin typeface="Montserrat Bold"/>
                  <a:ea typeface="Montserrat Bold"/>
                  <a:cs typeface="Montserrat Bold"/>
                  <a:sym typeface="Montserrat Bold"/>
                </a:rPr>
                <a:t>ESTIMATED ROOM REQUIREMENT</a:t>
              </a:r>
            </a:p>
            <a:p>
              <a:pPr algn="ctr">
                <a:lnSpc>
                  <a:spcPts val="2486"/>
                </a:lnSpc>
              </a:pPr>
              <a:r>
                <a:rPr lang="en-US" sz="1525" spc="96">
                  <a:solidFill>
                    <a:srgbClr val="CC0000"/>
                  </a:solidFill>
                  <a:latin typeface="Montserrat"/>
                  <a:ea typeface="Montserrat"/>
                  <a:cs typeface="Montserrat"/>
                  <a:sym typeface="Montserrat"/>
                </a:rPr>
                <a:t>ROOM CATEGORY &amp; QUANTITY</a:t>
              </a:r>
            </a:p>
          </p:txBody>
        </p:sp>
        <p:sp>
          <p:nvSpPr>
            <p:cNvPr name="TextBox 10" id="10"/>
            <p:cNvSpPr txBox="true"/>
            <p:nvPr/>
          </p:nvSpPr>
          <p:spPr>
            <a:xfrm rot="0">
              <a:off x="2279364" y="1484328"/>
              <a:ext cx="4615464" cy="793782"/>
            </a:xfrm>
            <a:prstGeom prst="rect">
              <a:avLst/>
            </a:prstGeom>
          </p:spPr>
          <p:txBody>
            <a:bodyPr anchor="t" rtlCol="false" tIns="0" lIns="0" bIns="0" rIns="0">
              <a:spAutoFit/>
            </a:bodyPr>
            <a:lstStyle/>
            <a:p>
              <a:pPr algn="ctr">
                <a:lnSpc>
                  <a:spcPts val="2486"/>
                </a:lnSpc>
                <a:spcBef>
                  <a:spcPct val="0"/>
                </a:spcBef>
              </a:pPr>
              <a:r>
                <a:rPr lang="en-US" b="true" sz="1525" spc="96">
                  <a:solidFill>
                    <a:srgbClr val="131F5B"/>
                  </a:solidFill>
                  <a:latin typeface="Montserrat Bold"/>
                  <a:ea typeface="Montserrat Bold"/>
                  <a:cs typeface="Montserrat Bold"/>
                  <a:sym typeface="Montserrat Bold"/>
                </a:rPr>
                <a:t>HOTEL HIGHLIGHTS</a:t>
              </a:r>
            </a:p>
            <a:p>
              <a:pPr algn="ctr">
                <a:lnSpc>
                  <a:spcPts val="2486"/>
                </a:lnSpc>
                <a:spcBef>
                  <a:spcPct val="0"/>
                </a:spcBef>
              </a:pPr>
              <a:r>
                <a:rPr lang="en-US" sz="1525" spc="96" u="sng">
                  <a:solidFill>
                    <a:srgbClr val="CC0000"/>
                  </a:solidFill>
                  <a:latin typeface="Montserrat"/>
                  <a:ea typeface="Montserrat"/>
                  <a:cs typeface="Montserrat"/>
                  <a:sym typeface="Montserrat"/>
                  <a:hlinkClick r:id="rId3" tooltip="https://app.littleemperors.com/ile/travel"/>
                </a:rPr>
                <a:t>Details from Little Emperor</a:t>
              </a:r>
            </a:p>
          </p:txBody>
        </p:sp>
        <p:sp>
          <p:nvSpPr>
            <p:cNvPr name="TextBox 11" id="11"/>
            <p:cNvSpPr txBox="true"/>
            <p:nvPr/>
          </p:nvSpPr>
          <p:spPr>
            <a:xfrm rot="0">
              <a:off x="0" y="3035332"/>
              <a:ext cx="9174192" cy="1212882"/>
            </a:xfrm>
            <a:prstGeom prst="rect">
              <a:avLst/>
            </a:prstGeom>
          </p:spPr>
          <p:txBody>
            <a:bodyPr anchor="t" rtlCol="false" tIns="0" lIns="0" bIns="0" rIns="0">
              <a:spAutoFit/>
            </a:bodyPr>
            <a:lstStyle/>
            <a:p>
              <a:pPr algn="ctr" marL="0" indent="0" lvl="0">
                <a:lnSpc>
                  <a:spcPts val="2486"/>
                </a:lnSpc>
                <a:spcBef>
                  <a:spcPct val="0"/>
                </a:spcBef>
              </a:pPr>
              <a:r>
                <a:rPr lang="en-US" b="true" sz="1525" spc="96" strike="noStrike" u="none">
                  <a:solidFill>
                    <a:srgbClr val="131F5B"/>
                  </a:solidFill>
                  <a:latin typeface="Montserrat Bold"/>
                  <a:ea typeface="Montserrat Bold"/>
                  <a:cs typeface="Montserrat Bold"/>
                  <a:sym typeface="Montserrat Bold"/>
                </a:rPr>
                <a:t>HOTEL BENEFITS</a:t>
              </a:r>
            </a:p>
            <a:p>
              <a:pPr algn="ctr" marL="0" indent="0" lvl="0">
                <a:lnSpc>
                  <a:spcPts val="2486"/>
                </a:lnSpc>
                <a:spcBef>
                  <a:spcPct val="0"/>
                </a:spcBef>
              </a:pPr>
              <a:r>
                <a:rPr lang="en-US" sz="1525" spc="96" strike="noStrike" u="sng">
                  <a:solidFill>
                    <a:srgbClr val="CC0000"/>
                  </a:solidFill>
                  <a:latin typeface="Montserrat"/>
                  <a:ea typeface="Montserrat"/>
                  <a:cs typeface="Montserrat"/>
                  <a:sym typeface="Montserrat"/>
                  <a:hlinkClick r:id="rId4" tooltip="https://app.littleemperors.com/ile/travel"/>
                </a:rPr>
                <a:t>DETAILS FROM LITTLE EMPEROR</a:t>
              </a:r>
              <a:r>
                <a:rPr lang="en-US" sz="1525" spc="96" strike="noStrike" u="sng">
                  <a:solidFill>
                    <a:srgbClr val="CC0000"/>
                  </a:solidFill>
                  <a:latin typeface="Montserrat"/>
                  <a:ea typeface="Montserrat"/>
                  <a:cs typeface="Montserrat"/>
                  <a:sym typeface="Montserrat"/>
                  <a:hlinkClick r:id="rId5" tooltip="https://app.littleemperors.com/ile/travel"/>
                </a:rPr>
                <a:t> </a:t>
              </a:r>
            </a:p>
            <a:p>
              <a:pPr algn="ctr" marL="0" indent="0" lvl="0">
                <a:lnSpc>
                  <a:spcPts val="2486"/>
                </a:lnSpc>
                <a:spcBef>
                  <a:spcPct val="0"/>
                </a:spcBef>
              </a:pPr>
              <a:r>
                <a:rPr lang="en-US" sz="1525" spc="96" strike="noStrike" u="sng">
                  <a:solidFill>
                    <a:srgbClr val="CC0000"/>
                  </a:solidFill>
                  <a:latin typeface="Montserrat"/>
                  <a:ea typeface="Montserrat"/>
                  <a:cs typeface="Montserrat"/>
                  <a:sym typeface="Montserrat"/>
                </a:rPr>
                <a:t>upon choosing room category</a:t>
              </a:r>
            </a:p>
          </p:txBody>
        </p:sp>
      </p:grpSp>
      <p:sp>
        <p:nvSpPr>
          <p:cNvPr name="TextBox 12" id="12"/>
          <p:cNvSpPr txBox="true"/>
          <p:nvPr/>
        </p:nvSpPr>
        <p:spPr>
          <a:xfrm rot="0">
            <a:off x="983096" y="868428"/>
            <a:ext cx="8229600" cy="546609"/>
          </a:xfrm>
          <a:prstGeom prst="rect">
            <a:avLst/>
          </a:prstGeom>
        </p:spPr>
        <p:txBody>
          <a:bodyPr anchor="t" rtlCol="false" tIns="0" lIns="0" bIns="0" rIns="0">
            <a:spAutoFit/>
          </a:bodyPr>
          <a:lstStyle/>
          <a:p>
            <a:pPr algn="ctr" marL="0" indent="0" lvl="1">
              <a:lnSpc>
                <a:spcPts val="4521"/>
              </a:lnSpc>
              <a:spcBef>
                <a:spcPct val="0"/>
              </a:spcBef>
            </a:pPr>
            <a:r>
              <a:rPr lang="en-US" b="true" sz="3229" spc="1178">
                <a:solidFill>
                  <a:srgbClr val="131F5B"/>
                </a:solidFill>
                <a:latin typeface="Montserrat Bold"/>
                <a:ea typeface="Montserrat Bold"/>
                <a:cs typeface="Montserrat Bold"/>
                <a:sym typeface="Montserrat Bold"/>
              </a:rPr>
              <a:t>YOUR ACCOMMODATION</a:t>
            </a:r>
          </a:p>
        </p:txBody>
      </p:sp>
      <p:sp>
        <p:nvSpPr>
          <p:cNvPr name="AutoShape 13" id="13"/>
          <p:cNvSpPr/>
          <p:nvPr/>
        </p:nvSpPr>
        <p:spPr>
          <a:xfrm flipH="true">
            <a:off x="568244" y="1536535"/>
            <a:ext cx="9258300" cy="0"/>
          </a:xfrm>
          <a:prstGeom prst="line">
            <a:avLst/>
          </a:prstGeom>
          <a:ln cap="flat" w="38100">
            <a:solidFill>
              <a:srgbClr val="131F5B"/>
            </a:solidFill>
            <a:prstDash val="solid"/>
            <a:headEnd type="none" len="sm" w="sm"/>
            <a:tailEnd type="none" len="sm" w="sm"/>
          </a:ln>
        </p:spPr>
      </p:sp>
      <p:sp>
        <p:nvSpPr>
          <p:cNvPr name="TextBox 14" id="14"/>
          <p:cNvSpPr txBox="true"/>
          <p:nvPr/>
        </p:nvSpPr>
        <p:spPr>
          <a:xfrm rot="0">
            <a:off x="3265032" y="1707985"/>
            <a:ext cx="3638699" cy="389256"/>
          </a:xfrm>
          <a:prstGeom prst="rect">
            <a:avLst/>
          </a:prstGeom>
        </p:spPr>
        <p:txBody>
          <a:bodyPr anchor="t" rtlCol="false" tIns="0" lIns="0" bIns="0" rIns="0">
            <a:spAutoFit/>
          </a:bodyPr>
          <a:lstStyle/>
          <a:p>
            <a:pPr algn="ctr">
              <a:lnSpc>
                <a:spcPts val="3219"/>
              </a:lnSpc>
              <a:spcBef>
                <a:spcPct val="0"/>
              </a:spcBef>
            </a:pPr>
            <a:r>
              <a:rPr lang="en-US" b="true" sz="2299" spc="839">
                <a:solidFill>
                  <a:srgbClr val="CC0000"/>
                </a:solidFill>
                <a:latin typeface="Montserrat Bold"/>
                <a:ea typeface="Montserrat Bold"/>
                <a:cs typeface="Montserrat Bold"/>
                <a:sym typeface="Montserrat Bold"/>
              </a:rPr>
              <a:t>HOTEL NAME A</a:t>
            </a:r>
          </a:p>
        </p:txBody>
      </p:sp>
      <p:sp>
        <p:nvSpPr>
          <p:cNvPr name="AutoShape 15" id="15"/>
          <p:cNvSpPr/>
          <p:nvPr/>
        </p:nvSpPr>
        <p:spPr>
          <a:xfrm flipH="true">
            <a:off x="617837" y="16944085"/>
            <a:ext cx="9258300" cy="0"/>
          </a:xfrm>
          <a:prstGeom prst="line">
            <a:avLst/>
          </a:prstGeom>
          <a:ln cap="flat" w="38100">
            <a:solidFill>
              <a:srgbClr val="131F5B"/>
            </a:solidFill>
            <a:prstDash val="solid"/>
            <a:headEnd type="none" len="sm" w="sm"/>
            <a:tailEnd type="none" len="sm" w="sm"/>
          </a:ln>
        </p:spPr>
      </p:sp>
      <p:sp>
        <p:nvSpPr>
          <p:cNvPr name="Freeform 16" id="16"/>
          <p:cNvSpPr/>
          <p:nvPr/>
        </p:nvSpPr>
        <p:spPr>
          <a:xfrm flipH="false" flipV="false" rot="0">
            <a:off x="4156808" y="16565541"/>
            <a:ext cx="1973384" cy="1973384"/>
          </a:xfrm>
          <a:custGeom>
            <a:avLst/>
            <a:gdLst/>
            <a:ahLst/>
            <a:cxnLst/>
            <a:rect r="r" b="b" t="t" l="l"/>
            <a:pathLst>
              <a:path h="1973384" w="1973384">
                <a:moveTo>
                  <a:pt x="0" y="0"/>
                </a:moveTo>
                <a:lnTo>
                  <a:pt x="1973384" y="0"/>
                </a:lnTo>
                <a:lnTo>
                  <a:pt x="1973384" y="1973383"/>
                </a:lnTo>
                <a:lnTo>
                  <a:pt x="0" y="1973383"/>
                </a:lnTo>
                <a:lnTo>
                  <a:pt x="0" y="0"/>
                </a:lnTo>
                <a:close/>
              </a:path>
            </a:pathLst>
          </a:custGeom>
          <a:blipFill>
            <a:blip r:embed="rId6"/>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83096" y="868428"/>
            <a:ext cx="8229600" cy="546609"/>
          </a:xfrm>
          <a:prstGeom prst="rect">
            <a:avLst/>
          </a:prstGeom>
        </p:spPr>
        <p:txBody>
          <a:bodyPr anchor="t" rtlCol="false" tIns="0" lIns="0" bIns="0" rIns="0">
            <a:spAutoFit/>
          </a:bodyPr>
          <a:lstStyle/>
          <a:p>
            <a:pPr algn="ctr" marL="0" indent="0" lvl="1">
              <a:lnSpc>
                <a:spcPts val="4521"/>
              </a:lnSpc>
              <a:spcBef>
                <a:spcPct val="0"/>
              </a:spcBef>
            </a:pPr>
            <a:r>
              <a:rPr lang="en-US" b="true" sz="3229" spc="1178">
                <a:solidFill>
                  <a:srgbClr val="131F5B"/>
                </a:solidFill>
                <a:latin typeface="Montserrat Bold"/>
                <a:ea typeface="Montserrat Bold"/>
                <a:cs typeface="Montserrat Bold"/>
                <a:sym typeface="Montserrat Bold"/>
              </a:rPr>
              <a:t>YOUR ACCOMMODATION</a:t>
            </a:r>
          </a:p>
        </p:txBody>
      </p:sp>
      <p:sp>
        <p:nvSpPr>
          <p:cNvPr name="AutoShape 3" id="3"/>
          <p:cNvSpPr/>
          <p:nvPr/>
        </p:nvSpPr>
        <p:spPr>
          <a:xfrm flipH="true">
            <a:off x="568244" y="1536535"/>
            <a:ext cx="9258300" cy="0"/>
          </a:xfrm>
          <a:prstGeom prst="line">
            <a:avLst/>
          </a:prstGeom>
          <a:ln cap="flat" w="38100">
            <a:solidFill>
              <a:srgbClr val="131F5B"/>
            </a:solidFill>
            <a:prstDash val="solid"/>
            <a:headEnd type="none" len="sm" w="sm"/>
            <a:tailEnd type="none" len="sm" w="sm"/>
          </a:ln>
        </p:spPr>
      </p:sp>
      <p:sp>
        <p:nvSpPr>
          <p:cNvPr name="TextBox 4" id="4"/>
          <p:cNvSpPr txBox="true"/>
          <p:nvPr/>
        </p:nvSpPr>
        <p:spPr>
          <a:xfrm rot="0">
            <a:off x="3265032" y="1707985"/>
            <a:ext cx="3638699" cy="389256"/>
          </a:xfrm>
          <a:prstGeom prst="rect">
            <a:avLst/>
          </a:prstGeom>
        </p:spPr>
        <p:txBody>
          <a:bodyPr anchor="t" rtlCol="false" tIns="0" lIns="0" bIns="0" rIns="0">
            <a:spAutoFit/>
          </a:bodyPr>
          <a:lstStyle/>
          <a:p>
            <a:pPr algn="ctr">
              <a:lnSpc>
                <a:spcPts val="3219"/>
              </a:lnSpc>
              <a:spcBef>
                <a:spcPct val="0"/>
              </a:spcBef>
            </a:pPr>
            <a:r>
              <a:rPr lang="en-US" b="true" sz="2299" spc="839">
                <a:solidFill>
                  <a:srgbClr val="CC0000"/>
                </a:solidFill>
                <a:latin typeface="Montserrat Bold"/>
                <a:ea typeface="Montserrat Bold"/>
                <a:cs typeface="Montserrat Bold"/>
                <a:sym typeface="Montserrat Bold"/>
              </a:rPr>
              <a:t>HOTEL NAME A</a:t>
            </a:r>
          </a:p>
        </p:txBody>
      </p:sp>
      <p:sp>
        <p:nvSpPr>
          <p:cNvPr name="Freeform 5" id="5"/>
          <p:cNvSpPr/>
          <p:nvPr/>
        </p:nvSpPr>
        <p:spPr>
          <a:xfrm flipH="false" flipV="false" rot="0">
            <a:off x="8809372" y="2775213"/>
            <a:ext cx="756397" cy="756397"/>
          </a:xfrm>
          <a:custGeom>
            <a:avLst/>
            <a:gdLst/>
            <a:ahLst/>
            <a:cxnLst/>
            <a:rect r="r" b="b" t="t" l="l"/>
            <a:pathLst>
              <a:path h="756397" w="756397">
                <a:moveTo>
                  <a:pt x="0" y="0"/>
                </a:moveTo>
                <a:lnTo>
                  <a:pt x="756397" y="0"/>
                </a:lnTo>
                <a:lnTo>
                  <a:pt x="756397" y="756397"/>
                </a:lnTo>
                <a:lnTo>
                  <a:pt x="0" y="756397"/>
                </a:lnTo>
                <a:lnTo>
                  <a:pt x="0" y="0"/>
                </a:lnTo>
                <a:close/>
              </a:path>
            </a:pathLst>
          </a:custGeom>
          <a:blipFill>
            <a:blip r:embed="rId2"/>
            <a:stretch>
              <a:fillRect l="0" t="0" r="0" b="0"/>
            </a:stretch>
          </a:blipFill>
        </p:spPr>
      </p:sp>
      <p:grpSp>
        <p:nvGrpSpPr>
          <p:cNvPr name="Group 6" id="6"/>
          <p:cNvGrpSpPr>
            <a:grpSpLocks noChangeAspect="true"/>
          </p:cNvGrpSpPr>
          <p:nvPr/>
        </p:nvGrpSpPr>
        <p:grpSpPr>
          <a:xfrm rot="0">
            <a:off x="6" y="3790045"/>
            <a:ext cx="10287000" cy="6303"/>
            <a:chOff x="0" y="0"/>
            <a:chExt cx="7772400" cy="4762"/>
          </a:xfrm>
        </p:grpSpPr>
        <p:sp>
          <p:nvSpPr>
            <p:cNvPr name="Freeform 7" id="7"/>
            <p:cNvSpPr/>
            <p:nvPr/>
          </p:nvSpPr>
          <p:spPr>
            <a:xfrm flipH="false" flipV="false" rot="0">
              <a:off x="0" y="0"/>
              <a:ext cx="7772400" cy="4826"/>
            </a:xfrm>
            <a:custGeom>
              <a:avLst/>
              <a:gdLst/>
              <a:ahLst/>
              <a:cxnLst/>
              <a:rect r="r" b="b" t="t" l="l"/>
              <a:pathLst>
                <a:path h="4826" w="7772400">
                  <a:moveTo>
                    <a:pt x="0" y="0"/>
                  </a:moveTo>
                  <a:lnTo>
                    <a:pt x="7772400" y="0"/>
                  </a:lnTo>
                  <a:lnTo>
                    <a:pt x="7772400" y="4826"/>
                  </a:lnTo>
                  <a:lnTo>
                    <a:pt x="0" y="4826"/>
                  </a:lnTo>
                </a:path>
              </a:pathLst>
            </a:custGeom>
            <a:solidFill>
              <a:srgbClr val="191919"/>
            </a:solidFill>
          </p:spPr>
        </p:sp>
      </p:grpSp>
      <p:sp>
        <p:nvSpPr>
          <p:cNvPr name="TextBox 8" id="8"/>
          <p:cNvSpPr txBox="true"/>
          <p:nvPr/>
        </p:nvSpPr>
        <p:spPr>
          <a:xfrm rot="0">
            <a:off x="385769" y="2777294"/>
            <a:ext cx="933944" cy="213332"/>
          </a:xfrm>
          <a:prstGeom prst="rect">
            <a:avLst/>
          </a:prstGeom>
        </p:spPr>
        <p:txBody>
          <a:bodyPr anchor="t" rtlCol="false" tIns="0" lIns="0" bIns="0" rIns="0">
            <a:spAutoFit/>
          </a:bodyPr>
          <a:lstStyle/>
          <a:p>
            <a:pPr algn="l">
              <a:lnSpc>
                <a:spcPts val="1836"/>
              </a:lnSpc>
            </a:pPr>
            <a:r>
              <a:rPr lang="en-US" b="true" sz="992" i="true">
                <a:solidFill>
                  <a:srgbClr val="000000"/>
                </a:solidFill>
                <a:latin typeface="Montserrat Medium Italics"/>
                <a:ea typeface="Montserrat Medium Italics"/>
                <a:cs typeface="Montserrat Medium Italics"/>
                <a:sym typeface="Montserrat Medium Italics"/>
              </a:rPr>
              <a:t>Check in</a:t>
            </a:r>
          </a:p>
        </p:txBody>
      </p:sp>
      <p:sp>
        <p:nvSpPr>
          <p:cNvPr name="TextBox 9" id="9"/>
          <p:cNvSpPr txBox="true"/>
          <p:nvPr/>
        </p:nvSpPr>
        <p:spPr>
          <a:xfrm rot="0">
            <a:off x="532006" y="3013177"/>
            <a:ext cx="32147" cy="213332"/>
          </a:xfrm>
          <a:prstGeom prst="rect">
            <a:avLst/>
          </a:prstGeom>
        </p:spPr>
        <p:txBody>
          <a:bodyPr anchor="t" rtlCol="false" tIns="0" lIns="0" bIns="0" rIns="0">
            <a:spAutoFit/>
          </a:bodyPr>
          <a:lstStyle/>
          <a:p>
            <a:pPr algn="l">
              <a:lnSpc>
                <a:spcPts val="1836"/>
              </a:lnSpc>
            </a:pPr>
            <a:r>
              <a:rPr lang="en-US" b="true" sz="992">
                <a:solidFill>
                  <a:srgbClr val="505050"/>
                </a:solidFill>
                <a:latin typeface="Montserrat Ultra-Bold"/>
                <a:ea typeface="Montserrat Ultra-Bold"/>
                <a:cs typeface="Montserrat Ultra-Bold"/>
                <a:sym typeface="Montserrat Ultra-Bold"/>
              </a:rPr>
              <a:t> </a:t>
            </a:r>
          </a:p>
        </p:txBody>
      </p:sp>
      <p:sp>
        <p:nvSpPr>
          <p:cNvPr name="TextBox 10" id="10"/>
          <p:cNvSpPr txBox="true"/>
          <p:nvPr/>
        </p:nvSpPr>
        <p:spPr>
          <a:xfrm rot="0">
            <a:off x="2234113" y="2777294"/>
            <a:ext cx="930331" cy="213332"/>
          </a:xfrm>
          <a:prstGeom prst="rect">
            <a:avLst/>
          </a:prstGeom>
        </p:spPr>
        <p:txBody>
          <a:bodyPr anchor="t" rtlCol="false" tIns="0" lIns="0" bIns="0" rIns="0">
            <a:spAutoFit/>
          </a:bodyPr>
          <a:lstStyle/>
          <a:p>
            <a:pPr algn="l">
              <a:lnSpc>
                <a:spcPts val="1836"/>
              </a:lnSpc>
            </a:pPr>
            <a:r>
              <a:rPr lang="en-US" b="true" sz="992" i="true">
                <a:solidFill>
                  <a:srgbClr val="000000"/>
                </a:solidFill>
                <a:latin typeface="Montserrat Medium Italics"/>
                <a:ea typeface="Montserrat Medium Italics"/>
                <a:cs typeface="Montserrat Medium Italics"/>
                <a:sym typeface="Montserrat Medium Italics"/>
              </a:rPr>
              <a:t>Check out</a:t>
            </a:r>
          </a:p>
        </p:txBody>
      </p:sp>
      <p:sp>
        <p:nvSpPr>
          <p:cNvPr name="TextBox 11" id="11"/>
          <p:cNvSpPr txBox="true"/>
          <p:nvPr/>
        </p:nvSpPr>
        <p:spPr>
          <a:xfrm rot="0">
            <a:off x="2380350" y="3013177"/>
            <a:ext cx="32147" cy="213332"/>
          </a:xfrm>
          <a:prstGeom prst="rect">
            <a:avLst/>
          </a:prstGeom>
        </p:spPr>
        <p:txBody>
          <a:bodyPr anchor="t" rtlCol="false" tIns="0" lIns="0" bIns="0" rIns="0">
            <a:spAutoFit/>
          </a:bodyPr>
          <a:lstStyle/>
          <a:p>
            <a:pPr algn="l">
              <a:lnSpc>
                <a:spcPts val="1836"/>
              </a:lnSpc>
            </a:pPr>
            <a:r>
              <a:rPr lang="en-US" b="true" sz="992">
                <a:solidFill>
                  <a:srgbClr val="505050"/>
                </a:solidFill>
                <a:latin typeface="Montserrat Ultra-Bold"/>
                <a:ea typeface="Montserrat Ultra-Bold"/>
                <a:cs typeface="Montserrat Ultra-Bold"/>
                <a:sym typeface="Montserrat Ultra-Bold"/>
              </a:rPr>
              <a:t> </a:t>
            </a:r>
          </a:p>
        </p:txBody>
      </p:sp>
      <p:sp>
        <p:nvSpPr>
          <p:cNvPr name="TextBox 12" id="12"/>
          <p:cNvSpPr txBox="true"/>
          <p:nvPr/>
        </p:nvSpPr>
        <p:spPr>
          <a:xfrm rot="0">
            <a:off x="4082483" y="2777294"/>
            <a:ext cx="685711" cy="213332"/>
          </a:xfrm>
          <a:prstGeom prst="rect">
            <a:avLst/>
          </a:prstGeom>
        </p:spPr>
        <p:txBody>
          <a:bodyPr anchor="t" rtlCol="false" tIns="0" lIns="0" bIns="0" rIns="0">
            <a:spAutoFit/>
          </a:bodyPr>
          <a:lstStyle/>
          <a:p>
            <a:pPr algn="l">
              <a:lnSpc>
                <a:spcPts val="1836"/>
              </a:lnSpc>
            </a:pPr>
            <a:r>
              <a:rPr lang="en-US" sz="992">
                <a:solidFill>
                  <a:srgbClr val="000000"/>
                </a:solidFill>
                <a:latin typeface="Montserrat"/>
                <a:ea typeface="Montserrat"/>
                <a:cs typeface="Montserrat"/>
                <a:sym typeface="Montserrat"/>
              </a:rPr>
              <a:t>Nights </a:t>
            </a:r>
          </a:p>
        </p:txBody>
      </p:sp>
      <p:sp>
        <p:nvSpPr>
          <p:cNvPr name="TextBox 13" id="13"/>
          <p:cNvSpPr txBox="true"/>
          <p:nvPr/>
        </p:nvSpPr>
        <p:spPr>
          <a:xfrm rot="0">
            <a:off x="385769" y="3060802"/>
            <a:ext cx="1178504" cy="165287"/>
          </a:xfrm>
          <a:prstGeom prst="rect">
            <a:avLst/>
          </a:prstGeom>
        </p:spPr>
        <p:txBody>
          <a:bodyPr anchor="t" rtlCol="false" tIns="0" lIns="0" bIns="0" rIns="0">
            <a:spAutoFit/>
          </a:bodyPr>
          <a:lstStyle/>
          <a:p>
            <a:pPr algn="l">
              <a:lnSpc>
                <a:spcPts val="1389"/>
              </a:lnSpc>
            </a:pPr>
            <a:r>
              <a:rPr lang="en-US" sz="992">
                <a:solidFill>
                  <a:srgbClr val="CC0000"/>
                </a:solidFill>
                <a:latin typeface="Montserrat"/>
                <a:ea typeface="Montserrat"/>
                <a:cs typeface="Montserrat"/>
                <a:sym typeface="Montserrat"/>
              </a:rPr>
              <a:t>Date</a:t>
            </a:r>
            <a:r>
              <a:rPr lang="en-US" sz="992">
                <a:solidFill>
                  <a:srgbClr val="CC0000"/>
                </a:solidFill>
                <a:latin typeface="Montserrat"/>
                <a:ea typeface="Montserrat"/>
                <a:cs typeface="Montserrat"/>
                <a:sym typeface="Montserrat"/>
              </a:rPr>
              <a:t> Month Year</a:t>
            </a:r>
          </a:p>
        </p:txBody>
      </p:sp>
      <p:sp>
        <p:nvSpPr>
          <p:cNvPr name="TextBox 14" id="14"/>
          <p:cNvSpPr txBox="true"/>
          <p:nvPr/>
        </p:nvSpPr>
        <p:spPr>
          <a:xfrm rot="0">
            <a:off x="2234113" y="3060802"/>
            <a:ext cx="1158851" cy="165287"/>
          </a:xfrm>
          <a:prstGeom prst="rect">
            <a:avLst/>
          </a:prstGeom>
        </p:spPr>
        <p:txBody>
          <a:bodyPr anchor="t" rtlCol="false" tIns="0" lIns="0" bIns="0" rIns="0">
            <a:spAutoFit/>
          </a:bodyPr>
          <a:lstStyle/>
          <a:p>
            <a:pPr algn="l">
              <a:lnSpc>
                <a:spcPts val="1389"/>
              </a:lnSpc>
            </a:pPr>
            <a:r>
              <a:rPr lang="en-US" sz="992">
                <a:solidFill>
                  <a:srgbClr val="CC0000"/>
                </a:solidFill>
                <a:latin typeface="Montserrat"/>
                <a:ea typeface="Montserrat"/>
                <a:cs typeface="Montserrat"/>
                <a:sym typeface="Montserrat"/>
              </a:rPr>
              <a:t>Date Month Year </a:t>
            </a:r>
          </a:p>
        </p:txBody>
      </p:sp>
      <p:sp>
        <p:nvSpPr>
          <p:cNvPr name="TextBox 15" id="15"/>
          <p:cNvSpPr txBox="true"/>
          <p:nvPr/>
        </p:nvSpPr>
        <p:spPr>
          <a:xfrm rot="0">
            <a:off x="5221302" y="6656095"/>
            <a:ext cx="40291" cy="293736"/>
          </a:xfrm>
          <a:prstGeom prst="rect">
            <a:avLst/>
          </a:prstGeom>
        </p:spPr>
        <p:txBody>
          <a:bodyPr anchor="t" rtlCol="false" tIns="0" lIns="0" bIns="0" rIns="0">
            <a:spAutoFit/>
          </a:bodyPr>
          <a:lstStyle/>
          <a:p>
            <a:pPr algn="l">
              <a:lnSpc>
                <a:spcPts val="2630"/>
              </a:lnSpc>
            </a:pPr>
            <a:r>
              <a:rPr lang="en-US" b="true" sz="1244">
                <a:solidFill>
                  <a:srgbClr val="FFFFFF"/>
                </a:solidFill>
                <a:latin typeface="Montserrat Medium"/>
                <a:ea typeface="Montserrat Medium"/>
                <a:cs typeface="Montserrat Medium"/>
                <a:sym typeface="Montserrat Medium"/>
              </a:rPr>
              <a:t> </a:t>
            </a:r>
          </a:p>
        </p:txBody>
      </p:sp>
      <p:grpSp>
        <p:nvGrpSpPr>
          <p:cNvPr name="Group 16" id="16"/>
          <p:cNvGrpSpPr/>
          <p:nvPr/>
        </p:nvGrpSpPr>
        <p:grpSpPr>
          <a:xfrm rot="0">
            <a:off x="3532346" y="8108016"/>
            <a:ext cx="3222321" cy="1565522"/>
            <a:chOff x="0" y="0"/>
            <a:chExt cx="4296429" cy="2087363"/>
          </a:xfrm>
        </p:grpSpPr>
        <p:sp>
          <p:nvSpPr>
            <p:cNvPr name="TextBox 17" id="17"/>
            <p:cNvSpPr txBox="true"/>
            <p:nvPr/>
          </p:nvSpPr>
          <p:spPr>
            <a:xfrm rot="0">
              <a:off x="470647" y="262380"/>
              <a:ext cx="3050096" cy="1401482"/>
            </a:xfrm>
            <a:prstGeom prst="rect">
              <a:avLst/>
            </a:prstGeom>
          </p:spPr>
          <p:txBody>
            <a:bodyPr anchor="t" rtlCol="false" tIns="0" lIns="0" bIns="0" rIns="0">
              <a:spAutoFit/>
            </a:bodyPr>
            <a:lstStyle/>
            <a:p>
              <a:pPr algn="l">
                <a:lnSpc>
                  <a:spcPts val="2233"/>
                </a:lnSpc>
              </a:pPr>
              <a:r>
                <a:rPr lang="en-US" sz="992">
                  <a:solidFill>
                    <a:srgbClr val="505050"/>
                  </a:solidFill>
                  <a:latin typeface="Montserrat"/>
                  <a:ea typeface="Montserrat"/>
                  <a:cs typeface="Montserrat"/>
                  <a:sym typeface="Montserrat"/>
                </a:rPr>
                <a:t>Complimentary breakfast $100 hotel credit per stay Priority upgrade at check-in* </a:t>
              </a:r>
            </a:p>
            <a:p>
              <a:pPr algn="l">
                <a:lnSpc>
                  <a:spcPts val="2233"/>
                </a:lnSpc>
              </a:pPr>
              <a:r>
                <a:rPr lang="en-US" sz="992">
                  <a:solidFill>
                    <a:srgbClr val="505050"/>
                  </a:solidFill>
                  <a:latin typeface="Montserrat"/>
                  <a:ea typeface="Montserrat"/>
                  <a:cs typeface="Montserrat"/>
                  <a:sym typeface="Montserrat"/>
                </a:rPr>
                <a:t>Early check in/late check out*</a:t>
              </a:r>
            </a:p>
          </p:txBody>
        </p:sp>
        <p:sp>
          <p:nvSpPr>
            <p:cNvPr name="TextBox 18" id="18"/>
            <p:cNvSpPr txBox="true"/>
            <p:nvPr/>
          </p:nvSpPr>
          <p:spPr>
            <a:xfrm rot="0">
              <a:off x="0" y="-19050"/>
              <a:ext cx="4296429" cy="224939"/>
            </a:xfrm>
            <a:prstGeom prst="rect">
              <a:avLst/>
            </a:prstGeom>
          </p:spPr>
          <p:txBody>
            <a:bodyPr anchor="t" rtlCol="false" tIns="0" lIns="0" bIns="0" rIns="0">
              <a:spAutoFit/>
            </a:bodyPr>
            <a:lstStyle/>
            <a:p>
              <a:pPr algn="l">
                <a:lnSpc>
                  <a:spcPts val="1463"/>
                </a:lnSpc>
              </a:pPr>
              <a:r>
                <a:rPr lang="en-US" b="true" sz="1045" i="true">
                  <a:solidFill>
                    <a:srgbClr val="191919"/>
                  </a:solidFill>
                  <a:latin typeface="Montserrat Medium Italics"/>
                  <a:ea typeface="Montserrat Medium Italics"/>
                  <a:cs typeface="Montserrat Medium Italics"/>
                  <a:sym typeface="Montserrat Medium Italics"/>
                </a:rPr>
                <a:t>All rates below include the following Benefits:</a:t>
              </a:r>
            </a:p>
          </p:txBody>
        </p:sp>
        <p:sp>
          <p:nvSpPr>
            <p:cNvPr name="TextBox 19" id="19"/>
            <p:cNvSpPr txBox="true"/>
            <p:nvPr/>
          </p:nvSpPr>
          <p:spPr>
            <a:xfrm rot="0">
              <a:off x="0" y="1895593"/>
              <a:ext cx="3916608" cy="191770"/>
            </a:xfrm>
            <a:prstGeom prst="rect">
              <a:avLst/>
            </a:prstGeom>
          </p:spPr>
          <p:txBody>
            <a:bodyPr anchor="t" rtlCol="false" tIns="0" lIns="0" bIns="0" rIns="0">
              <a:spAutoFit/>
            </a:bodyPr>
            <a:lstStyle/>
            <a:p>
              <a:pPr algn="l">
                <a:lnSpc>
                  <a:spcPts val="1260"/>
                </a:lnSpc>
              </a:pPr>
              <a:r>
                <a:rPr lang="en-US" sz="900">
                  <a:solidFill>
                    <a:srgbClr val="505050"/>
                  </a:solidFill>
                  <a:latin typeface="Montserrat"/>
                  <a:ea typeface="Montserrat"/>
                  <a:cs typeface="Montserrat"/>
                  <a:sym typeface="Montserrat"/>
                </a:rPr>
                <a:t>*subject to availability (excluding speciality suites)</a:t>
              </a:r>
            </a:p>
          </p:txBody>
        </p:sp>
      </p:grpSp>
      <p:sp>
        <p:nvSpPr>
          <p:cNvPr name="TextBox 20" id="20"/>
          <p:cNvSpPr txBox="true"/>
          <p:nvPr/>
        </p:nvSpPr>
        <p:spPr>
          <a:xfrm rot="0">
            <a:off x="4082483" y="3076351"/>
            <a:ext cx="1158851" cy="165287"/>
          </a:xfrm>
          <a:prstGeom prst="rect">
            <a:avLst/>
          </a:prstGeom>
        </p:spPr>
        <p:txBody>
          <a:bodyPr anchor="t" rtlCol="false" tIns="0" lIns="0" bIns="0" rIns="0">
            <a:spAutoFit/>
          </a:bodyPr>
          <a:lstStyle/>
          <a:p>
            <a:pPr algn="l">
              <a:lnSpc>
                <a:spcPts val="1389"/>
              </a:lnSpc>
            </a:pPr>
            <a:r>
              <a:rPr lang="en-US" sz="992">
                <a:solidFill>
                  <a:srgbClr val="CC0000"/>
                </a:solidFill>
                <a:latin typeface="Montserrat"/>
                <a:ea typeface="Montserrat"/>
                <a:cs typeface="Montserrat"/>
                <a:sym typeface="Montserrat"/>
              </a:rPr>
              <a:t>Number </a:t>
            </a:r>
          </a:p>
        </p:txBody>
      </p:sp>
      <p:sp>
        <p:nvSpPr>
          <p:cNvPr name="Freeform 21" id="21"/>
          <p:cNvSpPr/>
          <p:nvPr/>
        </p:nvSpPr>
        <p:spPr>
          <a:xfrm flipH="false" flipV="false" rot="0">
            <a:off x="4156808" y="16565541"/>
            <a:ext cx="1973384" cy="1973384"/>
          </a:xfrm>
          <a:custGeom>
            <a:avLst/>
            <a:gdLst/>
            <a:ahLst/>
            <a:cxnLst/>
            <a:rect r="r" b="b" t="t" l="l"/>
            <a:pathLst>
              <a:path h="1973384" w="1973384">
                <a:moveTo>
                  <a:pt x="0" y="0"/>
                </a:moveTo>
                <a:lnTo>
                  <a:pt x="1973384" y="0"/>
                </a:lnTo>
                <a:lnTo>
                  <a:pt x="1973384" y="1973383"/>
                </a:lnTo>
                <a:lnTo>
                  <a:pt x="0" y="1973383"/>
                </a:lnTo>
                <a:lnTo>
                  <a:pt x="0" y="0"/>
                </a:lnTo>
                <a:close/>
              </a:path>
            </a:pathLst>
          </a:custGeom>
          <a:blipFill>
            <a:blip r:embed="rId3"/>
            <a:stretch>
              <a:fillRect l="0" t="0" r="0" b="0"/>
            </a:stretch>
          </a:blipFill>
        </p:spPr>
      </p:sp>
      <p:grpSp>
        <p:nvGrpSpPr>
          <p:cNvPr name="Group 22" id="22"/>
          <p:cNvGrpSpPr/>
          <p:nvPr/>
        </p:nvGrpSpPr>
        <p:grpSpPr>
          <a:xfrm rot="0">
            <a:off x="1531612" y="10219532"/>
            <a:ext cx="7223764" cy="4719318"/>
            <a:chOff x="0" y="0"/>
            <a:chExt cx="9631685" cy="6292424"/>
          </a:xfrm>
        </p:grpSpPr>
        <p:sp>
          <p:nvSpPr>
            <p:cNvPr name="Freeform 23" id="23"/>
            <p:cNvSpPr/>
            <p:nvPr/>
          </p:nvSpPr>
          <p:spPr>
            <a:xfrm flipH="false" flipV="false" rot="0">
              <a:off x="36532" y="4934675"/>
              <a:ext cx="1751578" cy="353525"/>
            </a:xfrm>
            <a:custGeom>
              <a:avLst/>
              <a:gdLst/>
              <a:ahLst/>
              <a:cxnLst/>
              <a:rect r="r" b="b" t="t" l="l"/>
              <a:pathLst>
                <a:path h="353525" w="1751578">
                  <a:moveTo>
                    <a:pt x="0" y="0"/>
                  </a:moveTo>
                  <a:lnTo>
                    <a:pt x="1751578" y="0"/>
                  </a:lnTo>
                  <a:lnTo>
                    <a:pt x="1751578" y="353524"/>
                  </a:lnTo>
                  <a:lnTo>
                    <a:pt x="0" y="3535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4" id="24"/>
            <p:cNvGrpSpPr/>
            <p:nvPr/>
          </p:nvGrpSpPr>
          <p:grpSpPr>
            <a:xfrm rot="0">
              <a:off x="0" y="4272714"/>
              <a:ext cx="559015" cy="455079"/>
              <a:chOff x="0" y="0"/>
              <a:chExt cx="279400" cy="227457"/>
            </a:xfrm>
          </p:grpSpPr>
          <p:sp>
            <p:nvSpPr>
              <p:cNvPr name="Freeform 25" id="25"/>
              <p:cNvSpPr/>
              <p:nvPr/>
            </p:nvSpPr>
            <p:spPr>
              <a:xfrm flipH="false" flipV="false" rot="0">
                <a:off x="63500" y="63473"/>
                <a:ext cx="152272" cy="100481"/>
              </a:xfrm>
              <a:custGeom>
                <a:avLst/>
                <a:gdLst/>
                <a:ahLst/>
                <a:cxnLst/>
                <a:rect r="r" b="b" t="t" l="l"/>
                <a:pathLst>
                  <a:path h="100481" w="152272">
                    <a:moveTo>
                      <a:pt x="75056" y="100482"/>
                    </a:moveTo>
                    <a:cubicBezTo>
                      <a:pt x="48894" y="100482"/>
                      <a:pt x="23875" y="84099"/>
                      <a:pt x="635" y="51841"/>
                    </a:cubicBezTo>
                    <a:cubicBezTo>
                      <a:pt x="254" y="51333"/>
                      <a:pt x="0" y="50571"/>
                      <a:pt x="0" y="49936"/>
                    </a:cubicBezTo>
                    <a:cubicBezTo>
                      <a:pt x="0" y="49301"/>
                      <a:pt x="127" y="48539"/>
                      <a:pt x="508" y="48031"/>
                    </a:cubicBezTo>
                    <a:cubicBezTo>
                      <a:pt x="1778" y="46126"/>
                      <a:pt x="32003" y="1042"/>
                      <a:pt x="75691" y="26"/>
                    </a:cubicBezTo>
                    <a:cubicBezTo>
                      <a:pt x="102488" y="-736"/>
                      <a:pt x="128015" y="15520"/>
                      <a:pt x="151637" y="47904"/>
                    </a:cubicBezTo>
                    <a:cubicBezTo>
                      <a:pt x="152018" y="48412"/>
                      <a:pt x="152272" y="49047"/>
                      <a:pt x="152272" y="49809"/>
                    </a:cubicBezTo>
                    <a:cubicBezTo>
                      <a:pt x="152272" y="50571"/>
                      <a:pt x="152145" y="51206"/>
                      <a:pt x="151764" y="51714"/>
                    </a:cubicBezTo>
                    <a:cubicBezTo>
                      <a:pt x="150494" y="53619"/>
                      <a:pt x="120141" y="99466"/>
                      <a:pt x="76453" y="100482"/>
                    </a:cubicBezTo>
                    <a:cubicBezTo>
                      <a:pt x="75945" y="100482"/>
                      <a:pt x="75437" y="100482"/>
                      <a:pt x="74929" y="100482"/>
                    </a:cubicBezTo>
                    <a:close/>
                    <a:moveTo>
                      <a:pt x="7366" y="49809"/>
                    </a:moveTo>
                    <a:cubicBezTo>
                      <a:pt x="29336" y="79527"/>
                      <a:pt x="52577" y="94259"/>
                      <a:pt x="76326" y="93751"/>
                    </a:cubicBezTo>
                    <a:cubicBezTo>
                      <a:pt x="111759" y="92989"/>
                      <a:pt x="138810" y="58445"/>
                      <a:pt x="144906" y="49936"/>
                    </a:cubicBezTo>
                    <a:cubicBezTo>
                      <a:pt x="123062" y="20727"/>
                      <a:pt x="99694" y="6249"/>
                      <a:pt x="75818" y="6757"/>
                    </a:cubicBezTo>
                    <a:cubicBezTo>
                      <a:pt x="40385" y="7519"/>
                      <a:pt x="13461" y="41427"/>
                      <a:pt x="7239" y="49936"/>
                    </a:cubicBezTo>
                    <a:close/>
                  </a:path>
                </a:pathLst>
              </a:custGeom>
              <a:solidFill>
                <a:srgbClr val="505050"/>
              </a:solidFill>
            </p:spPr>
          </p:sp>
          <p:sp>
            <p:nvSpPr>
              <p:cNvPr name="Freeform 26" id="26"/>
              <p:cNvSpPr/>
              <p:nvPr/>
            </p:nvSpPr>
            <p:spPr>
              <a:xfrm flipH="false" flipV="false" rot="0">
                <a:off x="112521" y="86359"/>
                <a:ext cx="54483" cy="54736"/>
              </a:xfrm>
              <a:custGeom>
                <a:avLst/>
                <a:gdLst/>
                <a:ahLst/>
                <a:cxnLst/>
                <a:rect r="r" b="b" t="t" l="l"/>
                <a:pathLst>
                  <a:path h="54736" w="54483">
                    <a:moveTo>
                      <a:pt x="27178" y="54736"/>
                    </a:moveTo>
                    <a:cubicBezTo>
                      <a:pt x="21844" y="54736"/>
                      <a:pt x="16510" y="53085"/>
                      <a:pt x="12065" y="50164"/>
                    </a:cubicBezTo>
                    <a:cubicBezTo>
                      <a:pt x="7620" y="47243"/>
                      <a:pt x="4064" y="42925"/>
                      <a:pt x="2032" y="37845"/>
                    </a:cubicBezTo>
                    <a:cubicBezTo>
                      <a:pt x="0" y="32765"/>
                      <a:pt x="-508" y="27304"/>
                      <a:pt x="508" y="21970"/>
                    </a:cubicBezTo>
                    <a:cubicBezTo>
                      <a:pt x="1524" y="16636"/>
                      <a:pt x="4191" y="11811"/>
                      <a:pt x="8001" y="8001"/>
                    </a:cubicBezTo>
                    <a:cubicBezTo>
                      <a:pt x="11811" y="4191"/>
                      <a:pt x="16637" y="1524"/>
                      <a:pt x="21971" y="508"/>
                    </a:cubicBezTo>
                    <a:cubicBezTo>
                      <a:pt x="27305" y="-508"/>
                      <a:pt x="32766" y="0"/>
                      <a:pt x="37719" y="2032"/>
                    </a:cubicBezTo>
                    <a:cubicBezTo>
                      <a:pt x="42672" y="4064"/>
                      <a:pt x="46990" y="7620"/>
                      <a:pt x="49911" y="12065"/>
                    </a:cubicBezTo>
                    <a:cubicBezTo>
                      <a:pt x="52832" y="16509"/>
                      <a:pt x="54483" y="21843"/>
                      <a:pt x="54483" y="27304"/>
                    </a:cubicBezTo>
                    <a:cubicBezTo>
                      <a:pt x="54483" y="34543"/>
                      <a:pt x="51562" y="41528"/>
                      <a:pt x="46482" y="46608"/>
                    </a:cubicBezTo>
                    <a:cubicBezTo>
                      <a:pt x="41402" y="51688"/>
                      <a:pt x="34417" y="54609"/>
                      <a:pt x="27178" y="54609"/>
                    </a:cubicBezTo>
                    <a:close/>
                    <a:moveTo>
                      <a:pt x="27178" y="6477"/>
                    </a:moveTo>
                    <a:cubicBezTo>
                      <a:pt x="23114" y="6477"/>
                      <a:pt x="19177" y="7747"/>
                      <a:pt x="15748" y="10033"/>
                    </a:cubicBezTo>
                    <a:cubicBezTo>
                      <a:pt x="12319" y="12319"/>
                      <a:pt x="9652" y="15493"/>
                      <a:pt x="8128" y="19303"/>
                    </a:cubicBezTo>
                    <a:cubicBezTo>
                      <a:pt x="6604" y="23113"/>
                      <a:pt x="6223" y="27304"/>
                      <a:pt x="6985" y="31241"/>
                    </a:cubicBezTo>
                    <a:cubicBezTo>
                      <a:pt x="7747" y="35178"/>
                      <a:pt x="9779" y="38988"/>
                      <a:pt x="12573" y="41782"/>
                    </a:cubicBezTo>
                    <a:cubicBezTo>
                      <a:pt x="15367" y="44576"/>
                      <a:pt x="19177" y="46608"/>
                      <a:pt x="23114" y="47497"/>
                    </a:cubicBezTo>
                    <a:cubicBezTo>
                      <a:pt x="27051" y="48386"/>
                      <a:pt x="31242" y="47878"/>
                      <a:pt x="35052" y="46354"/>
                    </a:cubicBezTo>
                    <a:cubicBezTo>
                      <a:pt x="38862" y="44830"/>
                      <a:pt x="42037" y="42163"/>
                      <a:pt x="44323" y="38734"/>
                    </a:cubicBezTo>
                    <a:cubicBezTo>
                      <a:pt x="46609" y="35305"/>
                      <a:pt x="47752" y="31368"/>
                      <a:pt x="47752" y="27177"/>
                    </a:cubicBezTo>
                    <a:cubicBezTo>
                      <a:pt x="47752" y="21716"/>
                      <a:pt x="45593" y="16382"/>
                      <a:pt x="41656" y="12573"/>
                    </a:cubicBezTo>
                    <a:cubicBezTo>
                      <a:pt x="37719" y="8763"/>
                      <a:pt x="32512" y="6477"/>
                      <a:pt x="27051" y="6477"/>
                    </a:cubicBezTo>
                    <a:close/>
                  </a:path>
                </a:pathLst>
              </a:custGeom>
              <a:solidFill>
                <a:srgbClr val="505050"/>
              </a:solidFill>
            </p:spPr>
          </p:sp>
        </p:grpSp>
        <p:grpSp>
          <p:nvGrpSpPr>
            <p:cNvPr name="Group 27" id="27"/>
            <p:cNvGrpSpPr/>
            <p:nvPr/>
          </p:nvGrpSpPr>
          <p:grpSpPr>
            <a:xfrm rot="0">
              <a:off x="2658763" y="4351914"/>
              <a:ext cx="304911" cy="294239"/>
              <a:chOff x="0" y="0"/>
              <a:chExt cx="152400" cy="147066"/>
            </a:xfrm>
          </p:grpSpPr>
          <p:sp>
            <p:nvSpPr>
              <p:cNvPr name="Freeform 28" id="28"/>
              <p:cNvSpPr/>
              <p:nvPr/>
            </p:nvSpPr>
            <p:spPr>
              <a:xfrm flipH="false" flipV="false" rot="0">
                <a:off x="0" y="0"/>
                <a:ext cx="152400" cy="147066"/>
              </a:xfrm>
              <a:custGeom>
                <a:avLst/>
                <a:gdLst/>
                <a:ahLst/>
                <a:cxnLst/>
                <a:rect r="r" b="b" t="t" l="l"/>
                <a:pathLst>
                  <a:path h="147066" w="152400">
                    <a:moveTo>
                      <a:pt x="0" y="0"/>
                    </a:moveTo>
                    <a:lnTo>
                      <a:pt x="0" y="147066"/>
                    </a:lnTo>
                    <a:lnTo>
                      <a:pt x="152400" y="147066"/>
                    </a:lnTo>
                    <a:lnTo>
                      <a:pt x="152400" y="0"/>
                    </a:lnTo>
                    <a:lnTo>
                      <a:pt x="130175" y="0"/>
                    </a:lnTo>
                    <a:lnTo>
                      <a:pt x="129540" y="508"/>
                    </a:lnTo>
                    <a:lnTo>
                      <a:pt x="93726" y="27813"/>
                    </a:lnTo>
                    <a:lnTo>
                      <a:pt x="96647" y="31496"/>
                    </a:lnTo>
                    <a:lnTo>
                      <a:pt x="131826" y="4572"/>
                    </a:lnTo>
                    <a:lnTo>
                      <a:pt x="147701" y="4572"/>
                    </a:lnTo>
                    <a:lnTo>
                      <a:pt x="147701" y="78105"/>
                    </a:lnTo>
                    <a:lnTo>
                      <a:pt x="81026" y="78105"/>
                    </a:lnTo>
                    <a:lnTo>
                      <a:pt x="81026" y="110363"/>
                    </a:lnTo>
                    <a:lnTo>
                      <a:pt x="4826" y="110363"/>
                    </a:lnTo>
                    <a:lnTo>
                      <a:pt x="4826" y="68961"/>
                    </a:lnTo>
                    <a:lnTo>
                      <a:pt x="71374" y="68961"/>
                    </a:lnTo>
                    <a:lnTo>
                      <a:pt x="71374" y="4572"/>
                    </a:lnTo>
                    <a:lnTo>
                      <a:pt x="95250" y="4572"/>
                    </a:lnTo>
                    <a:lnTo>
                      <a:pt x="95250" y="0"/>
                    </a:lnTo>
                    <a:lnTo>
                      <a:pt x="0" y="0"/>
                    </a:lnTo>
                    <a:close/>
                    <a:moveTo>
                      <a:pt x="4826" y="4572"/>
                    </a:moveTo>
                    <a:lnTo>
                      <a:pt x="66675" y="4572"/>
                    </a:lnTo>
                    <a:lnTo>
                      <a:pt x="66675" y="64262"/>
                    </a:lnTo>
                    <a:lnTo>
                      <a:pt x="4826" y="64262"/>
                    </a:lnTo>
                    <a:lnTo>
                      <a:pt x="4826" y="4572"/>
                    </a:lnTo>
                    <a:close/>
                    <a:moveTo>
                      <a:pt x="85725" y="82677"/>
                    </a:moveTo>
                    <a:lnTo>
                      <a:pt x="147701" y="82677"/>
                    </a:lnTo>
                    <a:lnTo>
                      <a:pt x="147701" y="142367"/>
                    </a:lnTo>
                    <a:lnTo>
                      <a:pt x="85725" y="142367"/>
                    </a:lnTo>
                    <a:lnTo>
                      <a:pt x="85725" y="82677"/>
                    </a:lnTo>
                    <a:close/>
                    <a:moveTo>
                      <a:pt x="4826" y="114935"/>
                    </a:moveTo>
                    <a:lnTo>
                      <a:pt x="81026" y="114935"/>
                    </a:lnTo>
                    <a:lnTo>
                      <a:pt x="81026" y="142494"/>
                    </a:lnTo>
                    <a:lnTo>
                      <a:pt x="4826" y="142494"/>
                    </a:lnTo>
                    <a:lnTo>
                      <a:pt x="4826" y="114935"/>
                    </a:lnTo>
                    <a:close/>
                  </a:path>
                </a:pathLst>
              </a:custGeom>
              <a:solidFill>
                <a:srgbClr val="505050"/>
              </a:solidFill>
            </p:spPr>
          </p:sp>
        </p:grpSp>
        <p:grpSp>
          <p:nvGrpSpPr>
            <p:cNvPr name="Group 29" id="29"/>
            <p:cNvGrpSpPr/>
            <p:nvPr/>
          </p:nvGrpSpPr>
          <p:grpSpPr>
            <a:xfrm rot="0">
              <a:off x="4127364" y="4221241"/>
              <a:ext cx="558996" cy="548324"/>
              <a:chOff x="0" y="0"/>
              <a:chExt cx="279400" cy="274066"/>
            </a:xfrm>
          </p:grpSpPr>
          <p:sp>
            <p:nvSpPr>
              <p:cNvPr name="Freeform 30" id="30"/>
              <p:cNvSpPr/>
              <p:nvPr/>
            </p:nvSpPr>
            <p:spPr>
              <a:xfrm flipH="false" flipV="false" rot="0">
                <a:off x="63500" y="63500"/>
                <a:ext cx="152400" cy="147066"/>
              </a:xfrm>
              <a:custGeom>
                <a:avLst/>
                <a:gdLst/>
                <a:ahLst/>
                <a:cxnLst/>
                <a:rect r="r" b="b" t="t" l="l"/>
                <a:pathLst>
                  <a:path h="147066" w="152400">
                    <a:moveTo>
                      <a:pt x="152400" y="138049"/>
                    </a:moveTo>
                    <a:lnTo>
                      <a:pt x="152400" y="1778"/>
                    </a:lnTo>
                    <a:cubicBezTo>
                      <a:pt x="152400" y="762"/>
                      <a:pt x="151384" y="0"/>
                      <a:pt x="149987" y="0"/>
                    </a:cubicBezTo>
                    <a:lnTo>
                      <a:pt x="2413" y="0"/>
                    </a:lnTo>
                    <a:cubicBezTo>
                      <a:pt x="1143" y="0"/>
                      <a:pt x="0" y="762"/>
                      <a:pt x="0" y="1778"/>
                    </a:cubicBezTo>
                    <a:lnTo>
                      <a:pt x="0" y="138049"/>
                    </a:lnTo>
                    <a:cubicBezTo>
                      <a:pt x="0" y="143002"/>
                      <a:pt x="5207" y="147066"/>
                      <a:pt x="11684" y="147066"/>
                    </a:cubicBezTo>
                    <a:lnTo>
                      <a:pt x="140716" y="147066"/>
                    </a:lnTo>
                    <a:cubicBezTo>
                      <a:pt x="147193" y="147066"/>
                      <a:pt x="152400" y="143002"/>
                      <a:pt x="152400" y="138049"/>
                    </a:cubicBezTo>
                    <a:close/>
                    <a:moveTo>
                      <a:pt x="4826" y="50292"/>
                    </a:moveTo>
                    <a:lnTo>
                      <a:pt x="147574" y="50292"/>
                    </a:lnTo>
                    <a:lnTo>
                      <a:pt x="147574" y="65405"/>
                    </a:lnTo>
                    <a:lnTo>
                      <a:pt x="4826" y="65405"/>
                    </a:lnTo>
                    <a:lnTo>
                      <a:pt x="4826" y="50292"/>
                    </a:lnTo>
                    <a:close/>
                    <a:moveTo>
                      <a:pt x="147574" y="3683"/>
                    </a:moveTo>
                    <a:lnTo>
                      <a:pt x="147574" y="46609"/>
                    </a:lnTo>
                    <a:lnTo>
                      <a:pt x="4826" y="46609"/>
                    </a:lnTo>
                    <a:lnTo>
                      <a:pt x="4826" y="3683"/>
                    </a:lnTo>
                    <a:lnTo>
                      <a:pt x="147574" y="3683"/>
                    </a:lnTo>
                    <a:close/>
                    <a:moveTo>
                      <a:pt x="4826" y="138049"/>
                    </a:moveTo>
                    <a:lnTo>
                      <a:pt x="4826" y="69088"/>
                    </a:lnTo>
                    <a:lnTo>
                      <a:pt x="147574" y="69088"/>
                    </a:lnTo>
                    <a:lnTo>
                      <a:pt x="147574" y="138049"/>
                    </a:lnTo>
                    <a:cubicBezTo>
                      <a:pt x="147574" y="140970"/>
                      <a:pt x="144526" y="143383"/>
                      <a:pt x="140716" y="143383"/>
                    </a:cubicBezTo>
                    <a:lnTo>
                      <a:pt x="11684" y="143383"/>
                    </a:lnTo>
                    <a:cubicBezTo>
                      <a:pt x="7874" y="143383"/>
                      <a:pt x="4826" y="140970"/>
                      <a:pt x="4826" y="138049"/>
                    </a:cubicBezTo>
                    <a:close/>
                  </a:path>
                </a:pathLst>
              </a:custGeom>
              <a:solidFill>
                <a:srgbClr val="505050"/>
              </a:solidFill>
            </p:spPr>
          </p:sp>
          <p:sp>
            <p:nvSpPr>
              <p:cNvPr name="Freeform 31" id="31"/>
              <p:cNvSpPr/>
              <p:nvPr/>
            </p:nvSpPr>
            <p:spPr>
              <a:xfrm flipH="false" flipV="false" rot="0">
                <a:off x="81407" y="71374"/>
                <a:ext cx="53340" cy="34925"/>
              </a:xfrm>
              <a:custGeom>
                <a:avLst/>
                <a:gdLst/>
                <a:ahLst/>
                <a:cxnLst/>
                <a:rect r="r" b="b" t="t" l="l"/>
                <a:pathLst>
                  <a:path h="34925" w="53340">
                    <a:moveTo>
                      <a:pt x="12065" y="34925"/>
                    </a:moveTo>
                    <a:lnTo>
                      <a:pt x="41275" y="34925"/>
                    </a:lnTo>
                    <a:cubicBezTo>
                      <a:pt x="47879" y="34925"/>
                      <a:pt x="53340" y="29718"/>
                      <a:pt x="53340" y="23241"/>
                    </a:cubicBezTo>
                    <a:lnTo>
                      <a:pt x="53340" y="11684"/>
                    </a:lnTo>
                    <a:cubicBezTo>
                      <a:pt x="53340" y="5207"/>
                      <a:pt x="47879" y="0"/>
                      <a:pt x="41275" y="0"/>
                    </a:cubicBezTo>
                    <a:lnTo>
                      <a:pt x="12065" y="0"/>
                    </a:lnTo>
                    <a:cubicBezTo>
                      <a:pt x="5461" y="0"/>
                      <a:pt x="0" y="5207"/>
                      <a:pt x="0" y="11684"/>
                    </a:cubicBezTo>
                    <a:lnTo>
                      <a:pt x="0" y="23241"/>
                    </a:lnTo>
                    <a:cubicBezTo>
                      <a:pt x="0" y="29718"/>
                      <a:pt x="5461" y="34925"/>
                      <a:pt x="12065" y="34925"/>
                    </a:cubicBezTo>
                    <a:close/>
                    <a:moveTo>
                      <a:pt x="4826" y="11684"/>
                    </a:moveTo>
                    <a:cubicBezTo>
                      <a:pt x="4826" y="7747"/>
                      <a:pt x="8128" y="4699"/>
                      <a:pt x="12065" y="4699"/>
                    </a:cubicBezTo>
                    <a:lnTo>
                      <a:pt x="41275" y="4699"/>
                    </a:lnTo>
                    <a:cubicBezTo>
                      <a:pt x="45339" y="4699"/>
                      <a:pt x="48514" y="7874"/>
                      <a:pt x="48514" y="11684"/>
                    </a:cubicBezTo>
                    <a:lnTo>
                      <a:pt x="48514" y="23241"/>
                    </a:lnTo>
                    <a:cubicBezTo>
                      <a:pt x="48514" y="27178"/>
                      <a:pt x="45212" y="30226"/>
                      <a:pt x="41275" y="30226"/>
                    </a:cubicBezTo>
                    <a:lnTo>
                      <a:pt x="12065" y="30226"/>
                    </a:lnTo>
                    <a:cubicBezTo>
                      <a:pt x="8001" y="30226"/>
                      <a:pt x="4826" y="27051"/>
                      <a:pt x="4826" y="23241"/>
                    </a:cubicBezTo>
                    <a:lnTo>
                      <a:pt x="4826" y="11684"/>
                    </a:lnTo>
                    <a:close/>
                  </a:path>
                </a:pathLst>
              </a:custGeom>
              <a:solidFill>
                <a:srgbClr val="505050"/>
              </a:solidFill>
            </p:spPr>
          </p:sp>
          <p:sp>
            <p:nvSpPr>
              <p:cNvPr name="Freeform 32" id="32"/>
              <p:cNvSpPr/>
              <p:nvPr/>
            </p:nvSpPr>
            <p:spPr>
              <a:xfrm flipH="false" flipV="false" rot="0">
                <a:off x="144653" y="71374"/>
                <a:ext cx="53213" cy="34925"/>
              </a:xfrm>
              <a:custGeom>
                <a:avLst/>
                <a:gdLst/>
                <a:ahLst/>
                <a:cxnLst/>
                <a:rect r="r" b="b" t="t" l="l"/>
                <a:pathLst>
                  <a:path h="34925" w="53213">
                    <a:moveTo>
                      <a:pt x="12065" y="34925"/>
                    </a:moveTo>
                    <a:lnTo>
                      <a:pt x="41148" y="34925"/>
                    </a:lnTo>
                    <a:cubicBezTo>
                      <a:pt x="47752" y="34925"/>
                      <a:pt x="53213" y="29718"/>
                      <a:pt x="53213" y="23241"/>
                    </a:cubicBezTo>
                    <a:lnTo>
                      <a:pt x="53213" y="11684"/>
                    </a:lnTo>
                    <a:cubicBezTo>
                      <a:pt x="53213" y="5207"/>
                      <a:pt x="47752" y="0"/>
                      <a:pt x="41148" y="0"/>
                    </a:cubicBezTo>
                    <a:lnTo>
                      <a:pt x="12065" y="0"/>
                    </a:lnTo>
                    <a:cubicBezTo>
                      <a:pt x="5461" y="0"/>
                      <a:pt x="0" y="5207"/>
                      <a:pt x="0" y="11684"/>
                    </a:cubicBezTo>
                    <a:lnTo>
                      <a:pt x="0" y="23241"/>
                    </a:lnTo>
                    <a:cubicBezTo>
                      <a:pt x="0" y="29718"/>
                      <a:pt x="5461" y="34925"/>
                      <a:pt x="12065" y="34925"/>
                    </a:cubicBezTo>
                    <a:close/>
                    <a:moveTo>
                      <a:pt x="4826" y="11684"/>
                    </a:moveTo>
                    <a:cubicBezTo>
                      <a:pt x="4826" y="7747"/>
                      <a:pt x="8128" y="4699"/>
                      <a:pt x="12065" y="4699"/>
                    </a:cubicBezTo>
                    <a:lnTo>
                      <a:pt x="41148" y="4699"/>
                    </a:lnTo>
                    <a:cubicBezTo>
                      <a:pt x="45212" y="4699"/>
                      <a:pt x="48387" y="7874"/>
                      <a:pt x="48387" y="11684"/>
                    </a:cubicBezTo>
                    <a:lnTo>
                      <a:pt x="48387" y="23241"/>
                    </a:lnTo>
                    <a:cubicBezTo>
                      <a:pt x="48387" y="27178"/>
                      <a:pt x="45085" y="30226"/>
                      <a:pt x="41148" y="30226"/>
                    </a:cubicBezTo>
                    <a:lnTo>
                      <a:pt x="12065" y="30226"/>
                    </a:lnTo>
                    <a:cubicBezTo>
                      <a:pt x="8001" y="30226"/>
                      <a:pt x="4826" y="27051"/>
                      <a:pt x="4826" y="23241"/>
                    </a:cubicBezTo>
                    <a:lnTo>
                      <a:pt x="4826" y="11684"/>
                    </a:lnTo>
                    <a:close/>
                  </a:path>
                </a:pathLst>
              </a:custGeom>
              <a:solidFill>
                <a:srgbClr val="505050"/>
              </a:solidFill>
            </p:spPr>
          </p:sp>
        </p:grpSp>
        <p:grpSp>
          <p:nvGrpSpPr>
            <p:cNvPr name="Group 33" id="33"/>
            <p:cNvGrpSpPr/>
            <p:nvPr/>
          </p:nvGrpSpPr>
          <p:grpSpPr>
            <a:xfrm rot="0">
              <a:off x="7632711" y="5726299"/>
              <a:ext cx="1998974" cy="9528"/>
              <a:chOff x="0" y="0"/>
              <a:chExt cx="999122" cy="4762"/>
            </a:xfrm>
          </p:grpSpPr>
          <p:sp>
            <p:nvSpPr>
              <p:cNvPr name="Freeform 34" id="34"/>
              <p:cNvSpPr/>
              <p:nvPr/>
            </p:nvSpPr>
            <p:spPr>
              <a:xfrm flipH="false" flipV="false" rot="0">
                <a:off x="0" y="0"/>
                <a:ext cx="999109" cy="4826"/>
              </a:xfrm>
              <a:custGeom>
                <a:avLst/>
                <a:gdLst/>
                <a:ahLst/>
                <a:cxnLst/>
                <a:rect r="r" b="b" t="t" l="l"/>
                <a:pathLst>
                  <a:path h="4826" w="999109">
                    <a:moveTo>
                      <a:pt x="0" y="0"/>
                    </a:moveTo>
                    <a:lnTo>
                      <a:pt x="999109" y="0"/>
                    </a:lnTo>
                    <a:lnTo>
                      <a:pt x="999109" y="4826"/>
                    </a:lnTo>
                    <a:lnTo>
                      <a:pt x="0" y="4826"/>
                    </a:lnTo>
                  </a:path>
                </a:pathLst>
              </a:custGeom>
              <a:solidFill>
                <a:srgbClr val="505050"/>
              </a:solidFill>
            </p:spPr>
          </p:sp>
        </p:grpSp>
        <p:sp>
          <p:nvSpPr>
            <p:cNvPr name="TextBox 35" id="35"/>
            <p:cNvSpPr txBox="true"/>
            <p:nvPr/>
          </p:nvSpPr>
          <p:spPr>
            <a:xfrm rot="0">
              <a:off x="36532" y="5430449"/>
              <a:ext cx="1803012" cy="318490"/>
            </a:xfrm>
            <a:prstGeom prst="rect">
              <a:avLst/>
            </a:prstGeom>
          </p:spPr>
          <p:txBody>
            <a:bodyPr anchor="t" rtlCol="false" tIns="0" lIns="0" bIns="0" rIns="0">
              <a:spAutoFit/>
            </a:bodyPr>
            <a:lstStyle/>
            <a:p>
              <a:pPr algn="l">
                <a:lnSpc>
                  <a:spcPts val="1862"/>
                </a:lnSpc>
              </a:pPr>
              <a:r>
                <a:rPr lang="en-US" b="true" sz="1185" i="true">
                  <a:solidFill>
                    <a:srgbClr val="191919"/>
                  </a:solidFill>
                  <a:latin typeface="Avenir Medium Italics"/>
                  <a:ea typeface="Avenir Medium Italics"/>
                  <a:cs typeface="Avenir Medium Italics"/>
                  <a:sym typeface="Avenir Medium Italics"/>
                </a:rPr>
                <a:t>Cancellation policy</a:t>
              </a:r>
            </a:p>
          </p:txBody>
        </p:sp>
        <p:sp>
          <p:nvSpPr>
            <p:cNvPr name="TextBox 36" id="36"/>
            <p:cNvSpPr txBox="true"/>
            <p:nvPr/>
          </p:nvSpPr>
          <p:spPr>
            <a:xfrm rot="0">
              <a:off x="430248" y="5755861"/>
              <a:ext cx="48595" cy="295129"/>
            </a:xfrm>
            <a:prstGeom prst="rect">
              <a:avLst/>
            </a:prstGeom>
          </p:spPr>
          <p:txBody>
            <a:bodyPr anchor="t" rtlCol="false" tIns="0" lIns="0" bIns="0" rIns="0">
              <a:spAutoFit/>
            </a:bodyPr>
            <a:lstStyle/>
            <a:p>
              <a:pPr algn="l">
                <a:lnSpc>
                  <a:spcPts val="1768"/>
                </a:lnSpc>
              </a:pPr>
              <a:r>
                <a:rPr lang="en-US" b="true" sz="1125">
                  <a:solidFill>
                    <a:srgbClr val="505050"/>
                  </a:solidFill>
                  <a:latin typeface="Avenir Ultra-Bold"/>
                  <a:ea typeface="Avenir Ultra-Bold"/>
                  <a:cs typeface="Avenir Ultra-Bold"/>
                  <a:sym typeface="Avenir Ultra-Bold"/>
                </a:rPr>
                <a:t> </a:t>
              </a:r>
            </a:p>
          </p:txBody>
        </p:sp>
        <p:sp>
          <p:nvSpPr>
            <p:cNvPr name="TextBox 37" id="37"/>
            <p:cNvSpPr txBox="true"/>
            <p:nvPr/>
          </p:nvSpPr>
          <p:spPr>
            <a:xfrm rot="0">
              <a:off x="541540" y="4354257"/>
              <a:ext cx="2117222" cy="276211"/>
            </a:xfrm>
            <a:prstGeom prst="rect">
              <a:avLst/>
            </a:prstGeom>
          </p:spPr>
          <p:txBody>
            <a:bodyPr anchor="t" rtlCol="false" tIns="0" lIns="0" bIns="0" rIns="0">
              <a:spAutoFit/>
            </a:bodyPr>
            <a:lstStyle/>
            <a:p>
              <a:pPr algn="l">
                <a:lnSpc>
                  <a:spcPts val="1575"/>
                </a:lnSpc>
              </a:pPr>
              <a:r>
                <a:rPr lang="en-US" b="true" sz="1125">
                  <a:solidFill>
                    <a:srgbClr val="CC0000"/>
                  </a:solidFill>
                  <a:latin typeface="Avenir Ultra-Bold"/>
                  <a:ea typeface="Avenir Ultra-Bold"/>
                  <a:cs typeface="Avenir Ultra-Bold"/>
                  <a:sym typeface="Avenir Ultra-Bold"/>
                </a:rPr>
                <a:t>Room View</a:t>
              </a:r>
            </a:p>
          </p:txBody>
        </p:sp>
        <p:sp>
          <p:nvSpPr>
            <p:cNvPr name="TextBox 38" id="38"/>
            <p:cNvSpPr txBox="true"/>
            <p:nvPr/>
          </p:nvSpPr>
          <p:spPr>
            <a:xfrm rot="0">
              <a:off x="3073231" y="4354257"/>
              <a:ext cx="974126" cy="276211"/>
            </a:xfrm>
            <a:prstGeom prst="rect">
              <a:avLst/>
            </a:prstGeom>
          </p:spPr>
          <p:txBody>
            <a:bodyPr anchor="t" rtlCol="false" tIns="0" lIns="0" bIns="0" rIns="0">
              <a:spAutoFit/>
            </a:bodyPr>
            <a:lstStyle/>
            <a:p>
              <a:pPr algn="l">
                <a:lnSpc>
                  <a:spcPts val="1575"/>
                </a:lnSpc>
              </a:pPr>
              <a:r>
                <a:rPr lang="en-US" b="true" sz="1125">
                  <a:solidFill>
                    <a:srgbClr val="CC0000"/>
                  </a:solidFill>
                  <a:latin typeface="Avenir Ultra-Bold"/>
                  <a:ea typeface="Avenir Ultra-Bold"/>
                  <a:cs typeface="Avenir Ultra-Bold"/>
                  <a:sym typeface="Avenir Ultra-Bold"/>
                </a:rPr>
                <a:t>Size m²</a:t>
              </a:r>
            </a:p>
          </p:txBody>
        </p:sp>
        <p:sp>
          <p:nvSpPr>
            <p:cNvPr name="TextBox 39" id="39"/>
            <p:cNvSpPr txBox="true"/>
            <p:nvPr/>
          </p:nvSpPr>
          <p:spPr>
            <a:xfrm rot="0">
              <a:off x="36532" y="5784436"/>
              <a:ext cx="6468806" cy="257485"/>
            </a:xfrm>
            <a:prstGeom prst="rect">
              <a:avLst/>
            </a:prstGeom>
          </p:spPr>
          <p:txBody>
            <a:bodyPr anchor="t" rtlCol="false" tIns="0" lIns="0" bIns="0" rIns="0">
              <a:spAutoFit/>
            </a:bodyPr>
            <a:lstStyle/>
            <a:p>
              <a:pPr algn="l">
                <a:lnSpc>
                  <a:spcPts val="1479"/>
                </a:lnSpc>
              </a:pPr>
              <a:r>
                <a:rPr lang="en-US" b="true" sz="1125">
                  <a:solidFill>
                    <a:srgbClr val="505050"/>
                  </a:solidFill>
                  <a:latin typeface="Avenir Ultra-Bold"/>
                  <a:ea typeface="Avenir Ultra-Bold"/>
                  <a:cs typeface="Avenir Ultra-Bold"/>
                  <a:sym typeface="Avenir Ultra-Bold"/>
                </a:rPr>
                <a:t>Free cancellation before </a:t>
              </a:r>
              <a:r>
                <a:rPr lang="en-US" b="true" sz="1125">
                  <a:solidFill>
                    <a:srgbClr val="CC0000"/>
                  </a:solidFill>
                  <a:latin typeface="Avenir Ultra-Bold"/>
                  <a:ea typeface="Avenir Ultra-Bold"/>
                  <a:cs typeface="Avenir Ultra-Bold"/>
                  <a:sym typeface="Avenir Ultra-Bold"/>
                </a:rPr>
                <a:t>time</a:t>
              </a:r>
              <a:r>
                <a:rPr lang="en-US" b="true" sz="1125">
                  <a:solidFill>
                    <a:srgbClr val="505050"/>
                  </a:solidFill>
                  <a:latin typeface="Avenir Ultra-Bold"/>
                  <a:ea typeface="Avenir Ultra-Bold"/>
                  <a:cs typeface="Avenir Ultra-Bold"/>
                  <a:sym typeface="Avenir Ultra-Bold"/>
                </a:rPr>
                <a:t> on</a:t>
              </a:r>
              <a:r>
                <a:rPr lang="en-US" b="true" sz="1125">
                  <a:solidFill>
                    <a:srgbClr val="CC0000"/>
                  </a:solidFill>
                  <a:latin typeface="Avenir Ultra-Bold"/>
                  <a:ea typeface="Avenir Ultra-Bold"/>
                  <a:cs typeface="Avenir Ultra-Bold"/>
                  <a:sym typeface="Avenir Ultra-Bold"/>
                </a:rPr>
                <a:t> Date Month Year </a:t>
              </a:r>
              <a:r>
                <a:rPr lang="en-US" b="true" sz="1125">
                  <a:solidFill>
                    <a:srgbClr val="505050"/>
                  </a:solidFill>
                  <a:latin typeface="Avenir Ultra-Bold"/>
                  <a:ea typeface="Avenir Ultra-Bold"/>
                  <a:cs typeface="Avenir Ultra-Bold"/>
                  <a:sym typeface="Avenir Ultra-Bold"/>
                </a:rPr>
                <a:t>after which a</a:t>
              </a:r>
            </a:p>
          </p:txBody>
        </p:sp>
        <p:sp>
          <p:nvSpPr>
            <p:cNvPr name="TextBox 40" id="40"/>
            <p:cNvSpPr txBox="true"/>
            <p:nvPr/>
          </p:nvSpPr>
          <p:spPr>
            <a:xfrm rot="0">
              <a:off x="36532" y="6034939"/>
              <a:ext cx="4010825" cy="257485"/>
            </a:xfrm>
            <a:prstGeom prst="rect">
              <a:avLst/>
            </a:prstGeom>
          </p:spPr>
          <p:txBody>
            <a:bodyPr anchor="t" rtlCol="false" tIns="0" lIns="0" bIns="0" rIns="0">
              <a:spAutoFit/>
            </a:bodyPr>
            <a:lstStyle/>
            <a:p>
              <a:pPr algn="l">
                <a:lnSpc>
                  <a:spcPts val="1479"/>
                </a:lnSpc>
              </a:pPr>
              <a:r>
                <a:rPr lang="en-US" b="true" sz="1125">
                  <a:solidFill>
                    <a:srgbClr val="505050"/>
                  </a:solidFill>
                  <a:latin typeface="Avenir Ultra-Bold"/>
                  <a:ea typeface="Avenir Ultra-Bold"/>
                  <a:cs typeface="Avenir Ultra-Bold"/>
                  <a:sym typeface="Avenir Ultra-Bold"/>
                </a:rPr>
                <a:t>charge of EUR </a:t>
              </a:r>
              <a:r>
                <a:rPr lang="en-US" b="true" sz="1125">
                  <a:solidFill>
                    <a:srgbClr val="CC0000"/>
                  </a:solidFill>
                  <a:latin typeface="Avenir Ultra-Bold"/>
                  <a:ea typeface="Avenir Ultra-Bold"/>
                  <a:cs typeface="Avenir Ultra-Bold"/>
                  <a:sym typeface="Avenir Ultra-Bold"/>
                </a:rPr>
                <a:t>price</a:t>
              </a:r>
              <a:r>
                <a:rPr lang="en-US" b="true" sz="1125">
                  <a:solidFill>
                    <a:srgbClr val="505050"/>
                  </a:solidFill>
                  <a:latin typeface="Avenir Ultra-Bold"/>
                  <a:ea typeface="Avenir Ultra-Bold"/>
                  <a:cs typeface="Avenir Ultra-Bold"/>
                  <a:sym typeface="Avenir Ultra-Bold"/>
                </a:rPr>
                <a:t> will be incurred.</a:t>
              </a:r>
            </a:p>
          </p:txBody>
        </p:sp>
        <p:sp>
          <p:nvSpPr>
            <p:cNvPr name="TextBox 41" id="41"/>
            <p:cNvSpPr txBox="true"/>
            <p:nvPr/>
          </p:nvSpPr>
          <p:spPr>
            <a:xfrm rot="0">
              <a:off x="4668885" y="4354257"/>
              <a:ext cx="1490085" cy="276211"/>
            </a:xfrm>
            <a:prstGeom prst="rect">
              <a:avLst/>
            </a:prstGeom>
          </p:spPr>
          <p:txBody>
            <a:bodyPr anchor="t" rtlCol="false" tIns="0" lIns="0" bIns="0" rIns="0">
              <a:spAutoFit/>
            </a:bodyPr>
            <a:lstStyle/>
            <a:p>
              <a:pPr algn="l">
                <a:lnSpc>
                  <a:spcPts val="1575"/>
                </a:lnSpc>
              </a:pPr>
              <a:r>
                <a:rPr lang="en-US" b="true" sz="1125">
                  <a:solidFill>
                    <a:srgbClr val="CC0000"/>
                  </a:solidFill>
                  <a:latin typeface="Avenir Ultra-Bold"/>
                  <a:ea typeface="Avenir Ultra-Bold"/>
                  <a:cs typeface="Avenir Ultra-Bold"/>
                  <a:sym typeface="Avenir Ultra-Bold"/>
                </a:rPr>
                <a:t>King / Twin</a:t>
              </a:r>
            </a:p>
          </p:txBody>
        </p:sp>
        <p:sp>
          <p:nvSpPr>
            <p:cNvPr name="TextBox 42" id="42"/>
            <p:cNvSpPr txBox="true"/>
            <p:nvPr/>
          </p:nvSpPr>
          <p:spPr>
            <a:xfrm rot="0">
              <a:off x="36532" y="3762007"/>
              <a:ext cx="1767261" cy="350248"/>
            </a:xfrm>
            <a:prstGeom prst="rect">
              <a:avLst/>
            </a:prstGeom>
          </p:spPr>
          <p:txBody>
            <a:bodyPr anchor="t" rtlCol="false" tIns="0" lIns="0" bIns="0" rIns="0">
              <a:spAutoFit/>
            </a:bodyPr>
            <a:lstStyle/>
            <a:p>
              <a:pPr algn="l">
                <a:lnSpc>
                  <a:spcPts val="2058"/>
                </a:lnSpc>
              </a:pPr>
              <a:r>
                <a:rPr lang="en-US" b="true" sz="1470" i="true">
                  <a:solidFill>
                    <a:srgbClr val="CC0000"/>
                  </a:solidFill>
                  <a:latin typeface="Avenir Medium Italics"/>
                  <a:ea typeface="Avenir Medium Italics"/>
                  <a:cs typeface="Avenir Medium Italics"/>
                  <a:sym typeface="Avenir Medium Italics"/>
                </a:rPr>
                <a:t>Room Type</a:t>
              </a:r>
            </a:p>
          </p:txBody>
        </p:sp>
        <p:sp>
          <p:nvSpPr>
            <p:cNvPr name="TextBox 43" id="43"/>
            <p:cNvSpPr txBox="true"/>
            <p:nvPr/>
          </p:nvSpPr>
          <p:spPr>
            <a:xfrm rot="0">
              <a:off x="112760" y="4973584"/>
              <a:ext cx="1625383" cy="254625"/>
            </a:xfrm>
            <a:prstGeom prst="rect">
              <a:avLst/>
            </a:prstGeom>
          </p:spPr>
          <p:txBody>
            <a:bodyPr anchor="t" rtlCol="false" tIns="0" lIns="0" bIns="0" rIns="0">
              <a:spAutoFit/>
            </a:bodyPr>
            <a:lstStyle/>
            <a:p>
              <a:pPr algn="l">
                <a:lnSpc>
                  <a:spcPts val="1491"/>
                </a:lnSpc>
              </a:pPr>
              <a:r>
                <a:rPr lang="en-US" b="true" sz="1065">
                  <a:solidFill>
                    <a:srgbClr val="000000"/>
                  </a:solidFill>
                  <a:latin typeface="Avenir Medium"/>
                  <a:ea typeface="Avenir Medium"/>
                  <a:cs typeface="Avenir Medium"/>
                  <a:sym typeface="Avenir Medium"/>
                </a:rPr>
                <a:t>Best Available Rate</a:t>
              </a:r>
            </a:p>
          </p:txBody>
        </p:sp>
        <p:sp>
          <p:nvSpPr>
            <p:cNvPr name="TextBox 44" id="44"/>
            <p:cNvSpPr txBox="true"/>
            <p:nvPr/>
          </p:nvSpPr>
          <p:spPr>
            <a:xfrm rot="0">
              <a:off x="6991604" y="4939230"/>
              <a:ext cx="2640082" cy="1087213"/>
            </a:xfrm>
            <a:prstGeom prst="rect">
              <a:avLst/>
            </a:prstGeom>
          </p:spPr>
          <p:txBody>
            <a:bodyPr anchor="t" rtlCol="false" tIns="0" lIns="0" bIns="0" rIns="0">
              <a:spAutoFit/>
            </a:bodyPr>
            <a:lstStyle/>
            <a:p>
              <a:pPr algn="r">
                <a:lnSpc>
                  <a:spcPts val="1428"/>
                </a:lnSpc>
              </a:pPr>
              <a:r>
                <a:rPr lang="en-US" b="true" sz="1020" i="true">
                  <a:solidFill>
                    <a:srgbClr val="505050"/>
                  </a:solidFill>
                  <a:latin typeface="Avenir Medium Italics"/>
                  <a:ea typeface="Avenir Medium Italics"/>
                  <a:cs typeface="Avenir Medium Italics"/>
                  <a:sym typeface="Avenir Medium Italics"/>
                </a:rPr>
                <a:t>Total for </a:t>
              </a:r>
              <a:r>
                <a:rPr lang="en-US" b="true" sz="1020" i="true">
                  <a:solidFill>
                    <a:srgbClr val="CC0000"/>
                  </a:solidFill>
                  <a:latin typeface="Avenir Medium Italics"/>
                  <a:ea typeface="Avenir Medium Italics"/>
                  <a:cs typeface="Avenir Medium Italics"/>
                  <a:sym typeface="Avenir Medium Italics"/>
                </a:rPr>
                <a:t>x</a:t>
              </a:r>
              <a:r>
                <a:rPr lang="en-US" b="true" sz="1020" i="true">
                  <a:solidFill>
                    <a:srgbClr val="505050"/>
                  </a:solidFill>
                  <a:latin typeface="Avenir Medium Italics"/>
                  <a:ea typeface="Avenir Medium Italics"/>
                  <a:cs typeface="Avenir Medium Italics"/>
                  <a:sym typeface="Avenir Medium Italics"/>
                </a:rPr>
                <a:t> nights inc tax</a:t>
              </a:r>
            </a:p>
            <a:p>
              <a:pPr algn="r">
                <a:lnSpc>
                  <a:spcPts val="1890"/>
                </a:lnSpc>
              </a:pPr>
              <a:r>
                <a:rPr lang="en-US" b="true" sz="1350" i="true">
                  <a:solidFill>
                    <a:srgbClr val="505050"/>
                  </a:solidFill>
                  <a:latin typeface="Avenir Medium Italics"/>
                  <a:ea typeface="Avenir Medium Italics"/>
                  <a:cs typeface="Avenir Medium Italics"/>
                  <a:sym typeface="Avenir Medium Italics"/>
                </a:rPr>
                <a:t>€ </a:t>
              </a:r>
              <a:r>
                <a:rPr lang="en-US" b="true" sz="1350" i="true">
                  <a:solidFill>
                    <a:srgbClr val="CC0000"/>
                  </a:solidFill>
                  <a:latin typeface="Avenir Medium Italics"/>
                  <a:ea typeface="Avenir Medium Italics"/>
                  <a:cs typeface="Avenir Medium Italics"/>
                  <a:sym typeface="Avenir Medium Italics"/>
                </a:rPr>
                <a:t>price</a:t>
              </a:r>
            </a:p>
            <a:p>
              <a:pPr algn="r">
                <a:lnSpc>
                  <a:spcPts val="1641"/>
                </a:lnSpc>
              </a:pPr>
              <a:r>
                <a:rPr lang="en-US" b="true" sz="1020" i="true">
                  <a:solidFill>
                    <a:srgbClr val="505050"/>
                  </a:solidFill>
                  <a:latin typeface="Avenir Medium Italics"/>
                  <a:ea typeface="Avenir Medium Italics"/>
                  <a:cs typeface="Avenir Medium Italics"/>
                  <a:sym typeface="Avenir Medium Italics"/>
                </a:rPr>
                <a:t>Average per night inc tax</a:t>
              </a:r>
            </a:p>
            <a:p>
              <a:pPr algn="r">
                <a:lnSpc>
                  <a:spcPts val="1641"/>
                </a:lnSpc>
              </a:pPr>
              <a:r>
                <a:rPr lang="en-US" b="true" sz="1020" i="true">
                  <a:solidFill>
                    <a:srgbClr val="505050"/>
                  </a:solidFill>
                  <a:latin typeface="Avenir Medium Italics"/>
                  <a:ea typeface="Avenir Medium Italics"/>
                  <a:cs typeface="Avenir Medium Italics"/>
                  <a:sym typeface="Avenir Medium Italics"/>
                </a:rPr>
                <a:t>€ </a:t>
              </a:r>
              <a:r>
                <a:rPr lang="en-US" b="true" sz="1020" i="true">
                  <a:solidFill>
                    <a:srgbClr val="CC0000"/>
                  </a:solidFill>
                  <a:latin typeface="Avenir Medium Italics"/>
                  <a:ea typeface="Avenir Medium Italics"/>
                  <a:cs typeface="Avenir Medium Italics"/>
                  <a:sym typeface="Avenir Medium Italics"/>
                </a:rPr>
                <a:t>price</a:t>
              </a:r>
            </a:p>
          </p:txBody>
        </p:sp>
        <p:grpSp>
          <p:nvGrpSpPr>
            <p:cNvPr name="Group 45" id="45"/>
            <p:cNvGrpSpPr/>
            <p:nvPr/>
          </p:nvGrpSpPr>
          <p:grpSpPr>
            <a:xfrm rot="0">
              <a:off x="46061" y="0"/>
              <a:ext cx="9585625" cy="3620813"/>
              <a:chOff x="0" y="0"/>
              <a:chExt cx="6388100" cy="2413000"/>
            </a:xfrm>
          </p:grpSpPr>
          <p:sp>
            <p:nvSpPr>
              <p:cNvPr name="Freeform 46" id="46"/>
              <p:cNvSpPr/>
              <p:nvPr/>
            </p:nvSpPr>
            <p:spPr>
              <a:xfrm flipH="false" flipV="false" rot="0">
                <a:off x="0" y="0"/>
                <a:ext cx="6388100" cy="2413000"/>
              </a:xfrm>
              <a:custGeom>
                <a:avLst/>
                <a:gdLst/>
                <a:ahLst/>
                <a:cxnLst/>
                <a:rect r="r" b="b" t="t" l="l"/>
                <a:pathLst>
                  <a:path h="2413000" w="6388100">
                    <a:moveTo>
                      <a:pt x="0" y="0"/>
                    </a:moveTo>
                    <a:lnTo>
                      <a:pt x="6388100" y="0"/>
                    </a:lnTo>
                    <a:lnTo>
                      <a:pt x="6388100" y="2413000"/>
                    </a:lnTo>
                    <a:lnTo>
                      <a:pt x="0" y="2413000"/>
                    </a:lnTo>
                    <a:lnTo>
                      <a:pt x="0" y="0"/>
                    </a:lnTo>
                    <a:close/>
                  </a:path>
                </a:pathLst>
              </a:custGeom>
              <a:blipFill>
                <a:blip r:embed="rId6"/>
                <a:stretch>
                  <a:fillRect l="0" t="-1584" r="0" b="-1584"/>
                </a:stretch>
              </a:blipFill>
            </p:spPr>
          </p:sp>
        </p:grpSp>
      </p:grpSp>
      <p:grpSp>
        <p:nvGrpSpPr>
          <p:cNvPr name="Group 47" id="47"/>
          <p:cNvGrpSpPr/>
          <p:nvPr/>
        </p:nvGrpSpPr>
        <p:grpSpPr>
          <a:xfrm rot="0">
            <a:off x="-84048" y="15237194"/>
            <a:ext cx="10455084" cy="647136"/>
            <a:chOff x="0" y="0"/>
            <a:chExt cx="7899400" cy="488950"/>
          </a:xfrm>
        </p:grpSpPr>
        <p:sp>
          <p:nvSpPr>
            <p:cNvPr name="Freeform 48" id="48"/>
            <p:cNvSpPr/>
            <p:nvPr/>
          </p:nvSpPr>
          <p:spPr>
            <a:xfrm flipH="false" flipV="false" rot="0">
              <a:off x="63500" y="63500"/>
              <a:ext cx="7772400" cy="361950"/>
            </a:xfrm>
            <a:custGeom>
              <a:avLst/>
              <a:gdLst/>
              <a:ahLst/>
              <a:cxnLst/>
              <a:rect r="r" b="b" t="t" l="l"/>
              <a:pathLst>
                <a:path h="361950" w="7772400">
                  <a:moveTo>
                    <a:pt x="0" y="361950"/>
                  </a:moveTo>
                  <a:lnTo>
                    <a:pt x="7772400" y="361950"/>
                  </a:lnTo>
                  <a:lnTo>
                    <a:pt x="7772400" y="0"/>
                  </a:lnTo>
                  <a:lnTo>
                    <a:pt x="0" y="0"/>
                  </a:lnTo>
                  <a:close/>
                </a:path>
              </a:pathLst>
            </a:custGeom>
            <a:solidFill>
              <a:srgbClr val="FFFFFF"/>
            </a:solidFill>
          </p:spPr>
        </p:sp>
        <p:sp>
          <p:nvSpPr>
            <p:cNvPr name="Freeform 49" id="49"/>
            <p:cNvSpPr/>
            <p:nvPr/>
          </p:nvSpPr>
          <p:spPr>
            <a:xfrm flipH="false" flipV="false" rot="0">
              <a:off x="63500" y="63500"/>
              <a:ext cx="7772400" cy="4826"/>
            </a:xfrm>
            <a:custGeom>
              <a:avLst/>
              <a:gdLst/>
              <a:ahLst/>
              <a:cxnLst/>
              <a:rect r="r" b="b" t="t" l="l"/>
              <a:pathLst>
                <a:path h="4826" w="7772400">
                  <a:moveTo>
                    <a:pt x="0" y="0"/>
                  </a:moveTo>
                  <a:lnTo>
                    <a:pt x="7772400" y="0"/>
                  </a:lnTo>
                  <a:lnTo>
                    <a:pt x="7772400" y="4826"/>
                  </a:lnTo>
                  <a:lnTo>
                    <a:pt x="0" y="4826"/>
                  </a:lnTo>
                </a:path>
              </a:pathLst>
            </a:custGeom>
            <a:solidFill>
              <a:srgbClr val="191919"/>
            </a:solidFill>
          </p:spPr>
        </p:sp>
      </p:grpSp>
      <p:sp>
        <p:nvSpPr>
          <p:cNvPr name="TextBox 50" id="50"/>
          <p:cNvSpPr txBox="true"/>
          <p:nvPr/>
        </p:nvSpPr>
        <p:spPr>
          <a:xfrm rot="0">
            <a:off x="276085" y="15458677"/>
            <a:ext cx="3809909" cy="175121"/>
          </a:xfrm>
          <a:prstGeom prst="rect">
            <a:avLst/>
          </a:prstGeom>
        </p:spPr>
        <p:txBody>
          <a:bodyPr anchor="t" rtlCol="false" tIns="0" lIns="0" bIns="0" rIns="0">
            <a:spAutoFit/>
          </a:bodyPr>
          <a:lstStyle/>
          <a:p>
            <a:pPr algn="l">
              <a:lnSpc>
                <a:spcPts val="1260"/>
              </a:lnSpc>
            </a:pPr>
            <a:r>
              <a:rPr lang="en-US" b="true" sz="900">
                <a:solidFill>
                  <a:srgbClr val="505050"/>
                </a:solidFill>
                <a:latin typeface="Avenir Ultra-Bold"/>
                <a:ea typeface="Avenir Ultra-Bold"/>
                <a:cs typeface="Avenir Ultra-Bold"/>
                <a:sym typeface="Avenir Ultra-Bold"/>
              </a:rPr>
              <a:t>All prices listed are subject to availability and change, none are on hold.</a:t>
            </a:r>
          </a:p>
        </p:txBody>
      </p:sp>
      <p:grpSp>
        <p:nvGrpSpPr>
          <p:cNvPr name="Group 51" id="51"/>
          <p:cNvGrpSpPr/>
          <p:nvPr/>
        </p:nvGrpSpPr>
        <p:grpSpPr>
          <a:xfrm rot="0">
            <a:off x="0" y="3628605"/>
            <a:ext cx="10287000" cy="3926961"/>
            <a:chOff x="0" y="0"/>
            <a:chExt cx="10363200" cy="3956050"/>
          </a:xfrm>
        </p:grpSpPr>
        <p:sp>
          <p:nvSpPr>
            <p:cNvPr name="Freeform 52" id="52"/>
            <p:cNvSpPr/>
            <p:nvPr/>
          </p:nvSpPr>
          <p:spPr>
            <a:xfrm flipH="false" flipV="false" rot="0">
              <a:off x="0" y="0"/>
              <a:ext cx="10363200" cy="3956050"/>
            </a:xfrm>
            <a:custGeom>
              <a:avLst/>
              <a:gdLst/>
              <a:ahLst/>
              <a:cxnLst/>
              <a:rect r="r" b="b" t="t" l="l"/>
              <a:pathLst>
                <a:path h="3956050" w="10363200">
                  <a:moveTo>
                    <a:pt x="0" y="0"/>
                  </a:moveTo>
                  <a:lnTo>
                    <a:pt x="10363200" y="0"/>
                  </a:lnTo>
                  <a:lnTo>
                    <a:pt x="10363200" y="3956050"/>
                  </a:lnTo>
                  <a:lnTo>
                    <a:pt x="0" y="3956050"/>
                  </a:lnTo>
                  <a:lnTo>
                    <a:pt x="0" y="0"/>
                  </a:lnTo>
                  <a:close/>
                </a:path>
              </a:pathLst>
            </a:custGeom>
            <a:blipFill>
              <a:blip r:embed="rId6"/>
              <a:stretch>
                <a:fillRect l="0" t="-1042" r="0" b="-1042"/>
              </a:stretch>
            </a:blipFill>
          </p:spPr>
        </p:sp>
      </p:grpSp>
      <p:grpSp>
        <p:nvGrpSpPr>
          <p:cNvPr name="Group 53" id="53"/>
          <p:cNvGrpSpPr/>
          <p:nvPr/>
        </p:nvGrpSpPr>
        <p:grpSpPr>
          <a:xfrm rot="0">
            <a:off x="2571750" y="5616051"/>
            <a:ext cx="5143500" cy="1293023"/>
            <a:chOff x="0" y="0"/>
            <a:chExt cx="3886200" cy="976948"/>
          </a:xfrm>
        </p:grpSpPr>
        <p:sp>
          <p:nvSpPr>
            <p:cNvPr name="Freeform 54" id="54"/>
            <p:cNvSpPr/>
            <p:nvPr/>
          </p:nvSpPr>
          <p:spPr>
            <a:xfrm flipH="false" flipV="false" rot="0">
              <a:off x="0" y="0"/>
              <a:ext cx="3886200" cy="976884"/>
            </a:xfrm>
            <a:custGeom>
              <a:avLst/>
              <a:gdLst/>
              <a:ahLst/>
              <a:cxnLst/>
              <a:rect r="r" b="b" t="t" l="l"/>
              <a:pathLst>
                <a:path h="976884" w="3886200">
                  <a:moveTo>
                    <a:pt x="0" y="976884"/>
                  </a:moveTo>
                  <a:lnTo>
                    <a:pt x="3886200" y="976884"/>
                  </a:lnTo>
                  <a:lnTo>
                    <a:pt x="3886200" y="0"/>
                  </a:lnTo>
                  <a:lnTo>
                    <a:pt x="0" y="0"/>
                  </a:lnTo>
                  <a:close/>
                </a:path>
              </a:pathLst>
            </a:custGeom>
            <a:solidFill>
              <a:srgbClr val="191919">
                <a:alpha val="35686"/>
              </a:srgbClr>
            </a:solidFill>
          </p:spPr>
        </p:sp>
      </p:grpSp>
      <p:sp>
        <p:nvSpPr>
          <p:cNvPr name="TextBox 55" id="55"/>
          <p:cNvSpPr txBox="true"/>
          <p:nvPr/>
        </p:nvSpPr>
        <p:spPr>
          <a:xfrm rot="0">
            <a:off x="3246488" y="5943291"/>
            <a:ext cx="3866967" cy="337432"/>
          </a:xfrm>
          <a:prstGeom prst="rect">
            <a:avLst/>
          </a:prstGeom>
        </p:spPr>
        <p:txBody>
          <a:bodyPr anchor="t" rtlCol="false" tIns="0" lIns="0" bIns="0" rIns="0">
            <a:spAutoFit/>
          </a:bodyPr>
          <a:lstStyle/>
          <a:p>
            <a:pPr algn="ctr">
              <a:lnSpc>
                <a:spcPts val="2487"/>
              </a:lnSpc>
            </a:pPr>
            <a:r>
              <a:rPr lang="en-US" b="true" sz="1786" i="true">
                <a:solidFill>
                  <a:srgbClr val="CC0000"/>
                </a:solidFill>
                <a:latin typeface="Avenir Medium Italics"/>
                <a:ea typeface="Avenir Medium Italics"/>
                <a:cs typeface="Avenir Medium Italics"/>
                <a:sym typeface="Avenir Medium Italics"/>
              </a:rPr>
              <a:t>HOTEL NAME</a:t>
            </a:r>
          </a:p>
        </p:txBody>
      </p:sp>
      <p:sp>
        <p:nvSpPr>
          <p:cNvPr name="TextBox 56" id="56"/>
          <p:cNvSpPr txBox="true"/>
          <p:nvPr/>
        </p:nvSpPr>
        <p:spPr>
          <a:xfrm rot="0">
            <a:off x="5179971" y="6293784"/>
            <a:ext cx="40291" cy="342041"/>
          </a:xfrm>
          <a:prstGeom prst="rect">
            <a:avLst/>
          </a:prstGeom>
        </p:spPr>
        <p:txBody>
          <a:bodyPr anchor="t" rtlCol="false" tIns="0" lIns="0" bIns="0" rIns="0">
            <a:spAutoFit/>
          </a:bodyPr>
          <a:lstStyle/>
          <a:p>
            <a:pPr algn="l">
              <a:lnSpc>
                <a:spcPts val="2871"/>
              </a:lnSpc>
            </a:pPr>
            <a:r>
              <a:rPr lang="en-US" b="true" sz="1244">
                <a:solidFill>
                  <a:srgbClr val="FFFFFF"/>
                </a:solidFill>
                <a:latin typeface="Avenir Medium"/>
                <a:ea typeface="Avenir Medium"/>
                <a:cs typeface="Avenir Medium"/>
                <a:sym typeface="Avenir Medium"/>
              </a:rPr>
              <a:t> </a:t>
            </a:r>
          </a:p>
        </p:txBody>
      </p:sp>
      <p:sp>
        <p:nvSpPr>
          <p:cNvPr name="TextBox 57" id="57"/>
          <p:cNvSpPr txBox="true"/>
          <p:nvPr/>
        </p:nvSpPr>
        <p:spPr>
          <a:xfrm rot="0">
            <a:off x="4546482" y="6304822"/>
            <a:ext cx="1194048" cy="235099"/>
          </a:xfrm>
          <a:prstGeom prst="rect">
            <a:avLst/>
          </a:prstGeom>
        </p:spPr>
        <p:txBody>
          <a:bodyPr anchor="t" rtlCol="false" tIns="0" lIns="0" bIns="0" rIns="0">
            <a:spAutoFit/>
          </a:bodyPr>
          <a:lstStyle/>
          <a:p>
            <a:pPr algn="ctr">
              <a:lnSpc>
                <a:spcPts val="1741"/>
              </a:lnSpc>
            </a:pPr>
            <a:r>
              <a:rPr lang="en-US" b="true" sz="1244">
                <a:solidFill>
                  <a:srgbClr val="CC0000"/>
                </a:solidFill>
                <a:latin typeface="Avenir Medium"/>
                <a:ea typeface="Avenir Medium"/>
                <a:cs typeface="Avenir Medium"/>
                <a:sym typeface="Avenir Medium"/>
              </a:rPr>
              <a:t>CITY, COUNTRY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83096" y="868428"/>
            <a:ext cx="8229600" cy="546609"/>
          </a:xfrm>
          <a:prstGeom prst="rect">
            <a:avLst/>
          </a:prstGeom>
        </p:spPr>
        <p:txBody>
          <a:bodyPr anchor="t" rtlCol="false" tIns="0" lIns="0" bIns="0" rIns="0">
            <a:spAutoFit/>
          </a:bodyPr>
          <a:lstStyle/>
          <a:p>
            <a:pPr algn="ctr" marL="0" indent="0" lvl="1">
              <a:lnSpc>
                <a:spcPts val="4521"/>
              </a:lnSpc>
              <a:spcBef>
                <a:spcPct val="0"/>
              </a:spcBef>
            </a:pPr>
            <a:r>
              <a:rPr lang="en-US" b="true" sz="3229" spc="1178">
                <a:solidFill>
                  <a:srgbClr val="131F5B"/>
                </a:solidFill>
                <a:latin typeface="Montserrat Bold"/>
                <a:ea typeface="Montserrat Bold"/>
                <a:cs typeface="Montserrat Bold"/>
                <a:sym typeface="Montserrat Bold"/>
              </a:rPr>
              <a:t>YOUR ACCOMMODATION</a:t>
            </a:r>
          </a:p>
        </p:txBody>
      </p:sp>
      <p:sp>
        <p:nvSpPr>
          <p:cNvPr name="AutoShape 3" id="3"/>
          <p:cNvSpPr/>
          <p:nvPr/>
        </p:nvSpPr>
        <p:spPr>
          <a:xfrm flipH="true">
            <a:off x="568244" y="1536535"/>
            <a:ext cx="9258300" cy="0"/>
          </a:xfrm>
          <a:prstGeom prst="line">
            <a:avLst/>
          </a:prstGeom>
          <a:ln cap="flat" w="38100">
            <a:solidFill>
              <a:srgbClr val="131F5B"/>
            </a:solidFill>
            <a:prstDash val="solid"/>
            <a:headEnd type="none" len="sm" w="sm"/>
            <a:tailEnd type="none" len="sm" w="sm"/>
          </a:ln>
        </p:spPr>
      </p:sp>
      <p:sp>
        <p:nvSpPr>
          <p:cNvPr name="TextBox 4" id="4"/>
          <p:cNvSpPr txBox="true"/>
          <p:nvPr/>
        </p:nvSpPr>
        <p:spPr>
          <a:xfrm rot="0">
            <a:off x="3265032" y="1707985"/>
            <a:ext cx="3638699" cy="389256"/>
          </a:xfrm>
          <a:prstGeom prst="rect">
            <a:avLst/>
          </a:prstGeom>
        </p:spPr>
        <p:txBody>
          <a:bodyPr anchor="t" rtlCol="false" tIns="0" lIns="0" bIns="0" rIns="0">
            <a:spAutoFit/>
          </a:bodyPr>
          <a:lstStyle/>
          <a:p>
            <a:pPr algn="ctr">
              <a:lnSpc>
                <a:spcPts val="3219"/>
              </a:lnSpc>
              <a:spcBef>
                <a:spcPct val="0"/>
              </a:spcBef>
            </a:pPr>
            <a:r>
              <a:rPr lang="en-US" b="true" sz="2299" spc="839">
                <a:solidFill>
                  <a:srgbClr val="CC0000"/>
                </a:solidFill>
                <a:latin typeface="Montserrat Bold"/>
                <a:ea typeface="Montserrat Bold"/>
                <a:cs typeface="Montserrat Bold"/>
                <a:sym typeface="Montserrat Bold"/>
              </a:rPr>
              <a:t>HOTEL NAME A</a:t>
            </a:r>
          </a:p>
        </p:txBody>
      </p:sp>
      <p:sp>
        <p:nvSpPr>
          <p:cNvPr name="TextBox 5" id="5"/>
          <p:cNvSpPr txBox="true"/>
          <p:nvPr/>
        </p:nvSpPr>
        <p:spPr>
          <a:xfrm rot="0">
            <a:off x="385769" y="2777294"/>
            <a:ext cx="933944" cy="213332"/>
          </a:xfrm>
          <a:prstGeom prst="rect">
            <a:avLst/>
          </a:prstGeom>
        </p:spPr>
        <p:txBody>
          <a:bodyPr anchor="t" rtlCol="false" tIns="0" lIns="0" bIns="0" rIns="0">
            <a:spAutoFit/>
          </a:bodyPr>
          <a:lstStyle/>
          <a:p>
            <a:pPr algn="l">
              <a:lnSpc>
                <a:spcPts val="1836"/>
              </a:lnSpc>
            </a:pPr>
            <a:r>
              <a:rPr lang="en-US" b="true" sz="992" i="true">
                <a:solidFill>
                  <a:srgbClr val="000000"/>
                </a:solidFill>
                <a:latin typeface="Montserrat Medium Italics"/>
                <a:ea typeface="Montserrat Medium Italics"/>
                <a:cs typeface="Montserrat Medium Italics"/>
                <a:sym typeface="Montserrat Medium Italics"/>
              </a:rPr>
              <a:t>Check in</a:t>
            </a:r>
          </a:p>
        </p:txBody>
      </p:sp>
      <p:sp>
        <p:nvSpPr>
          <p:cNvPr name="TextBox 6" id="6"/>
          <p:cNvSpPr txBox="true"/>
          <p:nvPr/>
        </p:nvSpPr>
        <p:spPr>
          <a:xfrm rot="0">
            <a:off x="532006" y="3013177"/>
            <a:ext cx="32147" cy="213332"/>
          </a:xfrm>
          <a:prstGeom prst="rect">
            <a:avLst/>
          </a:prstGeom>
        </p:spPr>
        <p:txBody>
          <a:bodyPr anchor="t" rtlCol="false" tIns="0" lIns="0" bIns="0" rIns="0">
            <a:spAutoFit/>
          </a:bodyPr>
          <a:lstStyle/>
          <a:p>
            <a:pPr algn="l">
              <a:lnSpc>
                <a:spcPts val="1836"/>
              </a:lnSpc>
            </a:pPr>
            <a:r>
              <a:rPr lang="en-US" b="true" sz="992">
                <a:solidFill>
                  <a:srgbClr val="505050"/>
                </a:solidFill>
                <a:latin typeface="Montserrat Ultra-Bold"/>
                <a:ea typeface="Montserrat Ultra-Bold"/>
                <a:cs typeface="Montserrat Ultra-Bold"/>
                <a:sym typeface="Montserrat Ultra-Bold"/>
              </a:rPr>
              <a:t> </a:t>
            </a:r>
          </a:p>
        </p:txBody>
      </p:sp>
      <p:sp>
        <p:nvSpPr>
          <p:cNvPr name="TextBox 7" id="7"/>
          <p:cNvSpPr txBox="true"/>
          <p:nvPr/>
        </p:nvSpPr>
        <p:spPr>
          <a:xfrm rot="0">
            <a:off x="2234113" y="2777294"/>
            <a:ext cx="930331" cy="213332"/>
          </a:xfrm>
          <a:prstGeom prst="rect">
            <a:avLst/>
          </a:prstGeom>
        </p:spPr>
        <p:txBody>
          <a:bodyPr anchor="t" rtlCol="false" tIns="0" lIns="0" bIns="0" rIns="0">
            <a:spAutoFit/>
          </a:bodyPr>
          <a:lstStyle/>
          <a:p>
            <a:pPr algn="l">
              <a:lnSpc>
                <a:spcPts val="1836"/>
              </a:lnSpc>
            </a:pPr>
            <a:r>
              <a:rPr lang="en-US" b="true" sz="992" i="true">
                <a:solidFill>
                  <a:srgbClr val="000000"/>
                </a:solidFill>
                <a:latin typeface="Montserrat Medium Italics"/>
                <a:ea typeface="Montserrat Medium Italics"/>
                <a:cs typeface="Montserrat Medium Italics"/>
                <a:sym typeface="Montserrat Medium Italics"/>
              </a:rPr>
              <a:t>Check out</a:t>
            </a:r>
          </a:p>
        </p:txBody>
      </p:sp>
      <p:sp>
        <p:nvSpPr>
          <p:cNvPr name="TextBox 8" id="8"/>
          <p:cNvSpPr txBox="true"/>
          <p:nvPr/>
        </p:nvSpPr>
        <p:spPr>
          <a:xfrm rot="0">
            <a:off x="2380350" y="3013177"/>
            <a:ext cx="32147" cy="213332"/>
          </a:xfrm>
          <a:prstGeom prst="rect">
            <a:avLst/>
          </a:prstGeom>
        </p:spPr>
        <p:txBody>
          <a:bodyPr anchor="t" rtlCol="false" tIns="0" lIns="0" bIns="0" rIns="0">
            <a:spAutoFit/>
          </a:bodyPr>
          <a:lstStyle/>
          <a:p>
            <a:pPr algn="l">
              <a:lnSpc>
                <a:spcPts val="1836"/>
              </a:lnSpc>
            </a:pPr>
            <a:r>
              <a:rPr lang="en-US" b="true" sz="992">
                <a:solidFill>
                  <a:srgbClr val="505050"/>
                </a:solidFill>
                <a:latin typeface="Montserrat Ultra-Bold"/>
                <a:ea typeface="Montserrat Ultra-Bold"/>
                <a:cs typeface="Montserrat Ultra-Bold"/>
                <a:sym typeface="Montserrat Ultra-Bold"/>
              </a:rPr>
              <a:t> </a:t>
            </a:r>
          </a:p>
        </p:txBody>
      </p:sp>
      <p:sp>
        <p:nvSpPr>
          <p:cNvPr name="TextBox 9" id="9"/>
          <p:cNvSpPr txBox="true"/>
          <p:nvPr/>
        </p:nvSpPr>
        <p:spPr>
          <a:xfrm rot="0">
            <a:off x="4082483" y="2777294"/>
            <a:ext cx="685711" cy="213332"/>
          </a:xfrm>
          <a:prstGeom prst="rect">
            <a:avLst/>
          </a:prstGeom>
        </p:spPr>
        <p:txBody>
          <a:bodyPr anchor="t" rtlCol="false" tIns="0" lIns="0" bIns="0" rIns="0">
            <a:spAutoFit/>
          </a:bodyPr>
          <a:lstStyle/>
          <a:p>
            <a:pPr algn="l">
              <a:lnSpc>
                <a:spcPts val="1836"/>
              </a:lnSpc>
            </a:pPr>
            <a:r>
              <a:rPr lang="en-US" sz="992">
                <a:solidFill>
                  <a:srgbClr val="000000"/>
                </a:solidFill>
                <a:latin typeface="Montserrat"/>
                <a:ea typeface="Montserrat"/>
                <a:cs typeface="Montserrat"/>
                <a:sym typeface="Montserrat"/>
              </a:rPr>
              <a:t>Nights </a:t>
            </a:r>
          </a:p>
        </p:txBody>
      </p:sp>
      <p:sp>
        <p:nvSpPr>
          <p:cNvPr name="TextBox 10" id="10"/>
          <p:cNvSpPr txBox="true"/>
          <p:nvPr/>
        </p:nvSpPr>
        <p:spPr>
          <a:xfrm rot="0">
            <a:off x="385769" y="3060802"/>
            <a:ext cx="1178504" cy="165287"/>
          </a:xfrm>
          <a:prstGeom prst="rect">
            <a:avLst/>
          </a:prstGeom>
        </p:spPr>
        <p:txBody>
          <a:bodyPr anchor="t" rtlCol="false" tIns="0" lIns="0" bIns="0" rIns="0">
            <a:spAutoFit/>
          </a:bodyPr>
          <a:lstStyle/>
          <a:p>
            <a:pPr algn="l">
              <a:lnSpc>
                <a:spcPts val="1389"/>
              </a:lnSpc>
            </a:pPr>
            <a:r>
              <a:rPr lang="en-US" sz="992">
                <a:solidFill>
                  <a:srgbClr val="CC0000"/>
                </a:solidFill>
                <a:latin typeface="Montserrat"/>
                <a:ea typeface="Montserrat"/>
                <a:cs typeface="Montserrat"/>
                <a:sym typeface="Montserrat"/>
              </a:rPr>
              <a:t>Date</a:t>
            </a:r>
            <a:r>
              <a:rPr lang="en-US" sz="992">
                <a:solidFill>
                  <a:srgbClr val="CC0000"/>
                </a:solidFill>
                <a:latin typeface="Montserrat"/>
                <a:ea typeface="Montserrat"/>
                <a:cs typeface="Montserrat"/>
                <a:sym typeface="Montserrat"/>
              </a:rPr>
              <a:t> Month Year</a:t>
            </a:r>
          </a:p>
        </p:txBody>
      </p:sp>
      <p:sp>
        <p:nvSpPr>
          <p:cNvPr name="TextBox 11" id="11"/>
          <p:cNvSpPr txBox="true"/>
          <p:nvPr/>
        </p:nvSpPr>
        <p:spPr>
          <a:xfrm rot="0">
            <a:off x="2234113" y="3060802"/>
            <a:ext cx="1158851" cy="165287"/>
          </a:xfrm>
          <a:prstGeom prst="rect">
            <a:avLst/>
          </a:prstGeom>
        </p:spPr>
        <p:txBody>
          <a:bodyPr anchor="t" rtlCol="false" tIns="0" lIns="0" bIns="0" rIns="0">
            <a:spAutoFit/>
          </a:bodyPr>
          <a:lstStyle/>
          <a:p>
            <a:pPr algn="l">
              <a:lnSpc>
                <a:spcPts val="1389"/>
              </a:lnSpc>
            </a:pPr>
            <a:r>
              <a:rPr lang="en-US" sz="992">
                <a:solidFill>
                  <a:srgbClr val="CC0000"/>
                </a:solidFill>
                <a:latin typeface="Montserrat"/>
                <a:ea typeface="Montserrat"/>
                <a:cs typeface="Montserrat"/>
                <a:sym typeface="Montserrat"/>
              </a:rPr>
              <a:t>Date Month Year </a:t>
            </a:r>
          </a:p>
        </p:txBody>
      </p:sp>
      <p:sp>
        <p:nvSpPr>
          <p:cNvPr name="TextBox 12" id="12"/>
          <p:cNvSpPr txBox="true"/>
          <p:nvPr/>
        </p:nvSpPr>
        <p:spPr>
          <a:xfrm rot="0">
            <a:off x="4082483" y="3076351"/>
            <a:ext cx="1158851" cy="165287"/>
          </a:xfrm>
          <a:prstGeom prst="rect">
            <a:avLst/>
          </a:prstGeom>
        </p:spPr>
        <p:txBody>
          <a:bodyPr anchor="t" rtlCol="false" tIns="0" lIns="0" bIns="0" rIns="0">
            <a:spAutoFit/>
          </a:bodyPr>
          <a:lstStyle/>
          <a:p>
            <a:pPr algn="l">
              <a:lnSpc>
                <a:spcPts val="1389"/>
              </a:lnSpc>
            </a:pPr>
            <a:r>
              <a:rPr lang="en-US" sz="992">
                <a:solidFill>
                  <a:srgbClr val="CC0000"/>
                </a:solidFill>
                <a:latin typeface="Montserrat"/>
                <a:ea typeface="Montserrat"/>
                <a:cs typeface="Montserrat"/>
                <a:sym typeface="Montserrat"/>
              </a:rPr>
              <a:t>Number </a:t>
            </a:r>
          </a:p>
        </p:txBody>
      </p:sp>
      <p:sp>
        <p:nvSpPr>
          <p:cNvPr name="Freeform 13" id="13"/>
          <p:cNvSpPr/>
          <p:nvPr/>
        </p:nvSpPr>
        <p:spPr>
          <a:xfrm flipH="false" flipV="false" rot="0">
            <a:off x="1644460" y="7799403"/>
            <a:ext cx="1260892" cy="254489"/>
          </a:xfrm>
          <a:custGeom>
            <a:avLst/>
            <a:gdLst/>
            <a:ahLst/>
            <a:cxnLst/>
            <a:rect r="r" b="b" t="t" l="l"/>
            <a:pathLst>
              <a:path h="254489" w="1260892">
                <a:moveTo>
                  <a:pt x="0" y="0"/>
                </a:moveTo>
                <a:lnTo>
                  <a:pt x="1260891" y="0"/>
                </a:lnTo>
                <a:lnTo>
                  <a:pt x="1260891" y="254488"/>
                </a:lnTo>
                <a:lnTo>
                  <a:pt x="0" y="2544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84048" y="9037028"/>
            <a:ext cx="10371048" cy="34296"/>
            <a:chOff x="0" y="0"/>
            <a:chExt cx="7200900" cy="23812"/>
          </a:xfrm>
        </p:grpSpPr>
        <p:sp>
          <p:nvSpPr>
            <p:cNvPr name="Freeform 15" id="15"/>
            <p:cNvSpPr/>
            <p:nvPr/>
          </p:nvSpPr>
          <p:spPr>
            <a:xfrm flipH="false" flipV="false" rot="0">
              <a:off x="0" y="0"/>
              <a:ext cx="7200900" cy="23876"/>
            </a:xfrm>
            <a:custGeom>
              <a:avLst/>
              <a:gdLst/>
              <a:ahLst/>
              <a:cxnLst/>
              <a:rect r="r" b="b" t="t" l="l"/>
              <a:pathLst>
                <a:path h="23876" w="7200900">
                  <a:moveTo>
                    <a:pt x="0" y="0"/>
                  </a:moveTo>
                  <a:lnTo>
                    <a:pt x="7200900" y="0"/>
                  </a:lnTo>
                  <a:lnTo>
                    <a:pt x="7200900" y="23876"/>
                  </a:lnTo>
                  <a:lnTo>
                    <a:pt x="0" y="23876"/>
                  </a:lnTo>
                </a:path>
              </a:pathLst>
            </a:custGeom>
            <a:solidFill>
              <a:srgbClr val="FFFFFF"/>
            </a:solidFill>
          </p:spPr>
        </p:sp>
      </p:grpSp>
      <p:grpSp>
        <p:nvGrpSpPr>
          <p:cNvPr name="Group 16" id="16"/>
          <p:cNvGrpSpPr/>
          <p:nvPr/>
        </p:nvGrpSpPr>
        <p:grpSpPr>
          <a:xfrm rot="0">
            <a:off x="7112650" y="8369262"/>
            <a:ext cx="1438983" cy="6859"/>
            <a:chOff x="0" y="0"/>
            <a:chExt cx="999122" cy="4762"/>
          </a:xfrm>
        </p:grpSpPr>
        <p:sp>
          <p:nvSpPr>
            <p:cNvPr name="Freeform 17" id="17"/>
            <p:cNvSpPr/>
            <p:nvPr/>
          </p:nvSpPr>
          <p:spPr>
            <a:xfrm flipH="false" flipV="false" rot="0">
              <a:off x="0" y="0"/>
              <a:ext cx="999109" cy="4826"/>
            </a:xfrm>
            <a:custGeom>
              <a:avLst/>
              <a:gdLst/>
              <a:ahLst/>
              <a:cxnLst/>
              <a:rect r="r" b="b" t="t" l="l"/>
              <a:pathLst>
                <a:path h="4826" w="999109">
                  <a:moveTo>
                    <a:pt x="0" y="0"/>
                  </a:moveTo>
                  <a:lnTo>
                    <a:pt x="999109" y="0"/>
                  </a:lnTo>
                  <a:lnTo>
                    <a:pt x="999109" y="4826"/>
                  </a:lnTo>
                  <a:lnTo>
                    <a:pt x="0" y="4826"/>
                  </a:lnTo>
                </a:path>
              </a:pathLst>
            </a:custGeom>
            <a:solidFill>
              <a:srgbClr val="505050"/>
            </a:solidFill>
          </p:spPr>
        </p:sp>
      </p:grpSp>
      <p:grpSp>
        <p:nvGrpSpPr>
          <p:cNvPr name="Group 18" id="18"/>
          <p:cNvGrpSpPr/>
          <p:nvPr/>
        </p:nvGrpSpPr>
        <p:grpSpPr>
          <a:xfrm rot="0">
            <a:off x="1651319" y="4241763"/>
            <a:ext cx="6900314" cy="2606480"/>
            <a:chOff x="0" y="0"/>
            <a:chExt cx="6388100" cy="2413000"/>
          </a:xfrm>
        </p:grpSpPr>
        <p:sp>
          <p:nvSpPr>
            <p:cNvPr name="Freeform 19" id="19"/>
            <p:cNvSpPr/>
            <p:nvPr/>
          </p:nvSpPr>
          <p:spPr>
            <a:xfrm flipH="false" flipV="false" rot="0">
              <a:off x="0" y="0"/>
              <a:ext cx="6388100" cy="2413000"/>
            </a:xfrm>
            <a:custGeom>
              <a:avLst/>
              <a:gdLst/>
              <a:ahLst/>
              <a:cxnLst/>
              <a:rect r="r" b="b" t="t" l="l"/>
              <a:pathLst>
                <a:path h="2413000" w="6388100">
                  <a:moveTo>
                    <a:pt x="0" y="0"/>
                  </a:moveTo>
                  <a:lnTo>
                    <a:pt x="6388100" y="0"/>
                  </a:lnTo>
                  <a:lnTo>
                    <a:pt x="6388100" y="2413000"/>
                  </a:lnTo>
                  <a:lnTo>
                    <a:pt x="0" y="2413000"/>
                  </a:lnTo>
                  <a:lnTo>
                    <a:pt x="0" y="0"/>
                  </a:lnTo>
                  <a:close/>
                </a:path>
              </a:pathLst>
            </a:custGeom>
            <a:blipFill>
              <a:blip r:embed="rId4"/>
              <a:stretch>
                <a:fillRect l="0" t="-1584" r="0" b="-1584"/>
              </a:stretch>
            </a:blipFill>
          </p:spPr>
        </p:sp>
      </p:grpSp>
      <p:grpSp>
        <p:nvGrpSpPr>
          <p:cNvPr name="Group 20" id="20"/>
          <p:cNvGrpSpPr/>
          <p:nvPr/>
        </p:nvGrpSpPr>
        <p:grpSpPr>
          <a:xfrm rot="0">
            <a:off x="1651319" y="9263380"/>
            <a:ext cx="6900314" cy="2606480"/>
            <a:chOff x="0" y="0"/>
            <a:chExt cx="6388100" cy="2413000"/>
          </a:xfrm>
        </p:grpSpPr>
        <p:sp>
          <p:nvSpPr>
            <p:cNvPr name="Freeform 21" id="21"/>
            <p:cNvSpPr/>
            <p:nvPr/>
          </p:nvSpPr>
          <p:spPr>
            <a:xfrm flipH="false" flipV="false" rot="0">
              <a:off x="0" y="0"/>
              <a:ext cx="6388100" cy="2413000"/>
            </a:xfrm>
            <a:custGeom>
              <a:avLst/>
              <a:gdLst/>
              <a:ahLst/>
              <a:cxnLst/>
              <a:rect r="r" b="b" t="t" l="l"/>
              <a:pathLst>
                <a:path h="2413000" w="6388100">
                  <a:moveTo>
                    <a:pt x="0" y="0"/>
                  </a:moveTo>
                  <a:lnTo>
                    <a:pt x="6388100" y="0"/>
                  </a:lnTo>
                  <a:lnTo>
                    <a:pt x="6388100" y="2413000"/>
                  </a:lnTo>
                  <a:lnTo>
                    <a:pt x="0" y="2413000"/>
                  </a:lnTo>
                  <a:lnTo>
                    <a:pt x="0" y="0"/>
                  </a:lnTo>
                  <a:close/>
                </a:path>
              </a:pathLst>
            </a:custGeom>
            <a:blipFill>
              <a:blip r:embed="rId4"/>
              <a:stretch>
                <a:fillRect l="0" t="-1584" r="0" b="-1584"/>
              </a:stretch>
            </a:blipFill>
          </p:spPr>
        </p:sp>
      </p:grpSp>
      <p:sp>
        <p:nvSpPr>
          <p:cNvPr name="Freeform 22" id="22"/>
          <p:cNvSpPr/>
          <p:nvPr/>
        </p:nvSpPr>
        <p:spPr>
          <a:xfrm flipH="false" flipV="false" rot="0">
            <a:off x="1644460" y="12821020"/>
            <a:ext cx="1260892" cy="254489"/>
          </a:xfrm>
          <a:custGeom>
            <a:avLst/>
            <a:gdLst/>
            <a:ahLst/>
            <a:cxnLst/>
            <a:rect r="r" b="b" t="t" l="l"/>
            <a:pathLst>
              <a:path h="254489" w="1260892">
                <a:moveTo>
                  <a:pt x="0" y="0"/>
                </a:moveTo>
                <a:lnTo>
                  <a:pt x="1260891" y="0"/>
                </a:lnTo>
                <a:lnTo>
                  <a:pt x="1260891" y="254489"/>
                </a:lnTo>
                <a:lnTo>
                  <a:pt x="0" y="254489"/>
                </a:lnTo>
                <a:lnTo>
                  <a:pt x="0" y="0"/>
                </a:lnTo>
                <a:close/>
              </a:path>
            </a:pathLst>
          </a:custGeom>
          <a:blipFill>
            <a:blip r:embed="rId2">
              <a:extLst>
                <a:ext uri="{96DAC541-7B7A-43D3-8B79-37D633B846F1}">
                  <asvg:svgBlip xmlns:asvg="http://schemas.microsoft.com/office/drawing/2016/SVG/main" r:embed="rId5"/>
                </a:ext>
              </a:extLst>
            </a:blip>
            <a:stretch>
              <a:fillRect l="0" t="0" r="0" b="0"/>
            </a:stretch>
          </a:blipFill>
        </p:spPr>
      </p:sp>
      <p:grpSp>
        <p:nvGrpSpPr>
          <p:cNvPr name="Group 23" id="23"/>
          <p:cNvGrpSpPr/>
          <p:nvPr/>
        </p:nvGrpSpPr>
        <p:grpSpPr>
          <a:xfrm rot="0">
            <a:off x="7112650" y="13390879"/>
            <a:ext cx="1438983" cy="6859"/>
            <a:chOff x="0" y="0"/>
            <a:chExt cx="999122" cy="4762"/>
          </a:xfrm>
        </p:grpSpPr>
        <p:sp>
          <p:nvSpPr>
            <p:cNvPr name="Freeform 24" id="24"/>
            <p:cNvSpPr/>
            <p:nvPr/>
          </p:nvSpPr>
          <p:spPr>
            <a:xfrm flipH="false" flipV="false" rot="0">
              <a:off x="0" y="0"/>
              <a:ext cx="999109" cy="4826"/>
            </a:xfrm>
            <a:custGeom>
              <a:avLst/>
              <a:gdLst/>
              <a:ahLst/>
              <a:cxnLst/>
              <a:rect r="r" b="b" t="t" l="l"/>
              <a:pathLst>
                <a:path h="4826" w="999109">
                  <a:moveTo>
                    <a:pt x="0" y="0"/>
                  </a:moveTo>
                  <a:lnTo>
                    <a:pt x="999109" y="0"/>
                  </a:lnTo>
                  <a:lnTo>
                    <a:pt x="999109" y="4826"/>
                  </a:lnTo>
                  <a:lnTo>
                    <a:pt x="0" y="4826"/>
                  </a:lnTo>
                </a:path>
              </a:pathLst>
            </a:custGeom>
            <a:solidFill>
              <a:srgbClr val="505050"/>
            </a:solidFill>
          </p:spPr>
        </p:sp>
      </p:grpSp>
      <p:sp>
        <p:nvSpPr>
          <p:cNvPr name="TextBox 25" id="25"/>
          <p:cNvSpPr txBox="true"/>
          <p:nvPr/>
        </p:nvSpPr>
        <p:spPr>
          <a:xfrm rot="0">
            <a:off x="1644460" y="6933846"/>
            <a:ext cx="926753" cy="268949"/>
          </a:xfrm>
          <a:prstGeom prst="rect">
            <a:avLst/>
          </a:prstGeom>
        </p:spPr>
        <p:txBody>
          <a:bodyPr anchor="t" rtlCol="false" tIns="0" lIns="0" bIns="0" rIns="0">
            <a:spAutoFit/>
          </a:bodyPr>
          <a:lstStyle/>
          <a:p>
            <a:pPr algn="l">
              <a:lnSpc>
                <a:spcPts val="1976"/>
              </a:lnSpc>
            </a:pPr>
            <a:r>
              <a:rPr lang="en-US" b="true" sz="1411" i="true">
                <a:solidFill>
                  <a:srgbClr val="CC0000"/>
                </a:solidFill>
                <a:latin typeface="Avenir Medium Italics"/>
                <a:ea typeface="Avenir Medium Italics"/>
                <a:cs typeface="Avenir Medium Italics"/>
                <a:sym typeface="Avenir Medium Italics"/>
              </a:rPr>
              <a:t>Room Type</a:t>
            </a:r>
          </a:p>
        </p:txBody>
      </p:sp>
      <p:sp>
        <p:nvSpPr>
          <p:cNvPr name="TextBox 26" id="26"/>
          <p:cNvSpPr txBox="true"/>
          <p:nvPr/>
        </p:nvSpPr>
        <p:spPr>
          <a:xfrm rot="0">
            <a:off x="1644460" y="11955464"/>
            <a:ext cx="926753" cy="268949"/>
          </a:xfrm>
          <a:prstGeom prst="rect">
            <a:avLst/>
          </a:prstGeom>
        </p:spPr>
        <p:txBody>
          <a:bodyPr anchor="t" rtlCol="false" tIns="0" lIns="0" bIns="0" rIns="0">
            <a:spAutoFit/>
          </a:bodyPr>
          <a:lstStyle/>
          <a:p>
            <a:pPr algn="l">
              <a:lnSpc>
                <a:spcPts val="1976"/>
              </a:lnSpc>
            </a:pPr>
            <a:r>
              <a:rPr lang="en-US" b="true" sz="1411" i="true">
                <a:solidFill>
                  <a:srgbClr val="CC0000"/>
                </a:solidFill>
                <a:latin typeface="Avenir Medium Italics"/>
                <a:ea typeface="Avenir Medium Italics"/>
                <a:cs typeface="Avenir Medium Italics"/>
                <a:sym typeface="Avenir Medium Italics"/>
              </a:rPr>
              <a:t>Room Type</a:t>
            </a:r>
          </a:p>
        </p:txBody>
      </p:sp>
      <p:grpSp>
        <p:nvGrpSpPr>
          <p:cNvPr name="Group 27" id="27"/>
          <p:cNvGrpSpPr/>
          <p:nvPr/>
        </p:nvGrpSpPr>
        <p:grpSpPr>
          <a:xfrm rot="0">
            <a:off x="1618162" y="7289308"/>
            <a:ext cx="3725156" cy="394717"/>
            <a:chOff x="0" y="0"/>
            <a:chExt cx="4966875" cy="526290"/>
          </a:xfrm>
        </p:grpSpPr>
        <p:grpSp>
          <p:nvGrpSpPr>
            <p:cNvPr name="Group 28" id="28"/>
            <p:cNvGrpSpPr/>
            <p:nvPr/>
          </p:nvGrpSpPr>
          <p:grpSpPr>
            <a:xfrm rot="0">
              <a:off x="0" y="44749"/>
              <a:ext cx="536551" cy="436791"/>
              <a:chOff x="0" y="0"/>
              <a:chExt cx="279400" cy="227457"/>
            </a:xfrm>
          </p:grpSpPr>
          <p:sp>
            <p:nvSpPr>
              <p:cNvPr name="Freeform 29" id="29"/>
              <p:cNvSpPr/>
              <p:nvPr/>
            </p:nvSpPr>
            <p:spPr>
              <a:xfrm flipH="false" flipV="false" rot="0">
                <a:off x="63500" y="63474"/>
                <a:ext cx="152272" cy="100481"/>
              </a:xfrm>
              <a:custGeom>
                <a:avLst/>
                <a:gdLst/>
                <a:ahLst/>
                <a:cxnLst/>
                <a:rect r="r" b="b" t="t" l="l"/>
                <a:pathLst>
                  <a:path h="100481" w="152272">
                    <a:moveTo>
                      <a:pt x="75056" y="100481"/>
                    </a:moveTo>
                    <a:cubicBezTo>
                      <a:pt x="48894" y="100481"/>
                      <a:pt x="23875" y="84098"/>
                      <a:pt x="635" y="51841"/>
                    </a:cubicBezTo>
                    <a:cubicBezTo>
                      <a:pt x="254" y="51333"/>
                      <a:pt x="0" y="50571"/>
                      <a:pt x="0" y="49936"/>
                    </a:cubicBezTo>
                    <a:cubicBezTo>
                      <a:pt x="0" y="49301"/>
                      <a:pt x="127" y="48539"/>
                      <a:pt x="508" y="48031"/>
                    </a:cubicBezTo>
                    <a:cubicBezTo>
                      <a:pt x="1778" y="46126"/>
                      <a:pt x="32003" y="1041"/>
                      <a:pt x="75691" y="25"/>
                    </a:cubicBezTo>
                    <a:cubicBezTo>
                      <a:pt x="102488" y="-737"/>
                      <a:pt x="128015" y="15519"/>
                      <a:pt x="151637" y="47904"/>
                    </a:cubicBezTo>
                    <a:cubicBezTo>
                      <a:pt x="152018" y="48412"/>
                      <a:pt x="152272" y="49047"/>
                      <a:pt x="152272" y="49809"/>
                    </a:cubicBezTo>
                    <a:cubicBezTo>
                      <a:pt x="152272" y="50571"/>
                      <a:pt x="152145" y="51206"/>
                      <a:pt x="151764" y="51714"/>
                    </a:cubicBezTo>
                    <a:cubicBezTo>
                      <a:pt x="150494" y="53619"/>
                      <a:pt x="120141" y="99465"/>
                      <a:pt x="76453" y="100481"/>
                    </a:cubicBezTo>
                    <a:cubicBezTo>
                      <a:pt x="75945" y="100481"/>
                      <a:pt x="75437" y="100481"/>
                      <a:pt x="74929" y="100481"/>
                    </a:cubicBezTo>
                    <a:close/>
                    <a:moveTo>
                      <a:pt x="7366" y="49809"/>
                    </a:moveTo>
                    <a:cubicBezTo>
                      <a:pt x="29336" y="79526"/>
                      <a:pt x="52577" y="94385"/>
                      <a:pt x="76326" y="93750"/>
                    </a:cubicBezTo>
                    <a:cubicBezTo>
                      <a:pt x="111759" y="92988"/>
                      <a:pt x="138810" y="58445"/>
                      <a:pt x="144906" y="49936"/>
                    </a:cubicBezTo>
                    <a:cubicBezTo>
                      <a:pt x="123062" y="20726"/>
                      <a:pt x="99694" y="6248"/>
                      <a:pt x="75818" y="6756"/>
                    </a:cubicBezTo>
                    <a:cubicBezTo>
                      <a:pt x="40385" y="7518"/>
                      <a:pt x="13461" y="41427"/>
                      <a:pt x="7239" y="49936"/>
                    </a:cubicBezTo>
                    <a:close/>
                  </a:path>
                </a:pathLst>
              </a:custGeom>
              <a:solidFill>
                <a:srgbClr val="505050"/>
              </a:solidFill>
            </p:spPr>
          </p:sp>
          <p:sp>
            <p:nvSpPr>
              <p:cNvPr name="Freeform 30" id="30"/>
              <p:cNvSpPr/>
              <p:nvPr/>
            </p:nvSpPr>
            <p:spPr>
              <a:xfrm flipH="false" flipV="false" rot="0">
                <a:off x="112521" y="86359"/>
                <a:ext cx="54483" cy="54736"/>
              </a:xfrm>
              <a:custGeom>
                <a:avLst/>
                <a:gdLst/>
                <a:ahLst/>
                <a:cxnLst/>
                <a:rect r="r" b="b" t="t" l="l"/>
                <a:pathLst>
                  <a:path h="54736" w="54483">
                    <a:moveTo>
                      <a:pt x="27178" y="54736"/>
                    </a:moveTo>
                    <a:cubicBezTo>
                      <a:pt x="21844" y="54736"/>
                      <a:pt x="16510" y="53085"/>
                      <a:pt x="12065" y="50164"/>
                    </a:cubicBezTo>
                    <a:cubicBezTo>
                      <a:pt x="7620" y="47243"/>
                      <a:pt x="4064" y="42925"/>
                      <a:pt x="2032" y="37845"/>
                    </a:cubicBezTo>
                    <a:cubicBezTo>
                      <a:pt x="0" y="32766"/>
                      <a:pt x="-508" y="27305"/>
                      <a:pt x="508" y="21971"/>
                    </a:cubicBezTo>
                    <a:cubicBezTo>
                      <a:pt x="1524" y="16637"/>
                      <a:pt x="4191" y="11811"/>
                      <a:pt x="8001" y="8001"/>
                    </a:cubicBezTo>
                    <a:cubicBezTo>
                      <a:pt x="11811" y="4191"/>
                      <a:pt x="16637" y="1524"/>
                      <a:pt x="21971" y="508"/>
                    </a:cubicBezTo>
                    <a:cubicBezTo>
                      <a:pt x="27305" y="-508"/>
                      <a:pt x="32766" y="0"/>
                      <a:pt x="37719" y="2032"/>
                    </a:cubicBezTo>
                    <a:cubicBezTo>
                      <a:pt x="42672" y="4064"/>
                      <a:pt x="46990" y="7620"/>
                      <a:pt x="49911" y="12065"/>
                    </a:cubicBezTo>
                    <a:cubicBezTo>
                      <a:pt x="52832" y="16510"/>
                      <a:pt x="54483" y="21844"/>
                      <a:pt x="54483" y="27305"/>
                    </a:cubicBezTo>
                    <a:cubicBezTo>
                      <a:pt x="54483" y="34544"/>
                      <a:pt x="51562" y="41528"/>
                      <a:pt x="46482" y="46608"/>
                    </a:cubicBezTo>
                    <a:cubicBezTo>
                      <a:pt x="41402" y="51688"/>
                      <a:pt x="34417" y="54609"/>
                      <a:pt x="27178" y="54609"/>
                    </a:cubicBezTo>
                    <a:close/>
                    <a:moveTo>
                      <a:pt x="27178" y="6477"/>
                    </a:moveTo>
                    <a:cubicBezTo>
                      <a:pt x="23114" y="6477"/>
                      <a:pt x="19177" y="7747"/>
                      <a:pt x="15748" y="10033"/>
                    </a:cubicBezTo>
                    <a:cubicBezTo>
                      <a:pt x="12319" y="12319"/>
                      <a:pt x="9652" y="15494"/>
                      <a:pt x="8128" y="19304"/>
                    </a:cubicBezTo>
                    <a:cubicBezTo>
                      <a:pt x="6604" y="23114"/>
                      <a:pt x="6223" y="27305"/>
                      <a:pt x="6985" y="31242"/>
                    </a:cubicBezTo>
                    <a:cubicBezTo>
                      <a:pt x="7747" y="35179"/>
                      <a:pt x="9779" y="38988"/>
                      <a:pt x="12573" y="41782"/>
                    </a:cubicBezTo>
                    <a:cubicBezTo>
                      <a:pt x="15367" y="44576"/>
                      <a:pt x="19177" y="46608"/>
                      <a:pt x="23114" y="47497"/>
                    </a:cubicBezTo>
                    <a:cubicBezTo>
                      <a:pt x="27051" y="48386"/>
                      <a:pt x="31242" y="47878"/>
                      <a:pt x="35052" y="46354"/>
                    </a:cubicBezTo>
                    <a:cubicBezTo>
                      <a:pt x="38862" y="44830"/>
                      <a:pt x="42037" y="42163"/>
                      <a:pt x="44323" y="38734"/>
                    </a:cubicBezTo>
                    <a:cubicBezTo>
                      <a:pt x="46609" y="35306"/>
                      <a:pt x="47752" y="31369"/>
                      <a:pt x="47752" y="27178"/>
                    </a:cubicBezTo>
                    <a:cubicBezTo>
                      <a:pt x="47752" y="21717"/>
                      <a:pt x="45593" y="16383"/>
                      <a:pt x="41656" y="12573"/>
                    </a:cubicBezTo>
                    <a:cubicBezTo>
                      <a:pt x="37719" y="8763"/>
                      <a:pt x="32512" y="6477"/>
                      <a:pt x="27051" y="6477"/>
                    </a:cubicBezTo>
                    <a:close/>
                  </a:path>
                </a:pathLst>
              </a:custGeom>
              <a:solidFill>
                <a:srgbClr val="505050"/>
              </a:solidFill>
            </p:spPr>
          </p:sp>
        </p:grpSp>
        <p:sp>
          <p:nvSpPr>
            <p:cNvPr name="TextBox 31" id="31"/>
            <p:cNvSpPr txBox="true"/>
            <p:nvPr/>
          </p:nvSpPr>
          <p:spPr>
            <a:xfrm rot="0">
              <a:off x="519778" y="121119"/>
              <a:ext cx="1042789" cy="265043"/>
            </a:xfrm>
            <a:prstGeom prst="rect">
              <a:avLst/>
            </a:prstGeom>
          </p:spPr>
          <p:txBody>
            <a:bodyPr anchor="t" rtlCol="false" tIns="0" lIns="0" bIns="0" rIns="0">
              <a:spAutoFit/>
            </a:bodyPr>
            <a:lstStyle/>
            <a:p>
              <a:pPr algn="l">
                <a:lnSpc>
                  <a:spcPts val="1512"/>
                </a:lnSpc>
              </a:pPr>
              <a:r>
                <a:rPr lang="en-US" b="true" sz="1080">
                  <a:solidFill>
                    <a:srgbClr val="CC0000"/>
                  </a:solidFill>
                  <a:latin typeface="Avenir Ultra-Bold"/>
                  <a:ea typeface="Avenir Ultra-Bold"/>
                  <a:cs typeface="Avenir Ultra-Bold"/>
                  <a:sym typeface="Avenir Ultra-Bold"/>
                </a:rPr>
                <a:t>Room View </a:t>
              </a:r>
            </a:p>
          </p:txBody>
        </p:sp>
        <p:grpSp>
          <p:nvGrpSpPr>
            <p:cNvPr name="Group 32" id="32"/>
            <p:cNvGrpSpPr/>
            <p:nvPr/>
          </p:nvGrpSpPr>
          <p:grpSpPr>
            <a:xfrm rot="0">
              <a:off x="1668294" y="125422"/>
              <a:ext cx="292657" cy="282414"/>
              <a:chOff x="0" y="0"/>
              <a:chExt cx="152400" cy="147066"/>
            </a:xfrm>
          </p:grpSpPr>
          <p:sp>
            <p:nvSpPr>
              <p:cNvPr name="Freeform 33" id="33"/>
              <p:cNvSpPr/>
              <p:nvPr/>
            </p:nvSpPr>
            <p:spPr>
              <a:xfrm flipH="false" flipV="false" rot="0">
                <a:off x="0" y="0"/>
                <a:ext cx="152400" cy="147066"/>
              </a:xfrm>
              <a:custGeom>
                <a:avLst/>
                <a:gdLst/>
                <a:ahLst/>
                <a:cxnLst/>
                <a:rect r="r" b="b" t="t" l="l"/>
                <a:pathLst>
                  <a:path h="147066" w="152400">
                    <a:moveTo>
                      <a:pt x="0" y="0"/>
                    </a:moveTo>
                    <a:lnTo>
                      <a:pt x="0" y="147066"/>
                    </a:lnTo>
                    <a:lnTo>
                      <a:pt x="152400" y="147066"/>
                    </a:lnTo>
                    <a:lnTo>
                      <a:pt x="152400" y="0"/>
                    </a:lnTo>
                    <a:lnTo>
                      <a:pt x="130175" y="0"/>
                    </a:lnTo>
                    <a:lnTo>
                      <a:pt x="129540" y="508"/>
                    </a:lnTo>
                    <a:lnTo>
                      <a:pt x="93726" y="27813"/>
                    </a:lnTo>
                    <a:lnTo>
                      <a:pt x="96647" y="31496"/>
                    </a:lnTo>
                    <a:lnTo>
                      <a:pt x="131826" y="4572"/>
                    </a:lnTo>
                    <a:lnTo>
                      <a:pt x="147701" y="4572"/>
                    </a:lnTo>
                    <a:lnTo>
                      <a:pt x="147701" y="78105"/>
                    </a:lnTo>
                    <a:lnTo>
                      <a:pt x="81026" y="78105"/>
                    </a:lnTo>
                    <a:lnTo>
                      <a:pt x="81026" y="110363"/>
                    </a:lnTo>
                    <a:lnTo>
                      <a:pt x="4826" y="110363"/>
                    </a:lnTo>
                    <a:lnTo>
                      <a:pt x="4826" y="68961"/>
                    </a:lnTo>
                    <a:lnTo>
                      <a:pt x="71374" y="68961"/>
                    </a:lnTo>
                    <a:lnTo>
                      <a:pt x="71374" y="4572"/>
                    </a:lnTo>
                    <a:lnTo>
                      <a:pt x="95250" y="4572"/>
                    </a:lnTo>
                    <a:lnTo>
                      <a:pt x="95250" y="0"/>
                    </a:lnTo>
                    <a:lnTo>
                      <a:pt x="0" y="0"/>
                    </a:lnTo>
                    <a:close/>
                    <a:moveTo>
                      <a:pt x="4826" y="4572"/>
                    </a:moveTo>
                    <a:lnTo>
                      <a:pt x="66675" y="4572"/>
                    </a:lnTo>
                    <a:lnTo>
                      <a:pt x="66675" y="64262"/>
                    </a:lnTo>
                    <a:lnTo>
                      <a:pt x="4826" y="64262"/>
                    </a:lnTo>
                    <a:lnTo>
                      <a:pt x="4826" y="4572"/>
                    </a:lnTo>
                    <a:close/>
                    <a:moveTo>
                      <a:pt x="85725" y="82677"/>
                    </a:moveTo>
                    <a:lnTo>
                      <a:pt x="147701" y="82677"/>
                    </a:lnTo>
                    <a:lnTo>
                      <a:pt x="147701" y="142367"/>
                    </a:lnTo>
                    <a:lnTo>
                      <a:pt x="85725" y="142367"/>
                    </a:lnTo>
                    <a:lnTo>
                      <a:pt x="85725" y="82677"/>
                    </a:lnTo>
                    <a:close/>
                    <a:moveTo>
                      <a:pt x="4826" y="114935"/>
                    </a:moveTo>
                    <a:lnTo>
                      <a:pt x="81026" y="114935"/>
                    </a:lnTo>
                    <a:lnTo>
                      <a:pt x="81026" y="142494"/>
                    </a:lnTo>
                    <a:lnTo>
                      <a:pt x="4826" y="142494"/>
                    </a:lnTo>
                    <a:lnTo>
                      <a:pt x="4826" y="114935"/>
                    </a:lnTo>
                    <a:close/>
                  </a:path>
                </a:pathLst>
              </a:custGeom>
              <a:solidFill>
                <a:srgbClr val="505050"/>
              </a:solidFill>
            </p:spPr>
          </p:sp>
        </p:grpSp>
        <p:grpSp>
          <p:nvGrpSpPr>
            <p:cNvPr name="Group 34" id="34"/>
            <p:cNvGrpSpPr/>
            <p:nvPr/>
          </p:nvGrpSpPr>
          <p:grpSpPr>
            <a:xfrm rot="0">
              <a:off x="3077842" y="0"/>
              <a:ext cx="536533" cy="526290"/>
              <a:chOff x="0" y="0"/>
              <a:chExt cx="279400" cy="274066"/>
            </a:xfrm>
          </p:grpSpPr>
          <p:sp>
            <p:nvSpPr>
              <p:cNvPr name="Freeform 35" id="35"/>
              <p:cNvSpPr/>
              <p:nvPr/>
            </p:nvSpPr>
            <p:spPr>
              <a:xfrm flipH="false" flipV="false" rot="0">
                <a:off x="63500" y="63500"/>
                <a:ext cx="152400" cy="147066"/>
              </a:xfrm>
              <a:custGeom>
                <a:avLst/>
                <a:gdLst/>
                <a:ahLst/>
                <a:cxnLst/>
                <a:rect r="r" b="b" t="t" l="l"/>
                <a:pathLst>
                  <a:path h="147066" w="152400">
                    <a:moveTo>
                      <a:pt x="152400" y="138049"/>
                    </a:moveTo>
                    <a:lnTo>
                      <a:pt x="152400" y="1778"/>
                    </a:lnTo>
                    <a:cubicBezTo>
                      <a:pt x="152400" y="762"/>
                      <a:pt x="151384" y="0"/>
                      <a:pt x="149987" y="0"/>
                    </a:cubicBezTo>
                    <a:lnTo>
                      <a:pt x="2413" y="0"/>
                    </a:lnTo>
                    <a:cubicBezTo>
                      <a:pt x="1143" y="0"/>
                      <a:pt x="0" y="762"/>
                      <a:pt x="0" y="1778"/>
                    </a:cubicBezTo>
                    <a:lnTo>
                      <a:pt x="0" y="138049"/>
                    </a:lnTo>
                    <a:cubicBezTo>
                      <a:pt x="0" y="143002"/>
                      <a:pt x="5207" y="147066"/>
                      <a:pt x="11684" y="147066"/>
                    </a:cubicBezTo>
                    <a:lnTo>
                      <a:pt x="140716" y="147066"/>
                    </a:lnTo>
                    <a:cubicBezTo>
                      <a:pt x="147193" y="147066"/>
                      <a:pt x="152400" y="143002"/>
                      <a:pt x="152400" y="138049"/>
                    </a:cubicBezTo>
                    <a:close/>
                    <a:moveTo>
                      <a:pt x="4826" y="50292"/>
                    </a:moveTo>
                    <a:lnTo>
                      <a:pt x="147574" y="50292"/>
                    </a:lnTo>
                    <a:lnTo>
                      <a:pt x="147574" y="65405"/>
                    </a:lnTo>
                    <a:lnTo>
                      <a:pt x="4826" y="65405"/>
                    </a:lnTo>
                    <a:lnTo>
                      <a:pt x="4826" y="50292"/>
                    </a:lnTo>
                    <a:close/>
                    <a:moveTo>
                      <a:pt x="147574" y="3683"/>
                    </a:moveTo>
                    <a:lnTo>
                      <a:pt x="147574" y="46609"/>
                    </a:lnTo>
                    <a:lnTo>
                      <a:pt x="4826" y="46609"/>
                    </a:lnTo>
                    <a:lnTo>
                      <a:pt x="4826" y="3683"/>
                    </a:lnTo>
                    <a:lnTo>
                      <a:pt x="147574" y="3683"/>
                    </a:lnTo>
                    <a:close/>
                    <a:moveTo>
                      <a:pt x="4826" y="138049"/>
                    </a:moveTo>
                    <a:lnTo>
                      <a:pt x="4826" y="69088"/>
                    </a:lnTo>
                    <a:lnTo>
                      <a:pt x="147574" y="69088"/>
                    </a:lnTo>
                    <a:lnTo>
                      <a:pt x="147574" y="138049"/>
                    </a:lnTo>
                    <a:cubicBezTo>
                      <a:pt x="147574" y="140970"/>
                      <a:pt x="144526" y="143383"/>
                      <a:pt x="140716" y="143383"/>
                    </a:cubicBezTo>
                    <a:lnTo>
                      <a:pt x="11684" y="143383"/>
                    </a:lnTo>
                    <a:cubicBezTo>
                      <a:pt x="7874" y="143383"/>
                      <a:pt x="4826" y="140970"/>
                      <a:pt x="4826" y="138049"/>
                    </a:cubicBezTo>
                    <a:close/>
                  </a:path>
                </a:pathLst>
              </a:custGeom>
              <a:solidFill>
                <a:srgbClr val="505050"/>
              </a:solidFill>
            </p:spPr>
          </p:sp>
          <p:sp>
            <p:nvSpPr>
              <p:cNvPr name="Freeform 36" id="36"/>
              <p:cNvSpPr/>
              <p:nvPr/>
            </p:nvSpPr>
            <p:spPr>
              <a:xfrm flipH="false" flipV="false" rot="0">
                <a:off x="81407" y="71374"/>
                <a:ext cx="53340" cy="34925"/>
              </a:xfrm>
              <a:custGeom>
                <a:avLst/>
                <a:gdLst/>
                <a:ahLst/>
                <a:cxnLst/>
                <a:rect r="r" b="b" t="t" l="l"/>
                <a:pathLst>
                  <a:path h="34925" w="53340">
                    <a:moveTo>
                      <a:pt x="12065" y="34925"/>
                    </a:moveTo>
                    <a:lnTo>
                      <a:pt x="41275" y="34925"/>
                    </a:lnTo>
                    <a:cubicBezTo>
                      <a:pt x="47879" y="34925"/>
                      <a:pt x="53340" y="29718"/>
                      <a:pt x="53340" y="23241"/>
                    </a:cubicBezTo>
                    <a:lnTo>
                      <a:pt x="53340" y="11684"/>
                    </a:lnTo>
                    <a:cubicBezTo>
                      <a:pt x="53340" y="5207"/>
                      <a:pt x="47879" y="0"/>
                      <a:pt x="41275" y="0"/>
                    </a:cubicBezTo>
                    <a:lnTo>
                      <a:pt x="12065" y="0"/>
                    </a:lnTo>
                    <a:cubicBezTo>
                      <a:pt x="5461" y="0"/>
                      <a:pt x="0" y="5207"/>
                      <a:pt x="0" y="11684"/>
                    </a:cubicBezTo>
                    <a:lnTo>
                      <a:pt x="0" y="23241"/>
                    </a:lnTo>
                    <a:cubicBezTo>
                      <a:pt x="0" y="29718"/>
                      <a:pt x="5461" y="34925"/>
                      <a:pt x="12065" y="34925"/>
                    </a:cubicBezTo>
                    <a:close/>
                    <a:moveTo>
                      <a:pt x="4826" y="11684"/>
                    </a:moveTo>
                    <a:cubicBezTo>
                      <a:pt x="4826" y="7747"/>
                      <a:pt x="8128" y="4699"/>
                      <a:pt x="12065" y="4699"/>
                    </a:cubicBezTo>
                    <a:lnTo>
                      <a:pt x="41275" y="4699"/>
                    </a:lnTo>
                    <a:cubicBezTo>
                      <a:pt x="45339" y="4699"/>
                      <a:pt x="48514" y="7874"/>
                      <a:pt x="48514" y="11684"/>
                    </a:cubicBezTo>
                    <a:lnTo>
                      <a:pt x="48514" y="23241"/>
                    </a:lnTo>
                    <a:cubicBezTo>
                      <a:pt x="48514" y="27178"/>
                      <a:pt x="45212" y="30226"/>
                      <a:pt x="41275" y="30226"/>
                    </a:cubicBezTo>
                    <a:lnTo>
                      <a:pt x="12065" y="30226"/>
                    </a:lnTo>
                    <a:cubicBezTo>
                      <a:pt x="8001" y="30226"/>
                      <a:pt x="4826" y="27051"/>
                      <a:pt x="4826" y="23241"/>
                    </a:cubicBezTo>
                    <a:lnTo>
                      <a:pt x="4826" y="11684"/>
                    </a:lnTo>
                    <a:close/>
                  </a:path>
                </a:pathLst>
              </a:custGeom>
              <a:solidFill>
                <a:srgbClr val="505050"/>
              </a:solidFill>
            </p:spPr>
          </p:sp>
          <p:sp>
            <p:nvSpPr>
              <p:cNvPr name="Freeform 37" id="37"/>
              <p:cNvSpPr/>
              <p:nvPr/>
            </p:nvSpPr>
            <p:spPr>
              <a:xfrm flipH="false" flipV="false" rot="0">
                <a:off x="144653" y="71374"/>
                <a:ext cx="53213" cy="34925"/>
              </a:xfrm>
              <a:custGeom>
                <a:avLst/>
                <a:gdLst/>
                <a:ahLst/>
                <a:cxnLst/>
                <a:rect r="r" b="b" t="t" l="l"/>
                <a:pathLst>
                  <a:path h="34925" w="53213">
                    <a:moveTo>
                      <a:pt x="12065" y="34925"/>
                    </a:moveTo>
                    <a:lnTo>
                      <a:pt x="41148" y="34925"/>
                    </a:lnTo>
                    <a:cubicBezTo>
                      <a:pt x="47752" y="34925"/>
                      <a:pt x="53213" y="29718"/>
                      <a:pt x="53213" y="23241"/>
                    </a:cubicBezTo>
                    <a:lnTo>
                      <a:pt x="53213" y="11684"/>
                    </a:lnTo>
                    <a:cubicBezTo>
                      <a:pt x="53213" y="5207"/>
                      <a:pt x="47752" y="0"/>
                      <a:pt x="41148" y="0"/>
                    </a:cubicBezTo>
                    <a:lnTo>
                      <a:pt x="12065" y="0"/>
                    </a:lnTo>
                    <a:cubicBezTo>
                      <a:pt x="5461" y="0"/>
                      <a:pt x="0" y="5207"/>
                      <a:pt x="0" y="11684"/>
                    </a:cubicBezTo>
                    <a:lnTo>
                      <a:pt x="0" y="23241"/>
                    </a:lnTo>
                    <a:cubicBezTo>
                      <a:pt x="0" y="29718"/>
                      <a:pt x="5461" y="34925"/>
                      <a:pt x="12065" y="34925"/>
                    </a:cubicBezTo>
                    <a:close/>
                    <a:moveTo>
                      <a:pt x="4826" y="11684"/>
                    </a:moveTo>
                    <a:cubicBezTo>
                      <a:pt x="4826" y="7747"/>
                      <a:pt x="8128" y="4699"/>
                      <a:pt x="12065" y="4699"/>
                    </a:cubicBezTo>
                    <a:lnTo>
                      <a:pt x="41148" y="4699"/>
                    </a:lnTo>
                    <a:cubicBezTo>
                      <a:pt x="45212" y="4699"/>
                      <a:pt x="48387" y="7874"/>
                      <a:pt x="48387" y="11684"/>
                    </a:cubicBezTo>
                    <a:lnTo>
                      <a:pt x="48387" y="23241"/>
                    </a:lnTo>
                    <a:cubicBezTo>
                      <a:pt x="48387" y="27178"/>
                      <a:pt x="45085" y="30226"/>
                      <a:pt x="41148" y="30226"/>
                    </a:cubicBezTo>
                    <a:lnTo>
                      <a:pt x="12065" y="30226"/>
                    </a:lnTo>
                    <a:cubicBezTo>
                      <a:pt x="8001" y="30226"/>
                      <a:pt x="4826" y="27051"/>
                      <a:pt x="4826" y="23241"/>
                    </a:cubicBezTo>
                    <a:lnTo>
                      <a:pt x="4826" y="11684"/>
                    </a:lnTo>
                    <a:close/>
                  </a:path>
                </a:pathLst>
              </a:custGeom>
              <a:solidFill>
                <a:srgbClr val="505050"/>
              </a:solidFill>
            </p:spPr>
          </p:sp>
        </p:grpSp>
        <p:sp>
          <p:nvSpPr>
            <p:cNvPr name="TextBox 38" id="38"/>
            <p:cNvSpPr txBox="true"/>
            <p:nvPr/>
          </p:nvSpPr>
          <p:spPr>
            <a:xfrm rot="0">
              <a:off x="2066107" y="125793"/>
              <a:ext cx="862539" cy="265043"/>
            </a:xfrm>
            <a:prstGeom prst="rect">
              <a:avLst/>
            </a:prstGeom>
          </p:spPr>
          <p:txBody>
            <a:bodyPr anchor="t" rtlCol="false" tIns="0" lIns="0" bIns="0" rIns="0">
              <a:spAutoFit/>
            </a:bodyPr>
            <a:lstStyle/>
            <a:p>
              <a:pPr algn="l">
                <a:lnSpc>
                  <a:spcPts val="1512"/>
                </a:lnSpc>
              </a:pPr>
              <a:r>
                <a:rPr lang="en-US" b="true" sz="1080">
                  <a:solidFill>
                    <a:srgbClr val="CC0000"/>
                  </a:solidFill>
                  <a:latin typeface="Avenir Ultra-Bold"/>
                  <a:ea typeface="Avenir Ultra-Bold"/>
                  <a:cs typeface="Avenir Ultra-Bold"/>
                  <a:sym typeface="Avenir Ultra-Bold"/>
                </a:rPr>
                <a:t>Size </a:t>
              </a:r>
              <a:r>
                <a:rPr lang="en-US" b="true" sz="1080">
                  <a:solidFill>
                    <a:srgbClr val="CC0000"/>
                  </a:solidFill>
                  <a:latin typeface="Avenir Ultra-Bold"/>
                  <a:ea typeface="Avenir Ultra-Bold"/>
                  <a:cs typeface="Avenir Ultra-Bold"/>
                  <a:sym typeface="Avenir Ultra-Bold"/>
                </a:rPr>
                <a:t>m²</a:t>
              </a:r>
            </a:p>
          </p:txBody>
        </p:sp>
        <p:sp>
          <p:nvSpPr>
            <p:cNvPr name="TextBox 39" id="39"/>
            <p:cNvSpPr txBox="true"/>
            <p:nvPr/>
          </p:nvSpPr>
          <p:spPr>
            <a:xfrm rot="0">
              <a:off x="3597601" y="125793"/>
              <a:ext cx="1369273" cy="265043"/>
            </a:xfrm>
            <a:prstGeom prst="rect">
              <a:avLst/>
            </a:prstGeom>
          </p:spPr>
          <p:txBody>
            <a:bodyPr anchor="t" rtlCol="false" tIns="0" lIns="0" bIns="0" rIns="0">
              <a:spAutoFit/>
            </a:bodyPr>
            <a:lstStyle/>
            <a:p>
              <a:pPr algn="l">
                <a:lnSpc>
                  <a:spcPts val="1512"/>
                </a:lnSpc>
              </a:pPr>
              <a:r>
                <a:rPr lang="en-US" b="true" sz="1080">
                  <a:solidFill>
                    <a:srgbClr val="CC0000"/>
                  </a:solidFill>
                  <a:latin typeface="Avenir Ultra-Bold"/>
                  <a:ea typeface="Avenir Ultra-Bold"/>
                  <a:cs typeface="Avenir Ultra-Bold"/>
                  <a:sym typeface="Avenir Ultra-Bold"/>
                </a:rPr>
                <a:t>King / Twin</a:t>
              </a:r>
            </a:p>
          </p:txBody>
        </p:sp>
      </p:grpSp>
      <p:sp>
        <p:nvSpPr>
          <p:cNvPr name="TextBox 40" id="40"/>
          <p:cNvSpPr txBox="true"/>
          <p:nvPr/>
        </p:nvSpPr>
        <p:spPr>
          <a:xfrm rot="0">
            <a:off x="2479096" y="8144469"/>
            <a:ext cx="36847" cy="241090"/>
          </a:xfrm>
          <a:prstGeom prst="rect">
            <a:avLst/>
          </a:prstGeom>
        </p:spPr>
        <p:txBody>
          <a:bodyPr anchor="t" rtlCol="false" tIns="0" lIns="0" bIns="0" rIns="0">
            <a:spAutoFit/>
          </a:bodyPr>
          <a:lstStyle/>
          <a:p>
            <a:pPr algn="l">
              <a:lnSpc>
                <a:spcPts val="1786"/>
              </a:lnSpc>
            </a:pPr>
            <a:r>
              <a:rPr lang="en-US" b="true" sz="1137" i="true">
                <a:solidFill>
                  <a:srgbClr val="191919"/>
                </a:solidFill>
                <a:latin typeface="Avenir Medium Italics"/>
                <a:ea typeface="Avenir Medium Italics"/>
                <a:cs typeface="Avenir Medium Italics"/>
                <a:sym typeface="Avenir Medium Italics"/>
              </a:rPr>
              <a:t> </a:t>
            </a:r>
          </a:p>
        </p:txBody>
      </p:sp>
      <p:sp>
        <p:nvSpPr>
          <p:cNvPr name="TextBox 41" id="41"/>
          <p:cNvSpPr txBox="true"/>
          <p:nvPr/>
        </p:nvSpPr>
        <p:spPr>
          <a:xfrm rot="0">
            <a:off x="1644460" y="8381362"/>
            <a:ext cx="4046410" cy="425492"/>
          </a:xfrm>
          <a:prstGeom prst="rect">
            <a:avLst/>
          </a:prstGeom>
        </p:spPr>
        <p:txBody>
          <a:bodyPr anchor="t" rtlCol="false" tIns="0" lIns="0" bIns="0" rIns="0">
            <a:spAutoFit/>
          </a:bodyPr>
          <a:lstStyle/>
          <a:p>
            <a:pPr algn="l">
              <a:lnSpc>
                <a:spcPts val="1695"/>
              </a:lnSpc>
            </a:pPr>
            <a:r>
              <a:rPr lang="en-US" b="true" sz="1080">
                <a:solidFill>
                  <a:srgbClr val="505050"/>
                </a:solidFill>
                <a:latin typeface="Avenir Ultra-Bold"/>
                <a:ea typeface="Avenir Ultra-Bold"/>
                <a:cs typeface="Avenir Ultra-Bold"/>
                <a:sym typeface="Avenir Ultra-Bold"/>
              </a:rPr>
              <a:t>Fre</a:t>
            </a:r>
            <a:r>
              <a:rPr lang="en-US" b="true" sz="1080">
                <a:solidFill>
                  <a:srgbClr val="505050"/>
                </a:solidFill>
                <a:latin typeface="Avenir Ultra-Bold"/>
                <a:ea typeface="Avenir Ultra-Bold"/>
                <a:cs typeface="Avenir Ultra-Bold"/>
                <a:sym typeface="Avenir Ultra-Bold"/>
              </a:rPr>
              <a:t>e cancellation before </a:t>
            </a:r>
            <a:r>
              <a:rPr lang="en-US" b="true" sz="1080">
                <a:solidFill>
                  <a:srgbClr val="CC0000"/>
                </a:solidFill>
                <a:latin typeface="Avenir Ultra-Bold"/>
                <a:ea typeface="Avenir Ultra-Bold"/>
                <a:cs typeface="Avenir Ultra-Bold"/>
                <a:sym typeface="Avenir Ultra-Bold"/>
              </a:rPr>
              <a:t>time</a:t>
            </a:r>
            <a:r>
              <a:rPr lang="en-US" b="true" sz="1080">
                <a:solidFill>
                  <a:srgbClr val="505050"/>
                </a:solidFill>
                <a:latin typeface="Avenir Ultra-Bold"/>
                <a:ea typeface="Avenir Ultra-Bold"/>
                <a:cs typeface="Avenir Ultra-Bold"/>
                <a:sym typeface="Avenir Ultra-Bold"/>
              </a:rPr>
              <a:t> on </a:t>
            </a:r>
            <a:r>
              <a:rPr lang="en-US" b="true" sz="1080">
                <a:solidFill>
                  <a:srgbClr val="CC0000"/>
                </a:solidFill>
                <a:latin typeface="Avenir Ultra-Bold"/>
                <a:ea typeface="Avenir Ultra-Bold"/>
                <a:cs typeface="Avenir Ultra-Bold"/>
                <a:sym typeface="Avenir Ultra-Bold"/>
              </a:rPr>
              <a:t>Date Month Year </a:t>
            </a:r>
            <a:r>
              <a:rPr lang="en-US" b="true" sz="1080">
                <a:solidFill>
                  <a:srgbClr val="505050"/>
                </a:solidFill>
                <a:latin typeface="Avenir Ultra-Bold"/>
                <a:ea typeface="Avenir Ultra-Bold"/>
                <a:cs typeface="Avenir Ultra-Bold"/>
                <a:sym typeface="Avenir Ultra-Bold"/>
              </a:rPr>
              <a:t>after which a </a:t>
            </a:r>
            <a:r>
              <a:rPr lang="en-US" b="true" sz="1080">
                <a:solidFill>
                  <a:srgbClr val="505050"/>
                </a:solidFill>
                <a:latin typeface="Avenir Ultra-Bold"/>
                <a:ea typeface="Avenir Ultra-Bold"/>
                <a:cs typeface="Avenir Ultra-Bold"/>
                <a:sym typeface="Avenir Ultra-Bold"/>
              </a:rPr>
              <a:t>charge of EUR </a:t>
            </a:r>
            <a:r>
              <a:rPr lang="en-US" b="true" sz="1080">
                <a:solidFill>
                  <a:srgbClr val="CC0000"/>
                </a:solidFill>
                <a:latin typeface="Avenir Ultra-Bold"/>
                <a:ea typeface="Avenir Ultra-Bold"/>
                <a:cs typeface="Avenir Ultra-Bold"/>
                <a:sym typeface="Avenir Ultra-Bold"/>
              </a:rPr>
              <a:t>price</a:t>
            </a:r>
            <a:r>
              <a:rPr lang="en-US" b="true" sz="1080">
                <a:solidFill>
                  <a:srgbClr val="505050"/>
                </a:solidFill>
                <a:latin typeface="Avenir Ultra-Bold"/>
                <a:ea typeface="Avenir Ultra-Bold"/>
                <a:cs typeface="Avenir Ultra-Bold"/>
                <a:sym typeface="Avenir Ultra-Bold"/>
              </a:rPr>
              <a:t> will be incurred.</a:t>
            </a:r>
          </a:p>
        </p:txBody>
      </p:sp>
      <p:sp>
        <p:nvSpPr>
          <p:cNvPr name="TextBox 42" id="42"/>
          <p:cNvSpPr txBox="true"/>
          <p:nvPr/>
        </p:nvSpPr>
        <p:spPr>
          <a:xfrm rot="0">
            <a:off x="2479096" y="13166087"/>
            <a:ext cx="36847" cy="241090"/>
          </a:xfrm>
          <a:prstGeom prst="rect">
            <a:avLst/>
          </a:prstGeom>
        </p:spPr>
        <p:txBody>
          <a:bodyPr anchor="t" rtlCol="false" tIns="0" lIns="0" bIns="0" rIns="0">
            <a:spAutoFit/>
          </a:bodyPr>
          <a:lstStyle/>
          <a:p>
            <a:pPr algn="l">
              <a:lnSpc>
                <a:spcPts val="1786"/>
              </a:lnSpc>
            </a:pPr>
            <a:r>
              <a:rPr lang="en-US" b="true" sz="1137" i="true">
                <a:solidFill>
                  <a:srgbClr val="191919"/>
                </a:solidFill>
                <a:latin typeface="Avenir Medium Italics"/>
                <a:ea typeface="Avenir Medium Italics"/>
                <a:cs typeface="Avenir Medium Italics"/>
                <a:sym typeface="Avenir Medium Italics"/>
              </a:rPr>
              <a:t> </a:t>
            </a:r>
          </a:p>
        </p:txBody>
      </p:sp>
      <p:sp>
        <p:nvSpPr>
          <p:cNvPr name="TextBox 43" id="43"/>
          <p:cNvSpPr txBox="true"/>
          <p:nvPr/>
        </p:nvSpPr>
        <p:spPr>
          <a:xfrm rot="0">
            <a:off x="1644460" y="13402979"/>
            <a:ext cx="4329344" cy="395034"/>
          </a:xfrm>
          <a:prstGeom prst="rect">
            <a:avLst/>
          </a:prstGeom>
        </p:spPr>
        <p:txBody>
          <a:bodyPr anchor="t" rtlCol="false" tIns="0" lIns="0" bIns="0" rIns="0">
            <a:spAutoFit/>
          </a:bodyPr>
          <a:lstStyle/>
          <a:p>
            <a:pPr algn="l">
              <a:lnSpc>
                <a:spcPts val="1695"/>
              </a:lnSpc>
            </a:pPr>
            <a:r>
              <a:rPr lang="en-US" b="true" sz="1080">
                <a:solidFill>
                  <a:srgbClr val="505050"/>
                </a:solidFill>
                <a:latin typeface="Avenir Ultra-Bold"/>
                <a:ea typeface="Avenir Ultra-Bold"/>
                <a:cs typeface="Avenir Ultra-Bold"/>
                <a:sym typeface="Avenir Ultra-Bold"/>
              </a:rPr>
              <a:t>Free cancellation before </a:t>
            </a:r>
            <a:r>
              <a:rPr lang="en-US" b="true" sz="1080">
                <a:solidFill>
                  <a:srgbClr val="CC0000"/>
                </a:solidFill>
                <a:latin typeface="Avenir Ultra-Bold"/>
                <a:ea typeface="Avenir Ultra-Bold"/>
                <a:cs typeface="Avenir Ultra-Bold"/>
                <a:sym typeface="Avenir Ultra-Bold"/>
              </a:rPr>
              <a:t>time</a:t>
            </a:r>
            <a:r>
              <a:rPr lang="en-US" b="true" sz="1080">
                <a:solidFill>
                  <a:srgbClr val="505050"/>
                </a:solidFill>
                <a:latin typeface="Avenir Ultra-Bold"/>
                <a:ea typeface="Avenir Ultra-Bold"/>
                <a:cs typeface="Avenir Ultra-Bold"/>
                <a:sym typeface="Avenir Ultra-Bold"/>
              </a:rPr>
              <a:t> on </a:t>
            </a:r>
            <a:r>
              <a:rPr lang="en-US" b="true" sz="1080">
                <a:solidFill>
                  <a:srgbClr val="CC0000"/>
                </a:solidFill>
                <a:latin typeface="Avenir Ultra-Bold"/>
                <a:ea typeface="Avenir Ultra-Bold"/>
                <a:cs typeface="Avenir Ultra-Bold"/>
                <a:sym typeface="Avenir Ultra-Bold"/>
              </a:rPr>
              <a:t>Date</a:t>
            </a:r>
            <a:r>
              <a:rPr lang="en-US" b="true" sz="1080">
                <a:solidFill>
                  <a:srgbClr val="505050"/>
                </a:solidFill>
                <a:latin typeface="Avenir Ultra-Bold"/>
                <a:ea typeface="Avenir Ultra-Bold"/>
                <a:cs typeface="Avenir Ultra-Bold"/>
                <a:sym typeface="Avenir Ultra-Bold"/>
              </a:rPr>
              <a:t> </a:t>
            </a:r>
            <a:r>
              <a:rPr lang="en-US" b="true" sz="1080">
                <a:solidFill>
                  <a:srgbClr val="CC0000"/>
                </a:solidFill>
                <a:latin typeface="Avenir Ultra-Bold"/>
                <a:ea typeface="Avenir Ultra-Bold"/>
                <a:cs typeface="Avenir Ultra-Bold"/>
                <a:sym typeface="Avenir Ultra-Bold"/>
              </a:rPr>
              <a:t>Month</a:t>
            </a:r>
            <a:r>
              <a:rPr lang="en-US" b="true" sz="1080">
                <a:solidFill>
                  <a:srgbClr val="505050"/>
                </a:solidFill>
                <a:latin typeface="Avenir Ultra-Bold"/>
                <a:ea typeface="Avenir Ultra-Bold"/>
                <a:cs typeface="Avenir Ultra-Bold"/>
                <a:sym typeface="Avenir Ultra-Bold"/>
              </a:rPr>
              <a:t> </a:t>
            </a:r>
            <a:r>
              <a:rPr lang="en-US" b="true" sz="1080">
                <a:solidFill>
                  <a:srgbClr val="CC0000"/>
                </a:solidFill>
                <a:latin typeface="Avenir Ultra-Bold"/>
                <a:ea typeface="Avenir Ultra-Bold"/>
                <a:cs typeface="Avenir Ultra-Bold"/>
                <a:sym typeface="Avenir Ultra-Bold"/>
              </a:rPr>
              <a:t>Year</a:t>
            </a:r>
            <a:r>
              <a:rPr lang="en-US" b="true" sz="1080">
                <a:solidFill>
                  <a:srgbClr val="505050"/>
                </a:solidFill>
                <a:latin typeface="Avenir Ultra-Bold"/>
                <a:ea typeface="Avenir Ultra-Bold"/>
                <a:cs typeface="Avenir Ultra-Bold"/>
                <a:sym typeface="Avenir Ultra-Bold"/>
              </a:rPr>
              <a:t> after which a</a:t>
            </a:r>
          </a:p>
          <a:p>
            <a:pPr algn="l">
              <a:lnSpc>
                <a:spcPts val="1125"/>
              </a:lnSpc>
            </a:pPr>
            <a:r>
              <a:rPr lang="en-US" b="true" sz="1080">
                <a:solidFill>
                  <a:srgbClr val="505050"/>
                </a:solidFill>
                <a:latin typeface="Avenir Ultra-Bold"/>
                <a:ea typeface="Avenir Ultra-Bold"/>
                <a:cs typeface="Avenir Ultra-Bold"/>
                <a:sym typeface="Avenir Ultra-Bold"/>
              </a:rPr>
              <a:t>charge of EUR </a:t>
            </a:r>
            <a:r>
              <a:rPr lang="en-US" b="true" sz="1080">
                <a:solidFill>
                  <a:srgbClr val="CC0000"/>
                </a:solidFill>
                <a:latin typeface="Avenir Ultra-Bold"/>
                <a:ea typeface="Avenir Ultra-Bold"/>
                <a:cs typeface="Avenir Ultra-Bold"/>
                <a:sym typeface="Avenir Ultra-Bold"/>
              </a:rPr>
              <a:t>price</a:t>
            </a:r>
            <a:r>
              <a:rPr lang="en-US" b="true" sz="1080">
                <a:solidFill>
                  <a:srgbClr val="505050"/>
                </a:solidFill>
                <a:latin typeface="Avenir Ultra-Bold"/>
                <a:ea typeface="Avenir Ultra-Bold"/>
                <a:cs typeface="Avenir Ultra-Bold"/>
                <a:sym typeface="Avenir Ultra-Bold"/>
              </a:rPr>
              <a:t> will be incurred.</a:t>
            </a:r>
          </a:p>
        </p:txBody>
      </p:sp>
      <p:sp>
        <p:nvSpPr>
          <p:cNvPr name="TextBox 44" id="44"/>
          <p:cNvSpPr txBox="true"/>
          <p:nvPr/>
        </p:nvSpPr>
        <p:spPr>
          <a:xfrm rot="0">
            <a:off x="1699333" y="7807200"/>
            <a:ext cx="1170049" cy="203493"/>
          </a:xfrm>
          <a:prstGeom prst="rect">
            <a:avLst/>
          </a:prstGeom>
        </p:spPr>
        <p:txBody>
          <a:bodyPr anchor="t" rtlCol="false" tIns="0" lIns="0" bIns="0" rIns="0">
            <a:spAutoFit/>
          </a:bodyPr>
          <a:lstStyle/>
          <a:p>
            <a:pPr algn="l">
              <a:lnSpc>
                <a:spcPts val="1431"/>
              </a:lnSpc>
            </a:pPr>
            <a:r>
              <a:rPr lang="en-US" b="true" sz="1022">
                <a:solidFill>
                  <a:srgbClr val="000000"/>
                </a:solidFill>
                <a:latin typeface="Avenir Medium"/>
                <a:ea typeface="Avenir Medium"/>
                <a:cs typeface="Avenir Medium"/>
                <a:sym typeface="Avenir Medium"/>
              </a:rPr>
              <a:t>Best Available Rate</a:t>
            </a:r>
          </a:p>
        </p:txBody>
      </p:sp>
      <p:sp>
        <p:nvSpPr>
          <p:cNvPr name="TextBox 45" id="45"/>
          <p:cNvSpPr txBox="true"/>
          <p:nvPr/>
        </p:nvSpPr>
        <p:spPr>
          <a:xfrm rot="0">
            <a:off x="1699333" y="12828817"/>
            <a:ext cx="1170049" cy="203493"/>
          </a:xfrm>
          <a:prstGeom prst="rect">
            <a:avLst/>
          </a:prstGeom>
        </p:spPr>
        <p:txBody>
          <a:bodyPr anchor="t" rtlCol="false" tIns="0" lIns="0" bIns="0" rIns="0">
            <a:spAutoFit/>
          </a:bodyPr>
          <a:lstStyle/>
          <a:p>
            <a:pPr algn="l">
              <a:lnSpc>
                <a:spcPts val="1431"/>
              </a:lnSpc>
            </a:pPr>
            <a:r>
              <a:rPr lang="en-US" b="true" sz="1022">
                <a:solidFill>
                  <a:srgbClr val="000000"/>
                </a:solidFill>
                <a:latin typeface="Avenir Medium"/>
                <a:ea typeface="Avenir Medium"/>
                <a:cs typeface="Avenir Medium"/>
                <a:sym typeface="Avenir Medium"/>
              </a:rPr>
              <a:t>Best Available Rate</a:t>
            </a:r>
          </a:p>
        </p:txBody>
      </p:sp>
      <p:sp>
        <p:nvSpPr>
          <p:cNvPr name="TextBox 46" id="46"/>
          <p:cNvSpPr txBox="true"/>
          <p:nvPr/>
        </p:nvSpPr>
        <p:spPr>
          <a:xfrm rot="0">
            <a:off x="7072990" y="7791931"/>
            <a:ext cx="1478643" cy="800326"/>
          </a:xfrm>
          <a:prstGeom prst="rect">
            <a:avLst/>
          </a:prstGeom>
        </p:spPr>
        <p:txBody>
          <a:bodyPr anchor="t" rtlCol="false" tIns="0" lIns="0" bIns="0" rIns="0">
            <a:spAutoFit/>
          </a:bodyPr>
          <a:lstStyle/>
          <a:p>
            <a:pPr algn="r">
              <a:lnSpc>
                <a:spcPts val="1371"/>
              </a:lnSpc>
            </a:pPr>
            <a:r>
              <a:rPr lang="en-US" b="true" sz="979" i="true">
                <a:solidFill>
                  <a:srgbClr val="505050"/>
                </a:solidFill>
                <a:latin typeface="Avenir Medium Italics"/>
                <a:ea typeface="Avenir Medium Italics"/>
                <a:cs typeface="Avenir Medium Italics"/>
                <a:sym typeface="Avenir Medium Italics"/>
              </a:rPr>
              <a:t>Total for </a:t>
            </a:r>
            <a:r>
              <a:rPr lang="en-US" b="true" sz="979" i="true">
                <a:solidFill>
                  <a:srgbClr val="CC0000"/>
                </a:solidFill>
                <a:latin typeface="Avenir Medium Italics"/>
                <a:ea typeface="Avenir Medium Italics"/>
                <a:cs typeface="Avenir Medium Italics"/>
                <a:sym typeface="Avenir Medium Italics"/>
              </a:rPr>
              <a:t>x</a:t>
            </a:r>
            <a:r>
              <a:rPr lang="en-US" b="true" sz="979" i="true">
                <a:solidFill>
                  <a:srgbClr val="505050"/>
                </a:solidFill>
                <a:latin typeface="Avenir Medium Italics"/>
                <a:ea typeface="Avenir Medium Italics"/>
                <a:cs typeface="Avenir Medium Italics"/>
                <a:sym typeface="Avenir Medium Italics"/>
              </a:rPr>
              <a:t> nights inc tax</a:t>
            </a:r>
          </a:p>
          <a:p>
            <a:pPr algn="r">
              <a:lnSpc>
                <a:spcPts val="1814"/>
              </a:lnSpc>
            </a:pPr>
            <a:r>
              <a:rPr lang="en-US" b="true" sz="1296" i="true">
                <a:solidFill>
                  <a:srgbClr val="505050"/>
                </a:solidFill>
                <a:latin typeface="Avenir Medium Italics"/>
                <a:ea typeface="Avenir Medium Italics"/>
                <a:cs typeface="Avenir Medium Italics"/>
                <a:sym typeface="Avenir Medium Italics"/>
              </a:rPr>
              <a:t>€ </a:t>
            </a:r>
            <a:r>
              <a:rPr lang="en-US" b="true" sz="1296" i="true">
                <a:solidFill>
                  <a:srgbClr val="CC0000"/>
                </a:solidFill>
                <a:latin typeface="Avenir Medium Italics"/>
                <a:ea typeface="Avenir Medium Italics"/>
                <a:cs typeface="Avenir Medium Italics"/>
                <a:sym typeface="Avenir Medium Italics"/>
              </a:rPr>
              <a:t>price</a:t>
            </a:r>
          </a:p>
          <a:p>
            <a:pPr algn="r">
              <a:lnSpc>
                <a:spcPts val="1575"/>
              </a:lnSpc>
            </a:pPr>
            <a:r>
              <a:rPr lang="en-US" b="true" sz="979" i="true">
                <a:solidFill>
                  <a:srgbClr val="505050"/>
                </a:solidFill>
                <a:latin typeface="Avenir Medium Italics"/>
                <a:ea typeface="Avenir Medium Italics"/>
                <a:cs typeface="Avenir Medium Italics"/>
                <a:sym typeface="Avenir Medium Italics"/>
              </a:rPr>
              <a:t>Average per night inc tax € </a:t>
            </a:r>
            <a:r>
              <a:rPr lang="en-US" b="true" sz="979" i="true">
                <a:solidFill>
                  <a:srgbClr val="CC0000"/>
                </a:solidFill>
                <a:latin typeface="Avenir Medium Italics"/>
                <a:ea typeface="Avenir Medium Italics"/>
                <a:cs typeface="Avenir Medium Italics"/>
                <a:sym typeface="Avenir Medium Italics"/>
              </a:rPr>
              <a:t>price</a:t>
            </a:r>
          </a:p>
        </p:txBody>
      </p:sp>
      <p:sp>
        <p:nvSpPr>
          <p:cNvPr name="TextBox 47" id="47"/>
          <p:cNvSpPr txBox="true"/>
          <p:nvPr/>
        </p:nvSpPr>
        <p:spPr>
          <a:xfrm rot="0">
            <a:off x="6473512" y="12813549"/>
            <a:ext cx="2078121" cy="800326"/>
          </a:xfrm>
          <a:prstGeom prst="rect">
            <a:avLst/>
          </a:prstGeom>
        </p:spPr>
        <p:txBody>
          <a:bodyPr anchor="t" rtlCol="false" tIns="0" lIns="0" bIns="0" rIns="0">
            <a:spAutoFit/>
          </a:bodyPr>
          <a:lstStyle/>
          <a:p>
            <a:pPr algn="r">
              <a:lnSpc>
                <a:spcPts val="1371"/>
              </a:lnSpc>
            </a:pPr>
            <a:r>
              <a:rPr lang="en-US" b="true" sz="979" i="true">
                <a:solidFill>
                  <a:srgbClr val="505050"/>
                </a:solidFill>
                <a:latin typeface="Avenir Medium Italics"/>
                <a:ea typeface="Avenir Medium Italics"/>
                <a:cs typeface="Avenir Medium Italics"/>
                <a:sym typeface="Avenir Medium Italics"/>
              </a:rPr>
              <a:t>Total for </a:t>
            </a:r>
            <a:r>
              <a:rPr lang="en-US" b="true" sz="979" i="true">
                <a:solidFill>
                  <a:srgbClr val="CC0000"/>
                </a:solidFill>
                <a:latin typeface="Avenir Medium Italics"/>
                <a:ea typeface="Avenir Medium Italics"/>
                <a:cs typeface="Avenir Medium Italics"/>
                <a:sym typeface="Avenir Medium Italics"/>
              </a:rPr>
              <a:t>x </a:t>
            </a:r>
            <a:r>
              <a:rPr lang="en-US" b="true" sz="979" i="true">
                <a:solidFill>
                  <a:srgbClr val="505050"/>
                </a:solidFill>
                <a:latin typeface="Avenir Medium Italics"/>
                <a:ea typeface="Avenir Medium Italics"/>
                <a:cs typeface="Avenir Medium Italics"/>
                <a:sym typeface="Avenir Medium Italics"/>
              </a:rPr>
              <a:t>nights inc tax</a:t>
            </a:r>
          </a:p>
          <a:p>
            <a:pPr algn="r">
              <a:lnSpc>
                <a:spcPts val="1814"/>
              </a:lnSpc>
            </a:pPr>
            <a:r>
              <a:rPr lang="en-US" b="true" sz="1296" i="true">
                <a:solidFill>
                  <a:srgbClr val="505050"/>
                </a:solidFill>
                <a:latin typeface="Avenir Medium Italics"/>
                <a:ea typeface="Avenir Medium Italics"/>
                <a:cs typeface="Avenir Medium Italics"/>
                <a:sym typeface="Avenir Medium Italics"/>
              </a:rPr>
              <a:t>€ </a:t>
            </a:r>
            <a:r>
              <a:rPr lang="en-US" b="true" sz="1296" i="true">
                <a:solidFill>
                  <a:srgbClr val="CC0000"/>
                </a:solidFill>
                <a:latin typeface="Avenir Medium Italics"/>
                <a:ea typeface="Avenir Medium Italics"/>
                <a:cs typeface="Avenir Medium Italics"/>
                <a:sym typeface="Avenir Medium Italics"/>
              </a:rPr>
              <a:t>price</a:t>
            </a:r>
          </a:p>
          <a:p>
            <a:pPr algn="r">
              <a:lnSpc>
                <a:spcPts val="1575"/>
              </a:lnSpc>
            </a:pPr>
            <a:r>
              <a:rPr lang="en-US" b="true" sz="979" i="true">
                <a:solidFill>
                  <a:srgbClr val="505050"/>
                </a:solidFill>
                <a:latin typeface="Avenir Medium Italics"/>
                <a:ea typeface="Avenir Medium Italics"/>
                <a:cs typeface="Avenir Medium Italics"/>
                <a:sym typeface="Avenir Medium Italics"/>
              </a:rPr>
              <a:t>Average per night inc tax </a:t>
            </a:r>
          </a:p>
          <a:p>
            <a:pPr algn="r">
              <a:lnSpc>
                <a:spcPts val="1575"/>
              </a:lnSpc>
            </a:pPr>
            <a:r>
              <a:rPr lang="en-US" b="true" sz="979" i="true">
                <a:solidFill>
                  <a:srgbClr val="505050"/>
                </a:solidFill>
                <a:latin typeface="Avenir Medium Italics"/>
                <a:ea typeface="Avenir Medium Italics"/>
                <a:cs typeface="Avenir Medium Italics"/>
                <a:sym typeface="Avenir Medium Italics"/>
              </a:rPr>
              <a:t>€ </a:t>
            </a:r>
            <a:r>
              <a:rPr lang="en-US" b="true" sz="979" i="true">
                <a:solidFill>
                  <a:srgbClr val="CC0000"/>
                </a:solidFill>
                <a:latin typeface="Avenir Medium Italics"/>
                <a:ea typeface="Avenir Medium Italics"/>
                <a:cs typeface="Avenir Medium Italics"/>
                <a:sym typeface="Avenir Medium Italics"/>
              </a:rPr>
              <a:t>price</a:t>
            </a:r>
          </a:p>
        </p:txBody>
      </p:sp>
      <p:sp>
        <p:nvSpPr>
          <p:cNvPr name="TextBox 48" id="48"/>
          <p:cNvSpPr txBox="true"/>
          <p:nvPr/>
        </p:nvSpPr>
        <p:spPr>
          <a:xfrm rot="0">
            <a:off x="1644460" y="8163519"/>
            <a:ext cx="1231433" cy="210782"/>
          </a:xfrm>
          <a:prstGeom prst="rect">
            <a:avLst/>
          </a:prstGeom>
        </p:spPr>
        <p:txBody>
          <a:bodyPr anchor="t" rtlCol="false" tIns="0" lIns="0" bIns="0" rIns="0">
            <a:spAutoFit/>
          </a:bodyPr>
          <a:lstStyle/>
          <a:p>
            <a:pPr algn="l">
              <a:lnSpc>
                <a:spcPts val="1592"/>
              </a:lnSpc>
            </a:pPr>
            <a:r>
              <a:rPr lang="en-US" b="true" sz="1137" i="true">
                <a:solidFill>
                  <a:srgbClr val="191919"/>
                </a:solidFill>
                <a:latin typeface="Avenir Medium Italics"/>
                <a:ea typeface="Avenir Medium Italics"/>
                <a:cs typeface="Avenir Medium Italics"/>
                <a:sym typeface="Avenir Medium Italics"/>
              </a:rPr>
              <a:t>Cancellation policy</a:t>
            </a:r>
          </a:p>
        </p:txBody>
      </p:sp>
      <p:sp>
        <p:nvSpPr>
          <p:cNvPr name="TextBox 49" id="49"/>
          <p:cNvSpPr txBox="true"/>
          <p:nvPr/>
        </p:nvSpPr>
        <p:spPr>
          <a:xfrm rot="0">
            <a:off x="1644460" y="13185137"/>
            <a:ext cx="1231433" cy="210782"/>
          </a:xfrm>
          <a:prstGeom prst="rect">
            <a:avLst/>
          </a:prstGeom>
        </p:spPr>
        <p:txBody>
          <a:bodyPr anchor="t" rtlCol="false" tIns="0" lIns="0" bIns="0" rIns="0">
            <a:spAutoFit/>
          </a:bodyPr>
          <a:lstStyle/>
          <a:p>
            <a:pPr algn="l">
              <a:lnSpc>
                <a:spcPts val="1592"/>
              </a:lnSpc>
            </a:pPr>
            <a:r>
              <a:rPr lang="en-US" b="true" sz="1137" i="true">
                <a:solidFill>
                  <a:srgbClr val="191919"/>
                </a:solidFill>
                <a:latin typeface="Avenir Medium Italics"/>
                <a:ea typeface="Avenir Medium Italics"/>
                <a:cs typeface="Avenir Medium Italics"/>
                <a:sym typeface="Avenir Medium Italics"/>
              </a:rPr>
              <a:t>Cancellation policy</a:t>
            </a:r>
          </a:p>
        </p:txBody>
      </p:sp>
      <p:sp>
        <p:nvSpPr>
          <p:cNvPr name="Freeform 50" id="50"/>
          <p:cNvSpPr/>
          <p:nvPr/>
        </p:nvSpPr>
        <p:spPr>
          <a:xfrm flipH="false" flipV="false" rot="0">
            <a:off x="8809372" y="2775213"/>
            <a:ext cx="756397" cy="756397"/>
          </a:xfrm>
          <a:custGeom>
            <a:avLst/>
            <a:gdLst/>
            <a:ahLst/>
            <a:cxnLst/>
            <a:rect r="r" b="b" t="t" l="l"/>
            <a:pathLst>
              <a:path h="756397" w="756397">
                <a:moveTo>
                  <a:pt x="0" y="0"/>
                </a:moveTo>
                <a:lnTo>
                  <a:pt x="756397" y="0"/>
                </a:lnTo>
                <a:lnTo>
                  <a:pt x="756397" y="756397"/>
                </a:lnTo>
                <a:lnTo>
                  <a:pt x="0" y="756397"/>
                </a:lnTo>
                <a:lnTo>
                  <a:pt x="0" y="0"/>
                </a:lnTo>
                <a:close/>
              </a:path>
            </a:pathLst>
          </a:custGeom>
          <a:blipFill>
            <a:blip r:embed="rId6"/>
            <a:stretch>
              <a:fillRect l="0" t="0" r="0" b="0"/>
            </a:stretch>
          </a:blipFill>
        </p:spPr>
      </p:sp>
      <p:grpSp>
        <p:nvGrpSpPr>
          <p:cNvPr name="Group 51" id="51"/>
          <p:cNvGrpSpPr/>
          <p:nvPr/>
        </p:nvGrpSpPr>
        <p:grpSpPr>
          <a:xfrm rot="0">
            <a:off x="-84048" y="15237194"/>
            <a:ext cx="10455084" cy="647136"/>
            <a:chOff x="0" y="0"/>
            <a:chExt cx="7899400" cy="488950"/>
          </a:xfrm>
        </p:grpSpPr>
        <p:sp>
          <p:nvSpPr>
            <p:cNvPr name="Freeform 52" id="52"/>
            <p:cNvSpPr/>
            <p:nvPr/>
          </p:nvSpPr>
          <p:spPr>
            <a:xfrm flipH="false" flipV="false" rot="0">
              <a:off x="63500" y="63500"/>
              <a:ext cx="7772400" cy="361950"/>
            </a:xfrm>
            <a:custGeom>
              <a:avLst/>
              <a:gdLst/>
              <a:ahLst/>
              <a:cxnLst/>
              <a:rect r="r" b="b" t="t" l="l"/>
              <a:pathLst>
                <a:path h="361950" w="7772400">
                  <a:moveTo>
                    <a:pt x="0" y="361950"/>
                  </a:moveTo>
                  <a:lnTo>
                    <a:pt x="7772400" y="361950"/>
                  </a:lnTo>
                  <a:lnTo>
                    <a:pt x="7772400" y="0"/>
                  </a:lnTo>
                  <a:lnTo>
                    <a:pt x="0" y="0"/>
                  </a:lnTo>
                  <a:close/>
                </a:path>
              </a:pathLst>
            </a:custGeom>
            <a:solidFill>
              <a:srgbClr val="FFFFFF"/>
            </a:solidFill>
          </p:spPr>
        </p:sp>
        <p:sp>
          <p:nvSpPr>
            <p:cNvPr name="Freeform 53" id="53"/>
            <p:cNvSpPr/>
            <p:nvPr/>
          </p:nvSpPr>
          <p:spPr>
            <a:xfrm flipH="false" flipV="false" rot="0">
              <a:off x="63500" y="63500"/>
              <a:ext cx="7772400" cy="4826"/>
            </a:xfrm>
            <a:custGeom>
              <a:avLst/>
              <a:gdLst/>
              <a:ahLst/>
              <a:cxnLst/>
              <a:rect r="r" b="b" t="t" l="l"/>
              <a:pathLst>
                <a:path h="4826" w="7772400">
                  <a:moveTo>
                    <a:pt x="0" y="0"/>
                  </a:moveTo>
                  <a:lnTo>
                    <a:pt x="7772400" y="0"/>
                  </a:lnTo>
                  <a:lnTo>
                    <a:pt x="7772400" y="4826"/>
                  </a:lnTo>
                  <a:lnTo>
                    <a:pt x="0" y="4826"/>
                  </a:lnTo>
                </a:path>
              </a:pathLst>
            </a:custGeom>
            <a:solidFill>
              <a:srgbClr val="191919"/>
            </a:solidFill>
          </p:spPr>
        </p:sp>
      </p:grpSp>
      <p:sp>
        <p:nvSpPr>
          <p:cNvPr name="TextBox 54" id="54"/>
          <p:cNvSpPr txBox="true"/>
          <p:nvPr/>
        </p:nvSpPr>
        <p:spPr>
          <a:xfrm rot="0">
            <a:off x="276085" y="15458677"/>
            <a:ext cx="3809909" cy="175121"/>
          </a:xfrm>
          <a:prstGeom prst="rect">
            <a:avLst/>
          </a:prstGeom>
        </p:spPr>
        <p:txBody>
          <a:bodyPr anchor="t" rtlCol="false" tIns="0" lIns="0" bIns="0" rIns="0">
            <a:spAutoFit/>
          </a:bodyPr>
          <a:lstStyle/>
          <a:p>
            <a:pPr algn="l">
              <a:lnSpc>
                <a:spcPts val="1260"/>
              </a:lnSpc>
            </a:pPr>
            <a:r>
              <a:rPr lang="en-US" b="true" sz="900">
                <a:solidFill>
                  <a:srgbClr val="505050"/>
                </a:solidFill>
                <a:latin typeface="Avenir Ultra-Bold"/>
                <a:ea typeface="Avenir Ultra-Bold"/>
                <a:cs typeface="Avenir Ultra-Bold"/>
                <a:sym typeface="Avenir Ultra-Bold"/>
              </a:rPr>
              <a:t>All prices listed are subject to availability and change, none are on hold.</a:t>
            </a:r>
          </a:p>
        </p:txBody>
      </p:sp>
      <p:sp>
        <p:nvSpPr>
          <p:cNvPr name="Freeform 55" id="55"/>
          <p:cNvSpPr/>
          <p:nvPr/>
        </p:nvSpPr>
        <p:spPr>
          <a:xfrm flipH="false" flipV="false" rot="0">
            <a:off x="4156808" y="16565541"/>
            <a:ext cx="1973384" cy="1973384"/>
          </a:xfrm>
          <a:custGeom>
            <a:avLst/>
            <a:gdLst/>
            <a:ahLst/>
            <a:cxnLst/>
            <a:rect r="r" b="b" t="t" l="l"/>
            <a:pathLst>
              <a:path h="1973384" w="1973384">
                <a:moveTo>
                  <a:pt x="0" y="0"/>
                </a:moveTo>
                <a:lnTo>
                  <a:pt x="1973384" y="0"/>
                </a:lnTo>
                <a:lnTo>
                  <a:pt x="1973384" y="1973383"/>
                </a:lnTo>
                <a:lnTo>
                  <a:pt x="0" y="1973383"/>
                </a:lnTo>
                <a:lnTo>
                  <a:pt x="0" y="0"/>
                </a:lnTo>
                <a:close/>
              </a:path>
            </a:pathLst>
          </a:custGeom>
          <a:blipFill>
            <a:blip r:embed="rId7"/>
            <a:stretch>
              <a:fillRect l="0" t="0" r="0" b="0"/>
            </a:stretch>
          </a:blipFill>
        </p:spPr>
      </p:sp>
      <p:grpSp>
        <p:nvGrpSpPr>
          <p:cNvPr name="Group 56" id="56"/>
          <p:cNvGrpSpPr/>
          <p:nvPr/>
        </p:nvGrpSpPr>
        <p:grpSpPr>
          <a:xfrm rot="0">
            <a:off x="1618162" y="12291088"/>
            <a:ext cx="3725156" cy="394717"/>
            <a:chOff x="0" y="0"/>
            <a:chExt cx="4966875" cy="526290"/>
          </a:xfrm>
        </p:grpSpPr>
        <p:grpSp>
          <p:nvGrpSpPr>
            <p:cNvPr name="Group 57" id="57"/>
            <p:cNvGrpSpPr/>
            <p:nvPr/>
          </p:nvGrpSpPr>
          <p:grpSpPr>
            <a:xfrm rot="0">
              <a:off x="0" y="44749"/>
              <a:ext cx="536551" cy="436791"/>
              <a:chOff x="0" y="0"/>
              <a:chExt cx="279400" cy="227457"/>
            </a:xfrm>
          </p:grpSpPr>
          <p:sp>
            <p:nvSpPr>
              <p:cNvPr name="Freeform 58" id="58"/>
              <p:cNvSpPr/>
              <p:nvPr/>
            </p:nvSpPr>
            <p:spPr>
              <a:xfrm flipH="false" flipV="false" rot="0">
                <a:off x="63500" y="63474"/>
                <a:ext cx="152272" cy="100481"/>
              </a:xfrm>
              <a:custGeom>
                <a:avLst/>
                <a:gdLst/>
                <a:ahLst/>
                <a:cxnLst/>
                <a:rect r="r" b="b" t="t" l="l"/>
                <a:pathLst>
                  <a:path h="100481" w="152272">
                    <a:moveTo>
                      <a:pt x="75056" y="100481"/>
                    </a:moveTo>
                    <a:cubicBezTo>
                      <a:pt x="48894" y="100481"/>
                      <a:pt x="23875" y="84098"/>
                      <a:pt x="635" y="51841"/>
                    </a:cubicBezTo>
                    <a:cubicBezTo>
                      <a:pt x="254" y="51333"/>
                      <a:pt x="0" y="50571"/>
                      <a:pt x="0" y="49936"/>
                    </a:cubicBezTo>
                    <a:cubicBezTo>
                      <a:pt x="0" y="49301"/>
                      <a:pt x="127" y="48539"/>
                      <a:pt x="508" y="48031"/>
                    </a:cubicBezTo>
                    <a:cubicBezTo>
                      <a:pt x="1778" y="46126"/>
                      <a:pt x="32003" y="1041"/>
                      <a:pt x="75691" y="25"/>
                    </a:cubicBezTo>
                    <a:cubicBezTo>
                      <a:pt x="102488" y="-737"/>
                      <a:pt x="128015" y="15519"/>
                      <a:pt x="151637" y="47904"/>
                    </a:cubicBezTo>
                    <a:cubicBezTo>
                      <a:pt x="152018" y="48412"/>
                      <a:pt x="152272" y="49047"/>
                      <a:pt x="152272" y="49809"/>
                    </a:cubicBezTo>
                    <a:cubicBezTo>
                      <a:pt x="152272" y="50571"/>
                      <a:pt x="152145" y="51206"/>
                      <a:pt x="151764" y="51714"/>
                    </a:cubicBezTo>
                    <a:cubicBezTo>
                      <a:pt x="150494" y="53619"/>
                      <a:pt x="120141" y="99465"/>
                      <a:pt x="76453" y="100481"/>
                    </a:cubicBezTo>
                    <a:cubicBezTo>
                      <a:pt x="75945" y="100481"/>
                      <a:pt x="75437" y="100481"/>
                      <a:pt x="74929" y="100481"/>
                    </a:cubicBezTo>
                    <a:close/>
                    <a:moveTo>
                      <a:pt x="7366" y="49809"/>
                    </a:moveTo>
                    <a:cubicBezTo>
                      <a:pt x="29336" y="79526"/>
                      <a:pt x="52577" y="94385"/>
                      <a:pt x="76326" y="93750"/>
                    </a:cubicBezTo>
                    <a:cubicBezTo>
                      <a:pt x="111759" y="92988"/>
                      <a:pt x="138810" y="58445"/>
                      <a:pt x="144906" y="49936"/>
                    </a:cubicBezTo>
                    <a:cubicBezTo>
                      <a:pt x="123062" y="20726"/>
                      <a:pt x="99694" y="6248"/>
                      <a:pt x="75818" y="6756"/>
                    </a:cubicBezTo>
                    <a:cubicBezTo>
                      <a:pt x="40385" y="7518"/>
                      <a:pt x="13461" y="41427"/>
                      <a:pt x="7239" y="49936"/>
                    </a:cubicBezTo>
                    <a:close/>
                  </a:path>
                </a:pathLst>
              </a:custGeom>
              <a:solidFill>
                <a:srgbClr val="505050"/>
              </a:solidFill>
            </p:spPr>
          </p:sp>
          <p:sp>
            <p:nvSpPr>
              <p:cNvPr name="Freeform 59" id="59"/>
              <p:cNvSpPr/>
              <p:nvPr/>
            </p:nvSpPr>
            <p:spPr>
              <a:xfrm flipH="false" flipV="false" rot="0">
                <a:off x="112521" y="86359"/>
                <a:ext cx="54483" cy="54736"/>
              </a:xfrm>
              <a:custGeom>
                <a:avLst/>
                <a:gdLst/>
                <a:ahLst/>
                <a:cxnLst/>
                <a:rect r="r" b="b" t="t" l="l"/>
                <a:pathLst>
                  <a:path h="54736" w="54483">
                    <a:moveTo>
                      <a:pt x="27178" y="54736"/>
                    </a:moveTo>
                    <a:cubicBezTo>
                      <a:pt x="21844" y="54736"/>
                      <a:pt x="16510" y="53085"/>
                      <a:pt x="12065" y="50164"/>
                    </a:cubicBezTo>
                    <a:cubicBezTo>
                      <a:pt x="7620" y="47243"/>
                      <a:pt x="4064" y="42925"/>
                      <a:pt x="2032" y="37845"/>
                    </a:cubicBezTo>
                    <a:cubicBezTo>
                      <a:pt x="0" y="32766"/>
                      <a:pt x="-508" y="27305"/>
                      <a:pt x="508" y="21971"/>
                    </a:cubicBezTo>
                    <a:cubicBezTo>
                      <a:pt x="1524" y="16637"/>
                      <a:pt x="4191" y="11811"/>
                      <a:pt x="8001" y="8001"/>
                    </a:cubicBezTo>
                    <a:cubicBezTo>
                      <a:pt x="11811" y="4191"/>
                      <a:pt x="16637" y="1524"/>
                      <a:pt x="21971" y="508"/>
                    </a:cubicBezTo>
                    <a:cubicBezTo>
                      <a:pt x="27305" y="-508"/>
                      <a:pt x="32766" y="0"/>
                      <a:pt x="37719" y="2032"/>
                    </a:cubicBezTo>
                    <a:cubicBezTo>
                      <a:pt x="42672" y="4064"/>
                      <a:pt x="46990" y="7620"/>
                      <a:pt x="49911" y="12065"/>
                    </a:cubicBezTo>
                    <a:cubicBezTo>
                      <a:pt x="52832" y="16510"/>
                      <a:pt x="54483" y="21844"/>
                      <a:pt x="54483" y="27305"/>
                    </a:cubicBezTo>
                    <a:cubicBezTo>
                      <a:pt x="54483" y="34544"/>
                      <a:pt x="51562" y="41528"/>
                      <a:pt x="46482" y="46608"/>
                    </a:cubicBezTo>
                    <a:cubicBezTo>
                      <a:pt x="41402" y="51688"/>
                      <a:pt x="34417" y="54609"/>
                      <a:pt x="27178" y="54609"/>
                    </a:cubicBezTo>
                    <a:close/>
                    <a:moveTo>
                      <a:pt x="27178" y="6477"/>
                    </a:moveTo>
                    <a:cubicBezTo>
                      <a:pt x="23114" y="6477"/>
                      <a:pt x="19177" y="7747"/>
                      <a:pt x="15748" y="10033"/>
                    </a:cubicBezTo>
                    <a:cubicBezTo>
                      <a:pt x="12319" y="12319"/>
                      <a:pt x="9652" y="15494"/>
                      <a:pt x="8128" y="19304"/>
                    </a:cubicBezTo>
                    <a:cubicBezTo>
                      <a:pt x="6604" y="23114"/>
                      <a:pt x="6223" y="27305"/>
                      <a:pt x="6985" y="31242"/>
                    </a:cubicBezTo>
                    <a:cubicBezTo>
                      <a:pt x="7747" y="35179"/>
                      <a:pt x="9779" y="38988"/>
                      <a:pt x="12573" y="41782"/>
                    </a:cubicBezTo>
                    <a:cubicBezTo>
                      <a:pt x="15367" y="44576"/>
                      <a:pt x="19177" y="46608"/>
                      <a:pt x="23114" y="47497"/>
                    </a:cubicBezTo>
                    <a:cubicBezTo>
                      <a:pt x="27051" y="48386"/>
                      <a:pt x="31242" y="47878"/>
                      <a:pt x="35052" y="46354"/>
                    </a:cubicBezTo>
                    <a:cubicBezTo>
                      <a:pt x="38862" y="44830"/>
                      <a:pt x="42037" y="42163"/>
                      <a:pt x="44323" y="38734"/>
                    </a:cubicBezTo>
                    <a:cubicBezTo>
                      <a:pt x="46609" y="35306"/>
                      <a:pt x="47752" y="31369"/>
                      <a:pt x="47752" y="27178"/>
                    </a:cubicBezTo>
                    <a:cubicBezTo>
                      <a:pt x="47752" y="21717"/>
                      <a:pt x="45593" y="16383"/>
                      <a:pt x="41656" y="12573"/>
                    </a:cubicBezTo>
                    <a:cubicBezTo>
                      <a:pt x="37719" y="8763"/>
                      <a:pt x="32512" y="6477"/>
                      <a:pt x="27051" y="6477"/>
                    </a:cubicBezTo>
                    <a:close/>
                  </a:path>
                </a:pathLst>
              </a:custGeom>
              <a:solidFill>
                <a:srgbClr val="505050"/>
              </a:solidFill>
            </p:spPr>
          </p:sp>
        </p:grpSp>
        <p:sp>
          <p:nvSpPr>
            <p:cNvPr name="TextBox 60" id="60"/>
            <p:cNvSpPr txBox="true"/>
            <p:nvPr/>
          </p:nvSpPr>
          <p:spPr>
            <a:xfrm rot="0">
              <a:off x="519778" y="121119"/>
              <a:ext cx="1042789" cy="265043"/>
            </a:xfrm>
            <a:prstGeom prst="rect">
              <a:avLst/>
            </a:prstGeom>
          </p:spPr>
          <p:txBody>
            <a:bodyPr anchor="t" rtlCol="false" tIns="0" lIns="0" bIns="0" rIns="0">
              <a:spAutoFit/>
            </a:bodyPr>
            <a:lstStyle/>
            <a:p>
              <a:pPr algn="l">
                <a:lnSpc>
                  <a:spcPts val="1512"/>
                </a:lnSpc>
              </a:pPr>
              <a:r>
                <a:rPr lang="en-US" b="true" sz="1080">
                  <a:solidFill>
                    <a:srgbClr val="CC0000"/>
                  </a:solidFill>
                  <a:latin typeface="Avenir Ultra-Bold"/>
                  <a:ea typeface="Avenir Ultra-Bold"/>
                  <a:cs typeface="Avenir Ultra-Bold"/>
                  <a:sym typeface="Avenir Ultra-Bold"/>
                </a:rPr>
                <a:t>Room View </a:t>
              </a:r>
            </a:p>
          </p:txBody>
        </p:sp>
        <p:grpSp>
          <p:nvGrpSpPr>
            <p:cNvPr name="Group 61" id="61"/>
            <p:cNvGrpSpPr/>
            <p:nvPr/>
          </p:nvGrpSpPr>
          <p:grpSpPr>
            <a:xfrm rot="0">
              <a:off x="1668294" y="125422"/>
              <a:ext cx="292657" cy="282414"/>
              <a:chOff x="0" y="0"/>
              <a:chExt cx="152400" cy="147066"/>
            </a:xfrm>
          </p:grpSpPr>
          <p:sp>
            <p:nvSpPr>
              <p:cNvPr name="Freeform 62" id="62"/>
              <p:cNvSpPr/>
              <p:nvPr/>
            </p:nvSpPr>
            <p:spPr>
              <a:xfrm flipH="false" flipV="false" rot="0">
                <a:off x="0" y="0"/>
                <a:ext cx="152400" cy="147066"/>
              </a:xfrm>
              <a:custGeom>
                <a:avLst/>
                <a:gdLst/>
                <a:ahLst/>
                <a:cxnLst/>
                <a:rect r="r" b="b" t="t" l="l"/>
                <a:pathLst>
                  <a:path h="147066" w="152400">
                    <a:moveTo>
                      <a:pt x="0" y="0"/>
                    </a:moveTo>
                    <a:lnTo>
                      <a:pt x="0" y="147066"/>
                    </a:lnTo>
                    <a:lnTo>
                      <a:pt x="152400" y="147066"/>
                    </a:lnTo>
                    <a:lnTo>
                      <a:pt x="152400" y="0"/>
                    </a:lnTo>
                    <a:lnTo>
                      <a:pt x="130175" y="0"/>
                    </a:lnTo>
                    <a:lnTo>
                      <a:pt x="129540" y="508"/>
                    </a:lnTo>
                    <a:lnTo>
                      <a:pt x="93726" y="27813"/>
                    </a:lnTo>
                    <a:lnTo>
                      <a:pt x="96647" y="31496"/>
                    </a:lnTo>
                    <a:lnTo>
                      <a:pt x="131826" y="4572"/>
                    </a:lnTo>
                    <a:lnTo>
                      <a:pt x="147701" y="4572"/>
                    </a:lnTo>
                    <a:lnTo>
                      <a:pt x="147701" y="78105"/>
                    </a:lnTo>
                    <a:lnTo>
                      <a:pt x="81026" y="78105"/>
                    </a:lnTo>
                    <a:lnTo>
                      <a:pt x="81026" y="110363"/>
                    </a:lnTo>
                    <a:lnTo>
                      <a:pt x="4826" y="110363"/>
                    </a:lnTo>
                    <a:lnTo>
                      <a:pt x="4826" y="68961"/>
                    </a:lnTo>
                    <a:lnTo>
                      <a:pt x="71374" y="68961"/>
                    </a:lnTo>
                    <a:lnTo>
                      <a:pt x="71374" y="4572"/>
                    </a:lnTo>
                    <a:lnTo>
                      <a:pt x="95250" y="4572"/>
                    </a:lnTo>
                    <a:lnTo>
                      <a:pt x="95250" y="0"/>
                    </a:lnTo>
                    <a:lnTo>
                      <a:pt x="0" y="0"/>
                    </a:lnTo>
                    <a:close/>
                    <a:moveTo>
                      <a:pt x="4826" y="4572"/>
                    </a:moveTo>
                    <a:lnTo>
                      <a:pt x="66675" y="4572"/>
                    </a:lnTo>
                    <a:lnTo>
                      <a:pt x="66675" y="64262"/>
                    </a:lnTo>
                    <a:lnTo>
                      <a:pt x="4826" y="64262"/>
                    </a:lnTo>
                    <a:lnTo>
                      <a:pt x="4826" y="4572"/>
                    </a:lnTo>
                    <a:close/>
                    <a:moveTo>
                      <a:pt x="85725" y="82677"/>
                    </a:moveTo>
                    <a:lnTo>
                      <a:pt x="147701" y="82677"/>
                    </a:lnTo>
                    <a:lnTo>
                      <a:pt x="147701" y="142367"/>
                    </a:lnTo>
                    <a:lnTo>
                      <a:pt x="85725" y="142367"/>
                    </a:lnTo>
                    <a:lnTo>
                      <a:pt x="85725" y="82677"/>
                    </a:lnTo>
                    <a:close/>
                    <a:moveTo>
                      <a:pt x="4826" y="114935"/>
                    </a:moveTo>
                    <a:lnTo>
                      <a:pt x="81026" y="114935"/>
                    </a:lnTo>
                    <a:lnTo>
                      <a:pt x="81026" y="142494"/>
                    </a:lnTo>
                    <a:lnTo>
                      <a:pt x="4826" y="142494"/>
                    </a:lnTo>
                    <a:lnTo>
                      <a:pt x="4826" y="114935"/>
                    </a:lnTo>
                    <a:close/>
                  </a:path>
                </a:pathLst>
              </a:custGeom>
              <a:solidFill>
                <a:srgbClr val="505050"/>
              </a:solidFill>
            </p:spPr>
          </p:sp>
        </p:grpSp>
        <p:grpSp>
          <p:nvGrpSpPr>
            <p:cNvPr name="Group 63" id="63"/>
            <p:cNvGrpSpPr/>
            <p:nvPr/>
          </p:nvGrpSpPr>
          <p:grpSpPr>
            <a:xfrm rot="0">
              <a:off x="3077842" y="0"/>
              <a:ext cx="536533" cy="526290"/>
              <a:chOff x="0" y="0"/>
              <a:chExt cx="279400" cy="274066"/>
            </a:xfrm>
          </p:grpSpPr>
          <p:sp>
            <p:nvSpPr>
              <p:cNvPr name="Freeform 64" id="64"/>
              <p:cNvSpPr/>
              <p:nvPr/>
            </p:nvSpPr>
            <p:spPr>
              <a:xfrm flipH="false" flipV="false" rot="0">
                <a:off x="63500" y="63500"/>
                <a:ext cx="152400" cy="147066"/>
              </a:xfrm>
              <a:custGeom>
                <a:avLst/>
                <a:gdLst/>
                <a:ahLst/>
                <a:cxnLst/>
                <a:rect r="r" b="b" t="t" l="l"/>
                <a:pathLst>
                  <a:path h="147066" w="152400">
                    <a:moveTo>
                      <a:pt x="152400" y="138049"/>
                    </a:moveTo>
                    <a:lnTo>
                      <a:pt x="152400" y="1778"/>
                    </a:lnTo>
                    <a:cubicBezTo>
                      <a:pt x="152400" y="762"/>
                      <a:pt x="151384" y="0"/>
                      <a:pt x="149987" y="0"/>
                    </a:cubicBezTo>
                    <a:lnTo>
                      <a:pt x="2413" y="0"/>
                    </a:lnTo>
                    <a:cubicBezTo>
                      <a:pt x="1143" y="0"/>
                      <a:pt x="0" y="762"/>
                      <a:pt x="0" y="1778"/>
                    </a:cubicBezTo>
                    <a:lnTo>
                      <a:pt x="0" y="138049"/>
                    </a:lnTo>
                    <a:cubicBezTo>
                      <a:pt x="0" y="143002"/>
                      <a:pt x="5207" y="147066"/>
                      <a:pt x="11684" y="147066"/>
                    </a:cubicBezTo>
                    <a:lnTo>
                      <a:pt x="140716" y="147066"/>
                    </a:lnTo>
                    <a:cubicBezTo>
                      <a:pt x="147193" y="147066"/>
                      <a:pt x="152400" y="143002"/>
                      <a:pt x="152400" y="138049"/>
                    </a:cubicBezTo>
                    <a:close/>
                    <a:moveTo>
                      <a:pt x="4826" y="50292"/>
                    </a:moveTo>
                    <a:lnTo>
                      <a:pt x="147574" y="50292"/>
                    </a:lnTo>
                    <a:lnTo>
                      <a:pt x="147574" y="65405"/>
                    </a:lnTo>
                    <a:lnTo>
                      <a:pt x="4826" y="65405"/>
                    </a:lnTo>
                    <a:lnTo>
                      <a:pt x="4826" y="50292"/>
                    </a:lnTo>
                    <a:close/>
                    <a:moveTo>
                      <a:pt x="147574" y="3683"/>
                    </a:moveTo>
                    <a:lnTo>
                      <a:pt x="147574" y="46609"/>
                    </a:lnTo>
                    <a:lnTo>
                      <a:pt x="4826" y="46609"/>
                    </a:lnTo>
                    <a:lnTo>
                      <a:pt x="4826" y="3683"/>
                    </a:lnTo>
                    <a:lnTo>
                      <a:pt x="147574" y="3683"/>
                    </a:lnTo>
                    <a:close/>
                    <a:moveTo>
                      <a:pt x="4826" y="138049"/>
                    </a:moveTo>
                    <a:lnTo>
                      <a:pt x="4826" y="69088"/>
                    </a:lnTo>
                    <a:lnTo>
                      <a:pt x="147574" y="69088"/>
                    </a:lnTo>
                    <a:lnTo>
                      <a:pt x="147574" y="138049"/>
                    </a:lnTo>
                    <a:cubicBezTo>
                      <a:pt x="147574" y="140970"/>
                      <a:pt x="144526" y="143383"/>
                      <a:pt x="140716" y="143383"/>
                    </a:cubicBezTo>
                    <a:lnTo>
                      <a:pt x="11684" y="143383"/>
                    </a:lnTo>
                    <a:cubicBezTo>
                      <a:pt x="7874" y="143383"/>
                      <a:pt x="4826" y="140970"/>
                      <a:pt x="4826" y="138049"/>
                    </a:cubicBezTo>
                    <a:close/>
                  </a:path>
                </a:pathLst>
              </a:custGeom>
              <a:solidFill>
                <a:srgbClr val="505050"/>
              </a:solidFill>
            </p:spPr>
          </p:sp>
          <p:sp>
            <p:nvSpPr>
              <p:cNvPr name="Freeform 65" id="65"/>
              <p:cNvSpPr/>
              <p:nvPr/>
            </p:nvSpPr>
            <p:spPr>
              <a:xfrm flipH="false" flipV="false" rot="0">
                <a:off x="81407" y="71374"/>
                <a:ext cx="53340" cy="34925"/>
              </a:xfrm>
              <a:custGeom>
                <a:avLst/>
                <a:gdLst/>
                <a:ahLst/>
                <a:cxnLst/>
                <a:rect r="r" b="b" t="t" l="l"/>
                <a:pathLst>
                  <a:path h="34925" w="53340">
                    <a:moveTo>
                      <a:pt x="12065" y="34925"/>
                    </a:moveTo>
                    <a:lnTo>
                      <a:pt x="41275" y="34925"/>
                    </a:lnTo>
                    <a:cubicBezTo>
                      <a:pt x="47879" y="34925"/>
                      <a:pt x="53340" y="29718"/>
                      <a:pt x="53340" y="23241"/>
                    </a:cubicBezTo>
                    <a:lnTo>
                      <a:pt x="53340" y="11684"/>
                    </a:lnTo>
                    <a:cubicBezTo>
                      <a:pt x="53340" y="5207"/>
                      <a:pt x="47879" y="0"/>
                      <a:pt x="41275" y="0"/>
                    </a:cubicBezTo>
                    <a:lnTo>
                      <a:pt x="12065" y="0"/>
                    </a:lnTo>
                    <a:cubicBezTo>
                      <a:pt x="5461" y="0"/>
                      <a:pt x="0" y="5207"/>
                      <a:pt x="0" y="11684"/>
                    </a:cubicBezTo>
                    <a:lnTo>
                      <a:pt x="0" y="23241"/>
                    </a:lnTo>
                    <a:cubicBezTo>
                      <a:pt x="0" y="29718"/>
                      <a:pt x="5461" y="34925"/>
                      <a:pt x="12065" y="34925"/>
                    </a:cubicBezTo>
                    <a:close/>
                    <a:moveTo>
                      <a:pt x="4826" y="11684"/>
                    </a:moveTo>
                    <a:cubicBezTo>
                      <a:pt x="4826" y="7747"/>
                      <a:pt x="8128" y="4699"/>
                      <a:pt x="12065" y="4699"/>
                    </a:cubicBezTo>
                    <a:lnTo>
                      <a:pt x="41275" y="4699"/>
                    </a:lnTo>
                    <a:cubicBezTo>
                      <a:pt x="45339" y="4699"/>
                      <a:pt x="48514" y="7874"/>
                      <a:pt x="48514" y="11684"/>
                    </a:cubicBezTo>
                    <a:lnTo>
                      <a:pt x="48514" y="23241"/>
                    </a:lnTo>
                    <a:cubicBezTo>
                      <a:pt x="48514" y="27178"/>
                      <a:pt x="45212" y="30226"/>
                      <a:pt x="41275" y="30226"/>
                    </a:cubicBezTo>
                    <a:lnTo>
                      <a:pt x="12065" y="30226"/>
                    </a:lnTo>
                    <a:cubicBezTo>
                      <a:pt x="8001" y="30226"/>
                      <a:pt x="4826" y="27051"/>
                      <a:pt x="4826" y="23241"/>
                    </a:cubicBezTo>
                    <a:lnTo>
                      <a:pt x="4826" y="11684"/>
                    </a:lnTo>
                    <a:close/>
                  </a:path>
                </a:pathLst>
              </a:custGeom>
              <a:solidFill>
                <a:srgbClr val="505050"/>
              </a:solidFill>
            </p:spPr>
          </p:sp>
          <p:sp>
            <p:nvSpPr>
              <p:cNvPr name="Freeform 66" id="66"/>
              <p:cNvSpPr/>
              <p:nvPr/>
            </p:nvSpPr>
            <p:spPr>
              <a:xfrm flipH="false" flipV="false" rot="0">
                <a:off x="144653" y="71374"/>
                <a:ext cx="53213" cy="34925"/>
              </a:xfrm>
              <a:custGeom>
                <a:avLst/>
                <a:gdLst/>
                <a:ahLst/>
                <a:cxnLst/>
                <a:rect r="r" b="b" t="t" l="l"/>
                <a:pathLst>
                  <a:path h="34925" w="53213">
                    <a:moveTo>
                      <a:pt x="12065" y="34925"/>
                    </a:moveTo>
                    <a:lnTo>
                      <a:pt x="41148" y="34925"/>
                    </a:lnTo>
                    <a:cubicBezTo>
                      <a:pt x="47752" y="34925"/>
                      <a:pt x="53213" y="29718"/>
                      <a:pt x="53213" y="23241"/>
                    </a:cubicBezTo>
                    <a:lnTo>
                      <a:pt x="53213" y="11684"/>
                    </a:lnTo>
                    <a:cubicBezTo>
                      <a:pt x="53213" y="5207"/>
                      <a:pt x="47752" y="0"/>
                      <a:pt x="41148" y="0"/>
                    </a:cubicBezTo>
                    <a:lnTo>
                      <a:pt x="12065" y="0"/>
                    </a:lnTo>
                    <a:cubicBezTo>
                      <a:pt x="5461" y="0"/>
                      <a:pt x="0" y="5207"/>
                      <a:pt x="0" y="11684"/>
                    </a:cubicBezTo>
                    <a:lnTo>
                      <a:pt x="0" y="23241"/>
                    </a:lnTo>
                    <a:cubicBezTo>
                      <a:pt x="0" y="29718"/>
                      <a:pt x="5461" y="34925"/>
                      <a:pt x="12065" y="34925"/>
                    </a:cubicBezTo>
                    <a:close/>
                    <a:moveTo>
                      <a:pt x="4826" y="11684"/>
                    </a:moveTo>
                    <a:cubicBezTo>
                      <a:pt x="4826" y="7747"/>
                      <a:pt x="8128" y="4699"/>
                      <a:pt x="12065" y="4699"/>
                    </a:cubicBezTo>
                    <a:lnTo>
                      <a:pt x="41148" y="4699"/>
                    </a:lnTo>
                    <a:cubicBezTo>
                      <a:pt x="45212" y="4699"/>
                      <a:pt x="48387" y="7874"/>
                      <a:pt x="48387" y="11684"/>
                    </a:cubicBezTo>
                    <a:lnTo>
                      <a:pt x="48387" y="23241"/>
                    </a:lnTo>
                    <a:cubicBezTo>
                      <a:pt x="48387" y="27178"/>
                      <a:pt x="45085" y="30226"/>
                      <a:pt x="41148" y="30226"/>
                    </a:cubicBezTo>
                    <a:lnTo>
                      <a:pt x="12065" y="30226"/>
                    </a:lnTo>
                    <a:cubicBezTo>
                      <a:pt x="8001" y="30226"/>
                      <a:pt x="4826" y="27051"/>
                      <a:pt x="4826" y="23241"/>
                    </a:cubicBezTo>
                    <a:lnTo>
                      <a:pt x="4826" y="11684"/>
                    </a:lnTo>
                    <a:close/>
                  </a:path>
                </a:pathLst>
              </a:custGeom>
              <a:solidFill>
                <a:srgbClr val="505050"/>
              </a:solidFill>
            </p:spPr>
          </p:sp>
        </p:grpSp>
        <p:sp>
          <p:nvSpPr>
            <p:cNvPr name="TextBox 67" id="67"/>
            <p:cNvSpPr txBox="true"/>
            <p:nvPr/>
          </p:nvSpPr>
          <p:spPr>
            <a:xfrm rot="0">
              <a:off x="2066107" y="125793"/>
              <a:ext cx="862539" cy="265043"/>
            </a:xfrm>
            <a:prstGeom prst="rect">
              <a:avLst/>
            </a:prstGeom>
          </p:spPr>
          <p:txBody>
            <a:bodyPr anchor="t" rtlCol="false" tIns="0" lIns="0" bIns="0" rIns="0">
              <a:spAutoFit/>
            </a:bodyPr>
            <a:lstStyle/>
            <a:p>
              <a:pPr algn="l">
                <a:lnSpc>
                  <a:spcPts val="1512"/>
                </a:lnSpc>
              </a:pPr>
              <a:r>
                <a:rPr lang="en-US" b="true" sz="1080">
                  <a:solidFill>
                    <a:srgbClr val="CC0000"/>
                  </a:solidFill>
                  <a:latin typeface="Avenir Ultra-Bold"/>
                  <a:ea typeface="Avenir Ultra-Bold"/>
                  <a:cs typeface="Avenir Ultra-Bold"/>
                  <a:sym typeface="Avenir Ultra-Bold"/>
                </a:rPr>
                <a:t>Size </a:t>
              </a:r>
              <a:r>
                <a:rPr lang="en-US" b="true" sz="1080">
                  <a:solidFill>
                    <a:srgbClr val="CC0000"/>
                  </a:solidFill>
                  <a:latin typeface="Avenir Ultra-Bold"/>
                  <a:ea typeface="Avenir Ultra-Bold"/>
                  <a:cs typeface="Avenir Ultra-Bold"/>
                  <a:sym typeface="Avenir Ultra-Bold"/>
                </a:rPr>
                <a:t>m²</a:t>
              </a:r>
            </a:p>
          </p:txBody>
        </p:sp>
        <p:sp>
          <p:nvSpPr>
            <p:cNvPr name="TextBox 68" id="68"/>
            <p:cNvSpPr txBox="true"/>
            <p:nvPr/>
          </p:nvSpPr>
          <p:spPr>
            <a:xfrm rot="0">
              <a:off x="3597601" y="125793"/>
              <a:ext cx="1369273" cy="265043"/>
            </a:xfrm>
            <a:prstGeom prst="rect">
              <a:avLst/>
            </a:prstGeom>
          </p:spPr>
          <p:txBody>
            <a:bodyPr anchor="t" rtlCol="false" tIns="0" lIns="0" bIns="0" rIns="0">
              <a:spAutoFit/>
            </a:bodyPr>
            <a:lstStyle/>
            <a:p>
              <a:pPr algn="l">
                <a:lnSpc>
                  <a:spcPts val="1512"/>
                </a:lnSpc>
              </a:pPr>
              <a:r>
                <a:rPr lang="en-US" b="true" sz="1080">
                  <a:solidFill>
                    <a:srgbClr val="CC0000"/>
                  </a:solidFill>
                  <a:latin typeface="Avenir Ultra-Bold"/>
                  <a:ea typeface="Avenir Ultra-Bold"/>
                  <a:cs typeface="Avenir Ultra-Bold"/>
                  <a:sym typeface="Avenir Ultra-Bold"/>
                </a:rPr>
                <a:t>King / Twin</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611498" y="7782647"/>
            <a:ext cx="9258300" cy="0"/>
          </a:xfrm>
          <a:prstGeom prst="line">
            <a:avLst/>
          </a:prstGeom>
          <a:ln cap="flat" w="38100">
            <a:solidFill>
              <a:srgbClr val="131F5B"/>
            </a:solidFill>
            <a:prstDash val="solid"/>
            <a:headEnd type="none" len="sm" w="sm"/>
            <a:tailEnd type="none" len="sm" w="sm"/>
          </a:ln>
        </p:spPr>
      </p:sp>
      <p:sp>
        <p:nvSpPr>
          <p:cNvPr name="AutoShape 3" id="3"/>
          <p:cNvSpPr/>
          <p:nvPr/>
        </p:nvSpPr>
        <p:spPr>
          <a:xfrm flipH="true">
            <a:off x="617837" y="16944085"/>
            <a:ext cx="9258300" cy="0"/>
          </a:xfrm>
          <a:prstGeom prst="line">
            <a:avLst/>
          </a:prstGeom>
          <a:ln cap="flat" w="38100">
            <a:solidFill>
              <a:srgbClr val="131F5B"/>
            </a:solidFill>
            <a:prstDash val="solid"/>
            <a:headEnd type="none" len="sm" w="sm"/>
            <a:tailEnd type="none" len="sm" w="sm"/>
          </a:ln>
        </p:spPr>
      </p:sp>
      <p:grpSp>
        <p:nvGrpSpPr>
          <p:cNvPr name="Group 4" id="4"/>
          <p:cNvGrpSpPr/>
          <p:nvPr/>
        </p:nvGrpSpPr>
        <p:grpSpPr>
          <a:xfrm rot="0">
            <a:off x="886480" y="2493717"/>
            <a:ext cx="8514040" cy="4145401"/>
            <a:chOff x="0" y="0"/>
            <a:chExt cx="24608481" cy="11981624"/>
          </a:xfrm>
        </p:grpSpPr>
        <p:sp>
          <p:nvSpPr>
            <p:cNvPr name="Freeform 5" id="5"/>
            <p:cNvSpPr/>
            <p:nvPr/>
          </p:nvSpPr>
          <p:spPr>
            <a:xfrm flipH="false" flipV="false" rot="0">
              <a:off x="0" y="0"/>
              <a:ext cx="24608481" cy="11981624"/>
            </a:xfrm>
            <a:custGeom>
              <a:avLst/>
              <a:gdLst/>
              <a:ahLst/>
              <a:cxnLst/>
              <a:rect r="r" b="b" t="t" l="l"/>
              <a:pathLst>
                <a:path h="11981624" w="24608481">
                  <a:moveTo>
                    <a:pt x="24608481" y="287329"/>
                  </a:moveTo>
                  <a:lnTo>
                    <a:pt x="24608481" y="11694295"/>
                  </a:lnTo>
                  <a:cubicBezTo>
                    <a:pt x="24608481" y="11853044"/>
                    <a:pt x="24424022" y="11981624"/>
                    <a:pt x="24196280" y="11981624"/>
                  </a:cubicBezTo>
                  <a:lnTo>
                    <a:pt x="412202" y="11981624"/>
                  </a:lnTo>
                  <a:cubicBezTo>
                    <a:pt x="184461" y="11981624"/>
                    <a:pt x="0" y="11853044"/>
                    <a:pt x="0" y="11694295"/>
                  </a:cubicBezTo>
                  <a:lnTo>
                    <a:pt x="0" y="287329"/>
                  </a:lnTo>
                  <a:cubicBezTo>
                    <a:pt x="0" y="128580"/>
                    <a:pt x="184461" y="0"/>
                    <a:pt x="412202" y="0"/>
                  </a:cubicBezTo>
                  <a:lnTo>
                    <a:pt x="24196280" y="0"/>
                  </a:lnTo>
                  <a:cubicBezTo>
                    <a:pt x="24424022" y="0"/>
                    <a:pt x="24608481" y="128580"/>
                    <a:pt x="24608481" y="287329"/>
                  </a:cubicBezTo>
                  <a:close/>
                </a:path>
              </a:pathLst>
            </a:custGeom>
            <a:blipFill>
              <a:blip r:embed="rId2"/>
              <a:stretch>
                <a:fillRect l="-24413" t="0" r="13966" b="11599"/>
              </a:stretch>
            </a:blipFill>
          </p:spPr>
        </p:sp>
      </p:grpSp>
      <p:sp>
        <p:nvSpPr>
          <p:cNvPr name="TextBox 6" id="6"/>
          <p:cNvSpPr txBox="true"/>
          <p:nvPr/>
        </p:nvSpPr>
        <p:spPr>
          <a:xfrm rot="0">
            <a:off x="1125848" y="8146395"/>
            <a:ext cx="8229600" cy="613283"/>
          </a:xfrm>
          <a:prstGeom prst="rect">
            <a:avLst/>
          </a:prstGeom>
        </p:spPr>
        <p:txBody>
          <a:bodyPr anchor="t" rtlCol="false" tIns="0" lIns="0" bIns="0" rIns="0">
            <a:spAutoFit/>
          </a:bodyPr>
          <a:lstStyle/>
          <a:p>
            <a:pPr algn="l">
              <a:lnSpc>
                <a:spcPts val="2701"/>
              </a:lnSpc>
            </a:pPr>
            <a:r>
              <a:rPr lang="en-US" sz="1929" spc="192" b="true">
                <a:solidFill>
                  <a:srgbClr val="CC0000"/>
                </a:solidFill>
                <a:latin typeface="Montserrat Bold"/>
                <a:ea typeface="Montserrat Bold"/>
                <a:cs typeface="Montserrat Bold"/>
                <a:sym typeface="Montserrat Bold"/>
              </a:rPr>
              <a:t>Accommodation Name</a:t>
            </a:r>
          </a:p>
          <a:p>
            <a:pPr algn="l">
              <a:lnSpc>
                <a:spcPts val="2142"/>
              </a:lnSpc>
              <a:spcBef>
                <a:spcPct val="0"/>
              </a:spcBef>
            </a:pPr>
            <a:r>
              <a:rPr lang="en-US" sz="1530" spc="153">
                <a:solidFill>
                  <a:srgbClr val="CC0000"/>
                </a:solidFill>
                <a:latin typeface="Montserrat"/>
                <a:ea typeface="Montserrat"/>
                <a:cs typeface="Montserrat"/>
                <a:sym typeface="Montserrat"/>
              </a:rPr>
              <a:t>Location</a:t>
            </a:r>
          </a:p>
        </p:txBody>
      </p:sp>
      <p:sp>
        <p:nvSpPr>
          <p:cNvPr name="TextBox 7" id="7"/>
          <p:cNvSpPr txBox="true"/>
          <p:nvPr/>
        </p:nvSpPr>
        <p:spPr>
          <a:xfrm rot="0">
            <a:off x="1125848" y="9113901"/>
            <a:ext cx="8229600" cy="2666347"/>
          </a:xfrm>
          <a:prstGeom prst="rect">
            <a:avLst/>
          </a:prstGeom>
        </p:spPr>
        <p:txBody>
          <a:bodyPr anchor="t" rtlCol="false" tIns="0" lIns="0" bIns="0" rIns="0">
            <a:spAutoFit/>
          </a:bodyPr>
          <a:lstStyle/>
          <a:p>
            <a:pPr algn="l">
              <a:lnSpc>
                <a:spcPts val="2136"/>
              </a:lnSpc>
            </a:pPr>
            <a:r>
              <a:rPr lang="en-US" b="true" sz="1525" spc="96">
                <a:solidFill>
                  <a:srgbClr val="131F5B"/>
                </a:solidFill>
                <a:latin typeface="Montserrat Bold"/>
                <a:ea typeface="Montserrat Bold"/>
                <a:cs typeface="Montserrat Bold"/>
                <a:sym typeface="Montserrat Bold"/>
              </a:rPr>
              <a:t>Area Overview</a:t>
            </a:r>
          </a:p>
          <a:p>
            <a:pPr algn="l">
              <a:lnSpc>
                <a:spcPts val="2136"/>
              </a:lnSpc>
            </a:pPr>
          </a:p>
          <a:p>
            <a:pPr algn="l">
              <a:lnSpc>
                <a:spcPts val="2136"/>
              </a:lnSpc>
            </a:pPr>
            <a:r>
              <a:rPr lang="en-US" sz="1525" spc="96">
                <a:solidFill>
                  <a:srgbClr val="CC0000"/>
                </a:solidFill>
                <a:latin typeface="Montserrat"/>
                <a:ea typeface="Montserrat"/>
                <a:cs typeface="Montserrat"/>
                <a:sym typeface="Montserrat"/>
              </a:rPr>
              <a:t>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a:t>
            </a:r>
          </a:p>
          <a:p>
            <a:pPr algn="l">
              <a:lnSpc>
                <a:spcPts val="2136"/>
              </a:lnSpc>
            </a:pPr>
          </a:p>
          <a:p>
            <a:pPr algn="l">
              <a:lnSpc>
                <a:spcPts val="2136"/>
              </a:lnSpc>
            </a:pPr>
          </a:p>
        </p:txBody>
      </p:sp>
      <p:sp>
        <p:nvSpPr>
          <p:cNvPr name="TextBox 8" id="8"/>
          <p:cNvSpPr txBox="true"/>
          <p:nvPr/>
        </p:nvSpPr>
        <p:spPr>
          <a:xfrm rot="0">
            <a:off x="4606640" y="6982018"/>
            <a:ext cx="1268016" cy="389256"/>
          </a:xfrm>
          <a:prstGeom prst="rect">
            <a:avLst/>
          </a:prstGeom>
        </p:spPr>
        <p:txBody>
          <a:bodyPr anchor="t" rtlCol="false" tIns="0" lIns="0" bIns="0" rIns="0">
            <a:spAutoFit/>
          </a:bodyPr>
          <a:lstStyle/>
          <a:p>
            <a:pPr algn="ctr" marL="0" indent="0" lvl="1">
              <a:lnSpc>
                <a:spcPts val="3219"/>
              </a:lnSpc>
              <a:spcBef>
                <a:spcPct val="0"/>
              </a:spcBef>
            </a:pPr>
            <a:r>
              <a:rPr lang="en-US" b="true" sz="2299" spc="839">
                <a:solidFill>
                  <a:srgbClr val="131F5B"/>
                </a:solidFill>
                <a:latin typeface="Montserrat Bold"/>
                <a:ea typeface="Montserrat Bold"/>
                <a:cs typeface="Montserrat Bold"/>
                <a:sym typeface="Montserrat Bold"/>
              </a:rPr>
              <a:t>DATE</a:t>
            </a:r>
          </a:p>
        </p:txBody>
      </p:sp>
      <p:sp>
        <p:nvSpPr>
          <p:cNvPr name="TextBox 9" id="9"/>
          <p:cNvSpPr txBox="true"/>
          <p:nvPr/>
        </p:nvSpPr>
        <p:spPr>
          <a:xfrm rot="0">
            <a:off x="983096" y="868428"/>
            <a:ext cx="8229600" cy="546609"/>
          </a:xfrm>
          <a:prstGeom prst="rect">
            <a:avLst/>
          </a:prstGeom>
        </p:spPr>
        <p:txBody>
          <a:bodyPr anchor="t" rtlCol="false" tIns="0" lIns="0" bIns="0" rIns="0">
            <a:spAutoFit/>
          </a:bodyPr>
          <a:lstStyle/>
          <a:p>
            <a:pPr algn="ctr" marL="0" indent="0" lvl="1">
              <a:lnSpc>
                <a:spcPts val="4521"/>
              </a:lnSpc>
              <a:spcBef>
                <a:spcPct val="0"/>
              </a:spcBef>
            </a:pPr>
            <a:r>
              <a:rPr lang="en-US" b="true" sz="3229" spc="1178">
                <a:solidFill>
                  <a:srgbClr val="131F5B"/>
                </a:solidFill>
                <a:latin typeface="Montserrat Bold"/>
                <a:ea typeface="Montserrat Bold"/>
                <a:cs typeface="Montserrat Bold"/>
                <a:sym typeface="Montserrat Bold"/>
              </a:rPr>
              <a:t>YOUR ACCOMMODATION</a:t>
            </a:r>
          </a:p>
        </p:txBody>
      </p:sp>
      <p:sp>
        <p:nvSpPr>
          <p:cNvPr name="AutoShape 10" id="10"/>
          <p:cNvSpPr/>
          <p:nvPr/>
        </p:nvSpPr>
        <p:spPr>
          <a:xfrm flipH="true">
            <a:off x="568244" y="1536535"/>
            <a:ext cx="9258300" cy="0"/>
          </a:xfrm>
          <a:prstGeom prst="line">
            <a:avLst/>
          </a:prstGeom>
          <a:ln cap="flat" w="38100">
            <a:solidFill>
              <a:srgbClr val="131F5B"/>
            </a:solidFill>
            <a:prstDash val="solid"/>
            <a:headEnd type="none" len="sm" w="sm"/>
            <a:tailEnd type="none" len="sm" w="sm"/>
          </a:ln>
        </p:spPr>
      </p:sp>
      <p:sp>
        <p:nvSpPr>
          <p:cNvPr name="TextBox 11" id="11"/>
          <p:cNvSpPr txBox="true"/>
          <p:nvPr/>
        </p:nvSpPr>
        <p:spPr>
          <a:xfrm rot="0">
            <a:off x="3265181" y="1707985"/>
            <a:ext cx="3638401" cy="389256"/>
          </a:xfrm>
          <a:prstGeom prst="rect">
            <a:avLst/>
          </a:prstGeom>
        </p:spPr>
        <p:txBody>
          <a:bodyPr anchor="t" rtlCol="false" tIns="0" lIns="0" bIns="0" rIns="0">
            <a:spAutoFit/>
          </a:bodyPr>
          <a:lstStyle/>
          <a:p>
            <a:pPr algn="ctr">
              <a:lnSpc>
                <a:spcPts val="3219"/>
              </a:lnSpc>
              <a:spcBef>
                <a:spcPct val="0"/>
              </a:spcBef>
            </a:pPr>
            <a:r>
              <a:rPr lang="en-US" b="true" sz="2299" spc="839">
                <a:solidFill>
                  <a:srgbClr val="CC0000"/>
                </a:solidFill>
                <a:latin typeface="Montserrat Bold"/>
                <a:ea typeface="Montserrat Bold"/>
                <a:cs typeface="Montserrat Bold"/>
                <a:sym typeface="Montserrat Bold"/>
              </a:rPr>
              <a:t>HOTEL NAME B</a:t>
            </a:r>
          </a:p>
        </p:txBody>
      </p:sp>
      <p:sp>
        <p:nvSpPr>
          <p:cNvPr name="Freeform 12" id="12"/>
          <p:cNvSpPr/>
          <p:nvPr/>
        </p:nvSpPr>
        <p:spPr>
          <a:xfrm flipH="false" flipV="false" rot="0">
            <a:off x="4156808" y="16565541"/>
            <a:ext cx="1973384" cy="1973384"/>
          </a:xfrm>
          <a:custGeom>
            <a:avLst/>
            <a:gdLst/>
            <a:ahLst/>
            <a:cxnLst/>
            <a:rect r="r" b="b" t="t" l="l"/>
            <a:pathLst>
              <a:path h="1973384" w="1973384">
                <a:moveTo>
                  <a:pt x="0" y="0"/>
                </a:moveTo>
                <a:lnTo>
                  <a:pt x="1973384" y="0"/>
                </a:lnTo>
                <a:lnTo>
                  <a:pt x="1973384" y="1973383"/>
                </a:lnTo>
                <a:lnTo>
                  <a:pt x="0" y="1973383"/>
                </a:lnTo>
                <a:lnTo>
                  <a:pt x="0" y="0"/>
                </a:lnTo>
                <a:close/>
              </a:path>
            </a:pathLst>
          </a:custGeom>
          <a:blipFill>
            <a:blip r:embed="rId3"/>
            <a:stretch>
              <a:fillRect l="0" t="0" r="0" b="0"/>
            </a:stretch>
          </a:blipFill>
        </p:spPr>
      </p:sp>
      <p:grpSp>
        <p:nvGrpSpPr>
          <p:cNvPr name="Group 13" id="13"/>
          <p:cNvGrpSpPr/>
          <p:nvPr/>
        </p:nvGrpSpPr>
        <p:grpSpPr>
          <a:xfrm rot="0">
            <a:off x="1703178" y="12713698"/>
            <a:ext cx="6880644" cy="3186160"/>
            <a:chOff x="0" y="0"/>
            <a:chExt cx="9174192" cy="4248214"/>
          </a:xfrm>
        </p:grpSpPr>
        <p:sp>
          <p:nvSpPr>
            <p:cNvPr name="TextBox 14" id="14"/>
            <p:cNvSpPr txBox="true"/>
            <p:nvPr/>
          </p:nvSpPr>
          <p:spPr>
            <a:xfrm rot="0">
              <a:off x="1596456" y="-66675"/>
              <a:ext cx="5981280" cy="793782"/>
            </a:xfrm>
            <a:prstGeom prst="rect">
              <a:avLst/>
            </a:prstGeom>
          </p:spPr>
          <p:txBody>
            <a:bodyPr anchor="t" rtlCol="false" tIns="0" lIns="0" bIns="0" rIns="0">
              <a:spAutoFit/>
            </a:bodyPr>
            <a:lstStyle/>
            <a:p>
              <a:pPr algn="ctr">
                <a:lnSpc>
                  <a:spcPts val="2486"/>
                </a:lnSpc>
              </a:pPr>
              <a:r>
                <a:rPr lang="en-US" b="true" sz="1525" spc="96">
                  <a:solidFill>
                    <a:srgbClr val="131F5B"/>
                  </a:solidFill>
                  <a:latin typeface="Montserrat Bold"/>
                  <a:ea typeface="Montserrat Bold"/>
                  <a:cs typeface="Montserrat Bold"/>
                  <a:sym typeface="Montserrat Bold"/>
                </a:rPr>
                <a:t>ESTIMATED ROOM REQUIREMENT</a:t>
              </a:r>
            </a:p>
            <a:p>
              <a:pPr algn="ctr">
                <a:lnSpc>
                  <a:spcPts val="2486"/>
                </a:lnSpc>
              </a:pPr>
              <a:r>
                <a:rPr lang="en-US" sz="1525" spc="96">
                  <a:solidFill>
                    <a:srgbClr val="CC0000"/>
                  </a:solidFill>
                  <a:latin typeface="Montserrat"/>
                  <a:ea typeface="Montserrat"/>
                  <a:cs typeface="Montserrat"/>
                  <a:sym typeface="Montserrat"/>
                </a:rPr>
                <a:t>ROOM CATEGORY &amp; QUANTITY</a:t>
              </a:r>
            </a:p>
          </p:txBody>
        </p:sp>
        <p:sp>
          <p:nvSpPr>
            <p:cNvPr name="TextBox 15" id="15"/>
            <p:cNvSpPr txBox="true"/>
            <p:nvPr/>
          </p:nvSpPr>
          <p:spPr>
            <a:xfrm rot="0">
              <a:off x="2279364" y="1484328"/>
              <a:ext cx="4615464" cy="793782"/>
            </a:xfrm>
            <a:prstGeom prst="rect">
              <a:avLst/>
            </a:prstGeom>
          </p:spPr>
          <p:txBody>
            <a:bodyPr anchor="t" rtlCol="false" tIns="0" lIns="0" bIns="0" rIns="0">
              <a:spAutoFit/>
            </a:bodyPr>
            <a:lstStyle/>
            <a:p>
              <a:pPr algn="ctr">
                <a:lnSpc>
                  <a:spcPts val="2486"/>
                </a:lnSpc>
                <a:spcBef>
                  <a:spcPct val="0"/>
                </a:spcBef>
              </a:pPr>
              <a:r>
                <a:rPr lang="en-US" b="true" sz="1525" spc="96">
                  <a:solidFill>
                    <a:srgbClr val="131F5B"/>
                  </a:solidFill>
                  <a:latin typeface="Montserrat Bold"/>
                  <a:ea typeface="Montserrat Bold"/>
                  <a:cs typeface="Montserrat Bold"/>
                  <a:sym typeface="Montserrat Bold"/>
                </a:rPr>
                <a:t>HOTEL HIGHLIGHTS</a:t>
              </a:r>
            </a:p>
            <a:p>
              <a:pPr algn="ctr">
                <a:lnSpc>
                  <a:spcPts val="2486"/>
                </a:lnSpc>
                <a:spcBef>
                  <a:spcPct val="0"/>
                </a:spcBef>
              </a:pPr>
              <a:r>
                <a:rPr lang="en-US" sz="1525" spc="96" u="sng">
                  <a:solidFill>
                    <a:srgbClr val="CC0000"/>
                  </a:solidFill>
                  <a:latin typeface="Montserrat"/>
                  <a:ea typeface="Montserrat"/>
                  <a:cs typeface="Montserrat"/>
                  <a:sym typeface="Montserrat"/>
                  <a:hlinkClick r:id="rId4" tooltip="https://app.littleemperors.com/ile/travel"/>
                </a:rPr>
                <a:t>Details from Little Emperor</a:t>
              </a:r>
            </a:p>
          </p:txBody>
        </p:sp>
        <p:sp>
          <p:nvSpPr>
            <p:cNvPr name="TextBox 16" id="16"/>
            <p:cNvSpPr txBox="true"/>
            <p:nvPr/>
          </p:nvSpPr>
          <p:spPr>
            <a:xfrm rot="0">
              <a:off x="0" y="3035332"/>
              <a:ext cx="9174192" cy="1212882"/>
            </a:xfrm>
            <a:prstGeom prst="rect">
              <a:avLst/>
            </a:prstGeom>
          </p:spPr>
          <p:txBody>
            <a:bodyPr anchor="t" rtlCol="false" tIns="0" lIns="0" bIns="0" rIns="0">
              <a:spAutoFit/>
            </a:bodyPr>
            <a:lstStyle/>
            <a:p>
              <a:pPr algn="ctr" marL="0" indent="0" lvl="0">
                <a:lnSpc>
                  <a:spcPts val="2486"/>
                </a:lnSpc>
                <a:spcBef>
                  <a:spcPct val="0"/>
                </a:spcBef>
              </a:pPr>
              <a:r>
                <a:rPr lang="en-US" b="true" sz="1525" spc="96" strike="noStrike" u="none">
                  <a:solidFill>
                    <a:srgbClr val="131F5B"/>
                  </a:solidFill>
                  <a:latin typeface="Montserrat Bold"/>
                  <a:ea typeface="Montserrat Bold"/>
                  <a:cs typeface="Montserrat Bold"/>
                  <a:sym typeface="Montserrat Bold"/>
                </a:rPr>
                <a:t>HOTEL BENEFITS</a:t>
              </a:r>
            </a:p>
            <a:p>
              <a:pPr algn="ctr" marL="0" indent="0" lvl="0">
                <a:lnSpc>
                  <a:spcPts val="2486"/>
                </a:lnSpc>
                <a:spcBef>
                  <a:spcPct val="0"/>
                </a:spcBef>
              </a:pPr>
              <a:r>
                <a:rPr lang="en-US" sz="1525" spc="96" strike="noStrike" u="sng">
                  <a:solidFill>
                    <a:srgbClr val="CC0000"/>
                  </a:solidFill>
                  <a:latin typeface="Montserrat"/>
                  <a:ea typeface="Montserrat"/>
                  <a:cs typeface="Montserrat"/>
                  <a:sym typeface="Montserrat"/>
                  <a:hlinkClick r:id="rId5" tooltip="https://app.littleemperors.com/ile/travel"/>
                </a:rPr>
                <a:t>DETAILS FROM LITTLE EMPEROR</a:t>
              </a:r>
              <a:r>
                <a:rPr lang="en-US" sz="1525" spc="96" strike="noStrike" u="sng">
                  <a:solidFill>
                    <a:srgbClr val="CC0000"/>
                  </a:solidFill>
                  <a:latin typeface="Montserrat"/>
                  <a:ea typeface="Montserrat"/>
                  <a:cs typeface="Montserrat"/>
                  <a:sym typeface="Montserrat"/>
                  <a:hlinkClick r:id="rId6" tooltip="https://app.littleemperors.com/ile/travel"/>
                </a:rPr>
                <a:t> </a:t>
              </a:r>
            </a:p>
            <a:p>
              <a:pPr algn="ctr" marL="0" indent="0" lvl="0">
                <a:lnSpc>
                  <a:spcPts val="2486"/>
                </a:lnSpc>
                <a:spcBef>
                  <a:spcPct val="0"/>
                </a:spcBef>
              </a:pPr>
              <a:r>
                <a:rPr lang="en-US" sz="1525" spc="96" strike="noStrike" u="sng">
                  <a:solidFill>
                    <a:srgbClr val="CC0000"/>
                  </a:solidFill>
                  <a:latin typeface="Montserrat"/>
                  <a:ea typeface="Montserrat"/>
                  <a:cs typeface="Montserrat"/>
                  <a:sym typeface="Montserrat"/>
                </a:rPr>
                <a:t>upon choosing room category</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83096" y="868428"/>
            <a:ext cx="8229600" cy="546609"/>
          </a:xfrm>
          <a:prstGeom prst="rect">
            <a:avLst/>
          </a:prstGeom>
        </p:spPr>
        <p:txBody>
          <a:bodyPr anchor="t" rtlCol="false" tIns="0" lIns="0" bIns="0" rIns="0">
            <a:spAutoFit/>
          </a:bodyPr>
          <a:lstStyle/>
          <a:p>
            <a:pPr algn="ctr" marL="0" indent="0" lvl="1">
              <a:lnSpc>
                <a:spcPts val="4521"/>
              </a:lnSpc>
              <a:spcBef>
                <a:spcPct val="0"/>
              </a:spcBef>
            </a:pPr>
            <a:r>
              <a:rPr lang="en-US" b="true" sz="3229" spc="1178">
                <a:solidFill>
                  <a:srgbClr val="131F5B"/>
                </a:solidFill>
                <a:latin typeface="Montserrat Bold"/>
                <a:ea typeface="Montserrat Bold"/>
                <a:cs typeface="Montserrat Bold"/>
                <a:sym typeface="Montserrat Bold"/>
              </a:rPr>
              <a:t>YOUR ACCOMMODATION</a:t>
            </a:r>
          </a:p>
        </p:txBody>
      </p:sp>
      <p:sp>
        <p:nvSpPr>
          <p:cNvPr name="AutoShape 3" id="3"/>
          <p:cNvSpPr/>
          <p:nvPr/>
        </p:nvSpPr>
        <p:spPr>
          <a:xfrm flipH="true">
            <a:off x="568244" y="1536535"/>
            <a:ext cx="9258300" cy="0"/>
          </a:xfrm>
          <a:prstGeom prst="line">
            <a:avLst/>
          </a:prstGeom>
          <a:ln cap="flat" w="38100">
            <a:solidFill>
              <a:srgbClr val="131F5B"/>
            </a:solidFill>
            <a:prstDash val="solid"/>
            <a:headEnd type="none" len="sm" w="sm"/>
            <a:tailEnd type="none" len="sm" w="sm"/>
          </a:ln>
        </p:spPr>
      </p:sp>
      <p:sp>
        <p:nvSpPr>
          <p:cNvPr name="TextBox 4" id="4"/>
          <p:cNvSpPr txBox="true"/>
          <p:nvPr/>
        </p:nvSpPr>
        <p:spPr>
          <a:xfrm rot="0">
            <a:off x="3265181" y="1707985"/>
            <a:ext cx="3638401" cy="389256"/>
          </a:xfrm>
          <a:prstGeom prst="rect">
            <a:avLst/>
          </a:prstGeom>
        </p:spPr>
        <p:txBody>
          <a:bodyPr anchor="t" rtlCol="false" tIns="0" lIns="0" bIns="0" rIns="0">
            <a:spAutoFit/>
          </a:bodyPr>
          <a:lstStyle/>
          <a:p>
            <a:pPr algn="ctr">
              <a:lnSpc>
                <a:spcPts val="3219"/>
              </a:lnSpc>
              <a:spcBef>
                <a:spcPct val="0"/>
              </a:spcBef>
            </a:pPr>
            <a:r>
              <a:rPr lang="en-US" b="true" sz="2299" spc="839">
                <a:solidFill>
                  <a:srgbClr val="CC0000"/>
                </a:solidFill>
                <a:latin typeface="Montserrat Bold"/>
                <a:ea typeface="Montserrat Bold"/>
                <a:cs typeface="Montserrat Bold"/>
                <a:sym typeface="Montserrat Bold"/>
              </a:rPr>
              <a:t>HOTEL NAME B</a:t>
            </a:r>
          </a:p>
        </p:txBody>
      </p:sp>
      <p:sp>
        <p:nvSpPr>
          <p:cNvPr name="Freeform 5" id="5"/>
          <p:cNvSpPr/>
          <p:nvPr/>
        </p:nvSpPr>
        <p:spPr>
          <a:xfrm flipH="false" flipV="false" rot="0">
            <a:off x="8809372" y="2775213"/>
            <a:ext cx="756397" cy="756397"/>
          </a:xfrm>
          <a:custGeom>
            <a:avLst/>
            <a:gdLst/>
            <a:ahLst/>
            <a:cxnLst/>
            <a:rect r="r" b="b" t="t" l="l"/>
            <a:pathLst>
              <a:path h="756397" w="756397">
                <a:moveTo>
                  <a:pt x="0" y="0"/>
                </a:moveTo>
                <a:lnTo>
                  <a:pt x="756397" y="0"/>
                </a:lnTo>
                <a:lnTo>
                  <a:pt x="756397" y="756397"/>
                </a:lnTo>
                <a:lnTo>
                  <a:pt x="0" y="756397"/>
                </a:lnTo>
                <a:lnTo>
                  <a:pt x="0" y="0"/>
                </a:lnTo>
                <a:close/>
              </a:path>
            </a:pathLst>
          </a:custGeom>
          <a:blipFill>
            <a:blip r:embed="rId2"/>
            <a:stretch>
              <a:fillRect l="0" t="0" r="0" b="0"/>
            </a:stretch>
          </a:blipFill>
        </p:spPr>
      </p:sp>
      <p:grpSp>
        <p:nvGrpSpPr>
          <p:cNvPr name="Group 6" id="6"/>
          <p:cNvGrpSpPr>
            <a:grpSpLocks noChangeAspect="true"/>
          </p:cNvGrpSpPr>
          <p:nvPr/>
        </p:nvGrpSpPr>
        <p:grpSpPr>
          <a:xfrm rot="0">
            <a:off x="6" y="3790045"/>
            <a:ext cx="10287000" cy="6303"/>
            <a:chOff x="0" y="0"/>
            <a:chExt cx="7772400" cy="4762"/>
          </a:xfrm>
        </p:grpSpPr>
        <p:sp>
          <p:nvSpPr>
            <p:cNvPr name="Freeform 7" id="7"/>
            <p:cNvSpPr/>
            <p:nvPr/>
          </p:nvSpPr>
          <p:spPr>
            <a:xfrm flipH="false" flipV="false" rot="0">
              <a:off x="0" y="0"/>
              <a:ext cx="7772400" cy="4826"/>
            </a:xfrm>
            <a:custGeom>
              <a:avLst/>
              <a:gdLst/>
              <a:ahLst/>
              <a:cxnLst/>
              <a:rect r="r" b="b" t="t" l="l"/>
              <a:pathLst>
                <a:path h="4826" w="7772400">
                  <a:moveTo>
                    <a:pt x="0" y="0"/>
                  </a:moveTo>
                  <a:lnTo>
                    <a:pt x="7772400" y="0"/>
                  </a:lnTo>
                  <a:lnTo>
                    <a:pt x="7772400" y="4826"/>
                  </a:lnTo>
                  <a:lnTo>
                    <a:pt x="0" y="4826"/>
                  </a:lnTo>
                </a:path>
              </a:pathLst>
            </a:custGeom>
            <a:solidFill>
              <a:srgbClr val="191919"/>
            </a:solidFill>
          </p:spPr>
        </p:sp>
      </p:grpSp>
      <p:sp>
        <p:nvSpPr>
          <p:cNvPr name="TextBox 8" id="8"/>
          <p:cNvSpPr txBox="true"/>
          <p:nvPr/>
        </p:nvSpPr>
        <p:spPr>
          <a:xfrm rot="0">
            <a:off x="385769" y="2777294"/>
            <a:ext cx="933944" cy="213332"/>
          </a:xfrm>
          <a:prstGeom prst="rect">
            <a:avLst/>
          </a:prstGeom>
        </p:spPr>
        <p:txBody>
          <a:bodyPr anchor="t" rtlCol="false" tIns="0" lIns="0" bIns="0" rIns="0">
            <a:spAutoFit/>
          </a:bodyPr>
          <a:lstStyle/>
          <a:p>
            <a:pPr algn="l">
              <a:lnSpc>
                <a:spcPts val="1836"/>
              </a:lnSpc>
            </a:pPr>
            <a:r>
              <a:rPr lang="en-US" b="true" sz="992" i="true">
                <a:solidFill>
                  <a:srgbClr val="000000"/>
                </a:solidFill>
                <a:latin typeface="Montserrat Medium Italics"/>
                <a:ea typeface="Montserrat Medium Italics"/>
                <a:cs typeface="Montserrat Medium Italics"/>
                <a:sym typeface="Montserrat Medium Italics"/>
              </a:rPr>
              <a:t>Check in</a:t>
            </a:r>
          </a:p>
        </p:txBody>
      </p:sp>
      <p:sp>
        <p:nvSpPr>
          <p:cNvPr name="TextBox 9" id="9"/>
          <p:cNvSpPr txBox="true"/>
          <p:nvPr/>
        </p:nvSpPr>
        <p:spPr>
          <a:xfrm rot="0">
            <a:off x="532006" y="3013177"/>
            <a:ext cx="32147" cy="213332"/>
          </a:xfrm>
          <a:prstGeom prst="rect">
            <a:avLst/>
          </a:prstGeom>
        </p:spPr>
        <p:txBody>
          <a:bodyPr anchor="t" rtlCol="false" tIns="0" lIns="0" bIns="0" rIns="0">
            <a:spAutoFit/>
          </a:bodyPr>
          <a:lstStyle/>
          <a:p>
            <a:pPr algn="l">
              <a:lnSpc>
                <a:spcPts val="1836"/>
              </a:lnSpc>
            </a:pPr>
            <a:r>
              <a:rPr lang="en-US" b="true" sz="992">
                <a:solidFill>
                  <a:srgbClr val="505050"/>
                </a:solidFill>
                <a:latin typeface="Montserrat Ultra-Bold"/>
                <a:ea typeface="Montserrat Ultra-Bold"/>
                <a:cs typeface="Montserrat Ultra-Bold"/>
                <a:sym typeface="Montserrat Ultra-Bold"/>
              </a:rPr>
              <a:t> </a:t>
            </a:r>
          </a:p>
        </p:txBody>
      </p:sp>
      <p:sp>
        <p:nvSpPr>
          <p:cNvPr name="TextBox 10" id="10"/>
          <p:cNvSpPr txBox="true"/>
          <p:nvPr/>
        </p:nvSpPr>
        <p:spPr>
          <a:xfrm rot="0">
            <a:off x="2234113" y="2777294"/>
            <a:ext cx="930331" cy="213332"/>
          </a:xfrm>
          <a:prstGeom prst="rect">
            <a:avLst/>
          </a:prstGeom>
        </p:spPr>
        <p:txBody>
          <a:bodyPr anchor="t" rtlCol="false" tIns="0" lIns="0" bIns="0" rIns="0">
            <a:spAutoFit/>
          </a:bodyPr>
          <a:lstStyle/>
          <a:p>
            <a:pPr algn="l">
              <a:lnSpc>
                <a:spcPts val="1836"/>
              </a:lnSpc>
            </a:pPr>
            <a:r>
              <a:rPr lang="en-US" b="true" sz="992" i="true">
                <a:solidFill>
                  <a:srgbClr val="000000"/>
                </a:solidFill>
                <a:latin typeface="Montserrat Medium Italics"/>
                <a:ea typeface="Montserrat Medium Italics"/>
                <a:cs typeface="Montserrat Medium Italics"/>
                <a:sym typeface="Montserrat Medium Italics"/>
              </a:rPr>
              <a:t>Check out</a:t>
            </a:r>
          </a:p>
        </p:txBody>
      </p:sp>
      <p:sp>
        <p:nvSpPr>
          <p:cNvPr name="TextBox 11" id="11"/>
          <p:cNvSpPr txBox="true"/>
          <p:nvPr/>
        </p:nvSpPr>
        <p:spPr>
          <a:xfrm rot="0">
            <a:off x="2380350" y="3013177"/>
            <a:ext cx="32147" cy="213332"/>
          </a:xfrm>
          <a:prstGeom prst="rect">
            <a:avLst/>
          </a:prstGeom>
        </p:spPr>
        <p:txBody>
          <a:bodyPr anchor="t" rtlCol="false" tIns="0" lIns="0" bIns="0" rIns="0">
            <a:spAutoFit/>
          </a:bodyPr>
          <a:lstStyle/>
          <a:p>
            <a:pPr algn="l">
              <a:lnSpc>
                <a:spcPts val="1836"/>
              </a:lnSpc>
            </a:pPr>
            <a:r>
              <a:rPr lang="en-US" b="true" sz="992">
                <a:solidFill>
                  <a:srgbClr val="505050"/>
                </a:solidFill>
                <a:latin typeface="Montserrat Ultra-Bold"/>
                <a:ea typeface="Montserrat Ultra-Bold"/>
                <a:cs typeface="Montserrat Ultra-Bold"/>
                <a:sym typeface="Montserrat Ultra-Bold"/>
              </a:rPr>
              <a:t> </a:t>
            </a:r>
          </a:p>
        </p:txBody>
      </p:sp>
      <p:sp>
        <p:nvSpPr>
          <p:cNvPr name="TextBox 12" id="12"/>
          <p:cNvSpPr txBox="true"/>
          <p:nvPr/>
        </p:nvSpPr>
        <p:spPr>
          <a:xfrm rot="0">
            <a:off x="4082483" y="2777294"/>
            <a:ext cx="685711" cy="213332"/>
          </a:xfrm>
          <a:prstGeom prst="rect">
            <a:avLst/>
          </a:prstGeom>
        </p:spPr>
        <p:txBody>
          <a:bodyPr anchor="t" rtlCol="false" tIns="0" lIns="0" bIns="0" rIns="0">
            <a:spAutoFit/>
          </a:bodyPr>
          <a:lstStyle/>
          <a:p>
            <a:pPr algn="l">
              <a:lnSpc>
                <a:spcPts val="1836"/>
              </a:lnSpc>
            </a:pPr>
            <a:r>
              <a:rPr lang="en-US" sz="992">
                <a:solidFill>
                  <a:srgbClr val="000000"/>
                </a:solidFill>
                <a:latin typeface="Montserrat"/>
                <a:ea typeface="Montserrat"/>
                <a:cs typeface="Montserrat"/>
                <a:sym typeface="Montserrat"/>
              </a:rPr>
              <a:t>Nights </a:t>
            </a:r>
          </a:p>
        </p:txBody>
      </p:sp>
      <p:sp>
        <p:nvSpPr>
          <p:cNvPr name="TextBox 13" id="13"/>
          <p:cNvSpPr txBox="true"/>
          <p:nvPr/>
        </p:nvSpPr>
        <p:spPr>
          <a:xfrm rot="0">
            <a:off x="385769" y="3060802"/>
            <a:ext cx="1178504" cy="165287"/>
          </a:xfrm>
          <a:prstGeom prst="rect">
            <a:avLst/>
          </a:prstGeom>
        </p:spPr>
        <p:txBody>
          <a:bodyPr anchor="t" rtlCol="false" tIns="0" lIns="0" bIns="0" rIns="0">
            <a:spAutoFit/>
          </a:bodyPr>
          <a:lstStyle/>
          <a:p>
            <a:pPr algn="l">
              <a:lnSpc>
                <a:spcPts val="1389"/>
              </a:lnSpc>
            </a:pPr>
            <a:r>
              <a:rPr lang="en-US" sz="992">
                <a:solidFill>
                  <a:srgbClr val="CC0000"/>
                </a:solidFill>
                <a:latin typeface="Montserrat"/>
                <a:ea typeface="Montserrat"/>
                <a:cs typeface="Montserrat"/>
                <a:sym typeface="Montserrat"/>
              </a:rPr>
              <a:t>Date</a:t>
            </a:r>
            <a:r>
              <a:rPr lang="en-US" sz="992">
                <a:solidFill>
                  <a:srgbClr val="CC0000"/>
                </a:solidFill>
                <a:latin typeface="Montserrat"/>
                <a:ea typeface="Montserrat"/>
                <a:cs typeface="Montserrat"/>
                <a:sym typeface="Montserrat"/>
              </a:rPr>
              <a:t> Month Year</a:t>
            </a:r>
          </a:p>
        </p:txBody>
      </p:sp>
      <p:sp>
        <p:nvSpPr>
          <p:cNvPr name="TextBox 14" id="14"/>
          <p:cNvSpPr txBox="true"/>
          <p:nvPr/>
        </p:nvSpPr>
        <p:spPr>
          <a:xfrm rot="0">
            <a:off x="2234113" y="3060802"/>
            <a:ext cx="1158851" cy="165287"/>
          </a:xfrm>
          <a:prstGeom prst="rect">
            <a:avLst/>
          </a:prstGeom>
        </p:spPr>
        <p:txBody>
          <a:bodyPr anchor="t" rtlCol="false" tIns="0" lIns="0" bIns="0" rIns="0">
            <a:spAutoFit/>
          </a:bodyPr>
          <a:lstStyle/>
          <a:p>
            <a:pPr algn="l">
              <a:lnSpc>
                <a:spcPts val="1389"/>
              </a:lnSpc>
            </a:pPr>
            <a:r>
              <a:rPr lang="en-US" sz="992">
                <a:solidFill>
                  <a:srgbClr val="CC0000"/>
                </a:solidFill>
                <a:latin typeface="Montserrat"/>
                <a:ea typeface="Montserrat"/>
                <a:cs typeface="Montserrat"/>
                <a:sym typeface="Montserrat"/>
              </a:rPr>
              <a:t>Date Month Year </a:t>
            </a:r>
          </a:p>
        </p:txBody>
      </p:sp>
      <p:sp>
        <p:nvSpPr>
          <p:cNvPr name="TextBox 15" id="15"/>
          <p:cNvSpPr txBox="true"/>
          <p:nvPr/>
        </p:nvSpPr>
        <p:spPr>
          <a:xfrm rot="0">
            <a:off x="5221302" y="6656095"/>
            <a:ext cx="40291" cy="293736"/>
          </a:xfrm>
          <a:prstGeom prst="rect">
            <a:avLst/>
          </a:prstGeom>
        </p:spPr>
        <p:txBody>
          <a:bodyPr anchor="t" rtlCol="false" tIns="0" lIns="0" bIns="0" rIns="0">
            <a:spAutoFit/>
          </a:bodyPr>
          <a:lstStyle/>
          <a:p>
            <a:pPr algn="l">
              <a:lnSpc>
                <a:spcPts val="2630"/>
              </a:lnSpc>
            </a:pPr>
            <a:r>
              <a:rPr lang="en-US" b="true" sz="1244">
                <a:solidFill>
                  <a:srgbClr val="FFFFFF"/>
                </a:solidFill>
                <a:latin typeface="Montserrat Medium"/>
                <a:ea typeface="Montserrat Medium"/>
                <a:cs typeface="Montserrat Medium"/>
                <a:sym typeface="Montserrat Medium"/>
              </a:rPr>
              <a:t> </a:t>
            </a:r>
          </a:p>
        </p:txBody>
      </p:sp>
      <p:grpSp>
        <p:nvGrpSpPr>
          <p:cNvPr name="Group 16" id="16"/>
          <p:cNvGrpSpPr/>
          <p:nvPr/>
        </p:nvGrpSpPr>
        <p:grpSpPr>
          <a:xfrm rot="0">
            <a:off x="3532346" y="8108016"/>
            <a:ext cx="3222321" cy="1565522"/>
            <a:chOff x="0" y="0"/>
            <a:chExt cx="4296429" cy="2087363"/>
          </a:xfrm>
        </p:grpSpPr>
        <p:sp>
          <p:nvSpPr>
            <p:cNvPr name="TextBox 17" id="17"/>
            <p:cNvSpPr txBox="true"/>
            <p:nvPr/>
          </p:nvSpPr>
          <p:spPr>
            <a:xfrm rot="0">
              <a:off x="470647" y="262380"/>
              <a:ext cx="3050096" cy="1401482"/>
            </a:xfrm>
            <a:prstGeom prst="rect">
              <a:avLst/>
            </a:prstGeom>
          </p:spPr>
          <p:txBody>
            <a:bodyPr anchor="t" rtlCol="false" tIns="0" lIns="0" bIns="0" rIns="0">
              <a:spAutoFit/>
            </a:bodyPr>
            <a:lstStyle/>
            <a:p>
              <a:pPr algn="l">
                <a:lnSpc>
                  <a:spcPts val="2233"/>
                </a:lnSpc>
              </a:pPr>
              <a:r>
                <a:rPr lang="en-US" sz="992">
                  <a:solidFill>
                    <a:srgbClr val="505050"/>
                  </a:solidFill>
                  <a:latin typeface="Montserrat"/>
                  <a:ea typeface="Montserrat"/>
                  <a:cs typeface="Montserrat"/>
                  <a:sym typeface="Montserrat"/>
                </a:rPr>
                <a:t>Complimentary breakfast $100 hotel credit per stay Priority upgrade at check-in* </a:t>
              </a:r>
            </a:p>
            <a:p>
              <a:pPr algn="l">
                <a:lnSpc>
                  <a:spcPts val="2233"/>
                </a:lnSpc>
              </a:pPr>
              <a:r>
                <a:rPr lang="en-US" sz="992">
                  <a:solidFill>
                    <a:srgbClr val="505050"/>
                  </a:solidFill>
                  <a:latin typeface="Montserrat"/>
                  <a:ea typeface="Montserrat"/>
                  <a:cs typeface="Montserrat"/>
                  <a:sym typeface="Montserrat"/>
                </a:rPr>
                <a:t>Early check in/late check out*</a:t>
              </a:r>
            </a:p>
          </p:txBody>
        </p:sp>
        <p:sp>
          <p:nvSpPr>
            <p:cNvPr name="TextBox 18" id="18"/>
            <p:cNvSpPr txBox="true"/>
            <p:nvPr/>
          </p:nvSpPr>
          <p:spPr>
            <a:xfrm rot="0">
              <a:off x="0" y="-19050"/>
              <a:ext cx="4296429" cy="224939"/>
            </a:xfrm>
            <a:prstGeom prst="rect">
              <a:avLst/>
            </a:prstGeom>
          </p:spPr>
          <p:txBody>
            <a:bodyPr anchor="t" rtlCol="false" tIns="0" lIns="0" bIns="0" rIns="0">
              <a:spAutoFit/>
            </a:bodyPr>
            <a:lstStyle/>
            <a:p>
              <a:pPr algn="l">
                <a:lnSpc>
                  <a:spcPts val="1463"/>
                </a:lnSpc>
              </a:pPr>
              <a:r>
                <a:rPr lang="en-US" b="true" sz="1045" i="true">
                  <a:solidFill>
                    <a:srgbClr val="191919"/>
                  </a:solidFill>
                  <a:latin typeface="Montserrat Medium Italics"/>
                  <a:ea typeface="Montserrat Medium Italics"/>
                  <a:cs typeface="Montserrat Medium Italics"/>
                  <a:sym typeface="Montserrat Medium Italics"/>
                </a:rPr>
                <a:t>All rates below include the following Benefits:</a:t>
              </a:r>
            </a:p>
          </p:txBody>
        </p:sp>
        <p:sp>
          <p:nvSpPr>
            <p:cNvPr name="TextBox 19" id="19"/>
            <p:cNvSpPr txBox="true"/>
            <p:nvPr/>
          </p:nvSpPr>
          <p:spPr>
            <a:xfrm rot="0">
              <a:off x="0" y="1895593"/>
              <a:ext cx="3916608" cy="191770"/>
            </a:xfrm>
            <a:prstGeom prst="rect">
              <a:avLst/>
            </a:prstGeom>
          </p:spPr>
          <p:txBody>
            <a:bodyPr anchor="t" rtlCol="false" tIns="0" lIns="0" bIns="0" rIns="0">
              <a:spAutoFit/>
            </a:bodyPr>
            <a:lstStyle/>
            <a:p>
              <a:pPr algn="l">
                <a:lnSpc>
                  <a:spcPts val="1260"/>
                </a:lnSpc>
              </a:pPr>
              <a:r>
                <a:rPr lang="en-US" sz="900">
                  <a:solidFill>
                    <a:srgbClr val="505050"/>
                  </a:solidFill>
                  <a:latin typeface="Montserrat"/>
                  <a:ea typeface="Montserrat"/>
                  <a:cs typeface="Montserrat"/>
                  <a:sym typeface="Montserrat"/>
                </a:rPr>
                <a:t>*subject to availability (excluding speciality suites)</a:t>
              </a:r>
            </a:p>
          </p:txBody>
        </p:sp>
      </p:grpSp>
      <p:sp>
        <p:nvSpPr>
          <p:cNvPr name="TextBox 20" id="20"/>
          <p:cNvSpPr txBox="true"/>
          <p:nvPr/>
        </p:nvSpPr>
        <p:spPr>
          <a:xfrm rot="0">
            <a:off x="4082483" y="3076351"/>
            <a:ext cx="1158851" cy="165287"/>
          </a:xfrm>
          <a:prstGeom prst="rect">
            <a:avLst/>
          </a:prstGeom>
        </p:spPr>
        <p:txBody>
          <a:bodyPr anchor="t" rtlCol="false" tIns="0" lIns="0" bIns="0" rIns="0">
            <a:spAutoFit/>
          </a:bodyPr>
          <a:lstStyle/>
          <a:p>
            <a:pPr algn="l">
              <a:lnSpc>
                <a:spcPts val="1389"/>
              </a:lnSpc>
            </a:pPr>
            <a:r>
              <a:rPr lang="en-US" sz="992">
                <a:solidFill>
                  <a:srgbClr val="CC0000"/>
                </a:solidFill>
                <a:latin typeface="Montserrat"/>
                <a:ea typeface="Montserrat"/>
                <a:cs typeface="Montserrat"/>
                <a:sym typeface="Montserrat"/>
              </a:rPr>
              <a:t>Number </a:t>
            </a:r>
          </a:p>
        </p:txBody>
      </p:sp>
      <p:sp>
        <p:nvSpPr>
          <p:cNvPr name="Freeform 21" id="21"/>
          <p:cNvSpPr/>
          <p:nvPr/>
        </p:nvSpPr>
        <p:spPr>
          <a:xfrm flipH="false" flipV="false" rot="0">
            <a:off x="4156808" y="16565541"/>
            <a:ext cx="1973384" cy="1973384"/>
          </a:xfrm>
          <a:custGeom>
            <a:avLst/>
            <a:gdLst/>
            <a:ahLst/>
            <a:cxnLst/>
            <a:rect r="r" b="b" t="t" l="l"/>
            <a:pathLst>
              <a:path h="1973384" w="1973384">
                <a:moveTo>
                  <a:pt x="0" y="0"/>
                </a:moveTo>
                <a:lnTo>
                  <a:pt x="1973384" y="0"/>
                </a:lnTo>
                <a:lnTo>
                  <a:pt x="1973384" y="1973383"/>
                </a:lnTo>
                <a:lnTo>
                  <a:pt x="0" y="1973383"/>
                </a:lnTo>
                <a:lnTo>
                  <a:pt x="0" y="0"/>
                </a:lnTo>
                <a:close/>
              </a:path>
            </a:pathLst>
          </a:custGeom>
          <a:blipFill>
            <a:blip r:embed="rId3"/>
            <a:stretch>
              <a:fillRect l="0" t="0" r="0" b="0"/>
            </a:stretch>
          </a:blipFill>
        </p:spPr>
      </p:sp>
      <p:grpSp>
        <p:nvGrpSpPr>
          <p:cNvPr name="Group 22" id="22"/>
          <p:cNvGrpSpPr/>
          <p:nvPr/>
        </p:nvGrpSpPr>
        <p:grpSpPr>
          <a:xfrm rot="0">
            <a:off x="1531612" y="10219532"/>
            <a:ext cx="7223764" cy="4719318"/>
            <a:chOff x="0" y="0"/>
            <a:chExt cx="9631685" cy="6292424"/>
          </a:xfrm>
        </p:grpSpPr>
        <p:sp>
          <p:nvSpPr>
            <p:cNvPr name="Freeform 23" id="23"/>
            <p:cNvSpPr/>
            <p:nvPr/>
          </p:nvSpPr>
          <p:spPr>
            <a:xfrm flipH="false" flipV="false" rot="0">
              <a:off x="36532" y="4934675"/>
              <a:ext cx="1751578" cy="353525"/>
            </a:xfrm>
            <a:custGeom>
              <a:avLst/>
              <a:gdLst/>
              <a:ahLst/>
              <a:cxnLst/>
              <a:rect r="r" b="b" t="t" l="l"/>
              <a:pathLst>
                <a:path h="353525" w="1751578">
                  <a:moveTo>
                    <a:pt x="0" y="0"/>
                  </a:moveTo>
                  <a:lnTo>
                    <a:pt x="1751578" y="0"/>
                  </a:lnTo>
                  <a:lnTo>
                    <a:pt x="1751578" y="353524"/>
                  </a:lnTo>
                  <a:lnTo>
                    <a:pt x="0" y="3535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4" id="24"/>
            <p:cNvGrpSpPr/>
            <p:nvPr/>
          </p:nvGrpSpPr>
          <p:grpSpPr>
            <a:xfrm rot="0">
              <a:off x="0" y="4272714"/>
              <a:ext cx="559015" cy="455079"/>
              <a:chOff x="0" y="0"/>
              <a:chExt cx="279400" cy="227457"/>
            </a:xfrm>
          </p:grpSpPr>
          <p:sp>
            <p:nvSpPr>
              <p:cNvPr name="Freeform 25" id="25"/>
              <p:cNvSpPr/>
              <p:nvPr/>
            </p:nvSpPr>
            <p:spPr>
              <a:xfrm flipH="false" flipV="false" rot="0">
                <a:off x="63500" y="63473"/>
                <a:ext cx="152272" cy="100481"/>
              </a:xfrm>
              <a:custGeom>
                <a:avLst/>
                <a:gdLst/>
                <a:ahLst/>
                <a:cxnLst/>
                <a:rect r="r" b="b" t="t" l="l"/>
                <a:pathLst>
                  <a:path h="100481" w="152272">
                    <a:moveTo>
                      <a:pt x="75056" y="100482"/>
                    </a:moveTo>
                    <a:cubicBezTo>
                      <a:pt x="48894" y="100482"/>
                      <a:pt x="23875" y="84099"/>
                      <a:pt x="635" y="51841"/>
                    </a:cubicBezTo>
                    <a:cubicBezTo>
                      <a:pt x="254" y="51333"/>
                      <a:pt x="0" y="50571"/>
                      <a:pt x="0" y="49936"/>
                    </a:cubicBezTo>
                    <a:cubicBezTo>
                      <a:pt x="0" y="49301"/>
                      <a:pt x="127" y="48539"/>
                      <a:pt x="508" y="48031"/>
                    </a:cubicBezTo>
                    <a:cubicBezTo>
                      <a:pt x="1778" y="46126"/>
                      <a:pt x="32003" y="1042"/>
                      <a:pt x="75691" y="26"/>
                    </a:cubicBezTo>
                    <a:cubicBezTo>
                      <a:pt x="102488" y="-736"/>
                      <a:pt x="128015" y="15520"/>
                      <a:pt x="151637" y="47904"/>
                    </a:cubicBezTo>
                    <a:cubicBezTo>
                      <a:pt x="152018" y="48412"/>
                      <a:pt x="152272" y="49047"/>
                      <a:pt x="152272" y="49809"/>
                    </a:cubicBezTo>
                    <a:cubicBezTo>
                      <a:pt x="152272" y="50571"/>
                      <a:pt x="152145" y="51206"/>
                      <a:pt x="151764" y="51714"/>
                    </a:cubicBezTo>
                    <a:cubicBezTo>
                      <a:pt x="150494" y="53619"/>
                      <a:pt x="120141" y="99466"/>
                      <a:pt x="76453" y="100482"/>
                    </a:cubicBezTo>
                    <a:cubicBezTo>
                      <a:pt x="75945" y="100482"/>
                      <a:pt x="75437" y="100482"/>
                      <a:pt x="74929" y="100482"/>
                    </a:cubicBezTo>
                    <a:close/>
                    <a:moveTo>
                      <a:pt x="7366" y="49809"/>
                    </a:moveTo>
                    <a:cubicBezTo>
                      <a:pt x="29336" y="79527"/>
                      <a:pt x="52577" y="94259"/>
                      <a:pt x="76326" y="93751"/>
                    </a:cubicBezTo>
                    <a:cubicBezTo>
                      <a:pt x="111759" y="92989"/>
                      <a:pt x="138810" y="58445"/>
                      <a:pt x="144906" y="49936"/>
                    </a:cubicBezTo>
                    <a:cubicBezTo>
                      <a:pt x="123062" y="20727"/>
                      <a:pt x="99694" y="6249"/>
                      <a:pt x="75818" y="6757"/>
                    </a:cubicBezTo>
                    <a:cubicBezTo>
                      <a:pt x="40385" y="7519"/>
                      <a:pt x="13461" y="41427"/>
                      <a:pt x="7239" y="49936"/>
                    </a:cubicBezTo>
                    <a:close/>
                  </a:path>
                </a:pathLst>
              </a:custGeom>
              <a:solidFill>
                <a:srgbClr val="505050"/>
              </a:solidFill>
            </p:spPr>
          </p:sp>
          <p:sp>
            <p:nvSpPr>
              <p:cNvPr name="Freeform 26" id="26"/>
              <p:cNvSpPr/>
              <p:nvPr/>
            </p:nvSpPr>
            <p:spPr>
              <a:xfrm flipH="false" flipV="false" rot="0">
                <a:off x="112521" y="86359"/>
                <a:ext cx="54483" cy="54736"/>
              </a:xfrm>
              <a:custGeom>
                <a:avLst/>
                <a:gdLst/>
                <a:ahLst/>
                <a:cxnLst/>
                <a:rect r="r" b="b" t="t" l="l"/>
                <a:pathLst>
                  <a:path h="54736" w="54483">
                    <a:moveTo>
                      <a:pt x="27178" y="54736"/>
                    </a:moveTo>
                    <a:cubicBezTo>
                      <a:pt x="21844" y="54736"/>
                      <a:pt x="16510" y="53085"/>
                      <a:pt x="12065" y="50164"/>
                    </a:cubicBezTo>
                    <a:cubicBezTo>
                      <a:pt x="7620" y="47243"/>
                      <a:pt x="4064" y="42925"/>
                      <a:pt x="2032" y="37845"/>
                    </a:cubicBezTo>
                    <a:cubicBezTo>
                      <a:pt x="0" y="32765"/>
                      <a:pt x="-508" y="27304"/>
                      <a:pt x="508" y="21970"/>
                    </a:cubicBezTo>
                    <a:cubicBezTo>
                      <a:pt x="1524" y="16636"/>
                      <a:pt x="4191" y="11811"/>
                      <a:pt x="8001" y="8001"/>
                    </a:cubicBezTo>
                    <a:cubicBezTo>
                      <a:pt x="11811" y="4191"/>
                      <a:pt x="16637" y="1524"/>
                      <a:pt x="21971" y="508"/>
                    </a:cubicBezTo>
                    <a:cubicBezTo>
                      <a:pt x="27305" y="-508"/>
                      <a:pt x="32766" y="0"/>
                      <a:pt x="37719" y="2032"/>
                    </a:cubicBezTo>
                    <a:cubicBezTo>
                      <a:pt x="42672" y="4064"/>
                      <a:pt x="46990" y="7620"/>
                      <a:pt x="49911" y="12065"/>
                    </a:cubicBezTo>
                    <a:cubicBezTo>
                      <a:pt x="52832" y="16509"/>
                      <a:pt x="54483" y="21843"/>
                      <a:pt x="54483" y="27304"/>
                    </a:cubicBezTo>
                    <a:cubicBezTo>
                      <a:pt x="54483" y="34543"/>
                      <a:pt x="51562" y="41528"/>
                      <a:pt x="46482" y="46608"/>
                    </a:cubicBezTo>
                    <a:cubicBezTo>
                      <a:pt x="41402" y="51688"/>
                      <a:pt x="34417" y="54609"/>
                      <a:pt x="27178" y="54609"/>
                    </a:cubicBezTo>
                    <a:close/>
                    <a:moveTo>
                      <a:pt x="27178" y="6477"/>
                    </a:moveTo>
                    <a:cubicBezTo>
                      <a:pt x="23114" y="6477"/>
                      <a:pt x="19177" y="7747"/>
                      <a:pt x="15748" y="10033"/>
                    </a:cubicBezTo>
                    <a:cubicBezTo>
                      <a:pt x="12319" y="12319"/>
                      <a:pt x="9652" y="15493"/>
                      <a:pt x="8128" y="19303"/>
                    </a:cubicBezTo>
                    <a:cubicBezTo>
                      <a:pt x="6604" y="23113"/>
                      <a:pt x="6223" y="27304"/>
                      <a:pt x="6985" y="31241"/>
                    </a:cubicBezTo>
                    <a:cubicBezTo>
                      <a:pt x="7747" y="35178"/>
                      <a:pt x="9779" y="38988"/>
                      <a:pt x="12573" y="41782"/>
                    </a:cubicBezTo>
                    <a:cubicBezTo>
                      <a:pt x="15367" y="44576"/>
                      <a:pt x="19177" y="46608"/>
                      <a:pt x="23114" y="47497"/>
                    </a:cubicBezTo>
                    <a:cubicBezTo>
                      <a:pt x="27051" y="48386"/>
                      <a:pt x="31242" y="47878"/>
                      <a:pt x="35052" y="46354"/>
                    </a:cubicBezTo>
                    <a:cubicBezTo>
                      <a:pt x="38862" y="44830"/>
                      <a:pt x="42037" y="42163"/>
                      <a:pt x="44323" y="38734"/>
                    </a:cubicBezTo>
                    <a:cubicBezTo>
                      <a:pt x="46609" y="35305"/>
                      <a:pt x="47752" y="31368"/>
                      <a:pt x="47752" y="27177"/>
                    </a:cubicBezTo>
                    <a:cubicBezTo>
                      <a:pt x="47752" y="21716"/>
                      <a:pt x="45593" y="16382"/>
                      <a:pt x="41656" y="12573"/>
                    </a:cubicBezTo>
                    <a:cubicBezTo>
                      <a:pt x="37719" y="8763"/>
                      <a:pt x="32512" y="6477"/>
                      <a:pt x="27051" y="6477"/>
                    </a:cubicBezTo>
                    <a:close/>
                  </a:path>
                </a:pathLst>
              </a:custGeom>
              <a:solidFill>
                <a:srgbClr val="505050"/>
              </a:solidFill>
            </p:spPr>
          </p:sp>
        </p:grpSp>
        <p:grpSp>
          <p:nvGrpSpPr>
            <p:cNvPr name="Group 27" id="27"/>
            <p:cNvGrpSpPr/>
            <p:nvPr/>
          </p:nvGrpSpPr>
          <p:grpSpPr>
            <a:xfrm rot="0">
              <a:off x="2658763" y="4351914"/>
              <a:ext cx="304911" cy="294239"/>
              <a:chOff x="0" y="0"/>
              <a:chExt cx="152400" cy="147066"/>
            </a:xfrm>
          </p:grpSpPr>
          <p:sp>
            <p:nvSpPr>
              <p:cNvPr name="Freeform 28" id="28"/>
              <p:cNvSpPr/>
              <p:nvPr/>
            </p:nvSpPr>
            <p:spPr>
              <a:xfrm flipH="false" flipV="false" rot="0">
                <a:off x="0" y="0"/>
                <a:ext cx="152400" cy="147066"/>
              </a:xfrm>
              <a:custGeom>
                <a:avLst/>
                <a:gdLst/>
                <a:ahLst/>
                <a:cxnLst/>
                <a:rect r="r" b="b" t="t" l="l"/>
                <a:pathLst>
                  <a:path h="147066" w="152400">
                    <a:moveTo>
                      <a:pt x="0" y="0"/>
                    </a:moveTo>
                    <a:lnTo>
                      <a:pt x="0" y="147066"/>
                    </a:lnTo>
                    <a:lnTo>
                      <a:pt x="152400" y="147066"/>
                    </a:lnTo>
                    <a:lnTo>
                      <a:pt x="152400" y="0"/>
                    </a:lnTo>
                    <a:lnTo>
                      <a:pt x="130175" y="0"/>
                    </a:lnTo>
                    <a:lnTo>
                      <a:pt x="129540" y="508"/>
                    </a:lnTo>
                    <a:lnTo>
                      <a:pt x="93726" y="27813"/>
                    </a:lnTo>
                    <a:lnTo>
                      <a:pt x="96647" y="31496"/>
                    </a:lnTo>
                    <a:lnTo>
                      <a:pt x="131826" y="4572"/>
                    </a:lnTo>
                    <a:lnTo>
                      <a:pt x="147701" y="4572"/>
                    </a:lnTo>
                    <a:lnTo>
                      <a:pt x="147701" y="78105"/>
                    </a:lnTo>
                    <a:lnTo>
                      <a:pt x="81026" y="78105"/>
                    </a:lnTo>
                    <a:lnTo>
                      <a:pt x="81026" y="110363"/>
                    </a:lnTo>
                    <a:lnTo>
                      <a:pt x="4826" y="110363"/>
                    </a:lnTo>
                    <a:lnTo>
                      <a:pt x="4826" y="68961"/>
                    </a:lnTo>
                    <a:lnTo>
                      <a:pt x="71374" y="68961"/>
                    </a:lnTo>
                    <a:lnTo>
                      <a:pt x="71374" y="4572"/>
                    </a:lnTo>
                    <a:lnTo>
                      <a:pt x="95250" y="4572"/>
                    </a:lnTo>
                    <a:lnTo>
                      <a:pt x="95250" y="0"/>
                    </a:lnTo>
                    <a:lnTo>
                      <a:pt x="0" y="0"/>
                    </a:lnTo>
                    <a:close/>
                    <a:moveTo>
                      <a:pt x="4826" y="4572"/>
                    </a:moveTo>
                    <a:lnTo>
                      <a:pt x="66675" y="4572"/>
                    </a:lnTo>
                    <a:lnTo>
                      <a:pt x="66675" y="64262"/>
                    </a:lnTo>
                    <a:lnTo>
                      <a:pt x="4826" y="64262"/>
                    </a:lnTo>
                    <a:lnTo>
                      <a:pt x="4826" y="4572"/>
                    </a:lnTo>
                    <a:close/>
                    <a:moveTo>
                      <a:pt x="85725" y="82677"/>
                    </a:moveTo>
                    <a:lnTo>
                      <a:pt x="147701" y="82677"/>
                    </a:lnTo>
                    <a:lnTo>
                      <a:pt x="147701" y="142367"/>
                    </a:lnTo>
                    <a:lnTo>
                      <a:pt x="85725" y="142367"/>
                    </a:lnTo>
                    <a:lnTo>
                      <a:pt x="85725" y="82677"/>
                    </a:lnTo>
                    <a:close/>
                    <a:moveTo>
                      <a:pt x="4826" y="114935"/>
                    </a:moveTo>
                    <a:lnTo>
                      <a:pt x="81026" y="114935"/>
                    </a:lnTo>
                    <a:lnTo>
                      <a:pt x="81026" y="142494"/>
                    </a:lnTo>
                    <a:lnTo>
                      <a:pt x="4826" y="142494"/>
                    </a:lnTo>
                    <a:lnTo>
                      <a:pt x="4826" y="114935"/>
                    </a:lnTo>
                    <a:close/>
                  </a:path>
                </a:pathLst>
              </a:custGeom>
              <a:solidFill>
                <a:srgbClr val="505050"/>
              </a:solidFill>
            </p:spPr>
          </p:sp>
        </p:grpSp>
        <p:grpSp>
          <p:nvGrpSpPr>
            <p:cNvPr name="Group 29" id="29"/>
            <p:cNvGrpSpPr/>
            <p:nvPr/>
          </p:nvGrpSpPr>
          <p:grpSpPr>
            <a:xfrm rot="0">
              <a:off x="4127364" y="4221241"/>
              <a:ext cx="558996" cy="548324"/>
              <a:chOff x="0" y="0"/>
              <a:chExt cx="279400" cy="274066"/>
            </a:xfrm>
          </p:grpSpPr>
          <p:sp>
            <p:nvSpPr>
              <p:cNvPr name="Freeform 30" id="30"/>
              <p:cNvSpPr/>
              <p:nvPr/>
            </p:nvSpPr>
            <p:spPr>
              <a:xfrm flipH="false" flipV="false" rot="0">
                <a:off x="63500" y="63500"/>
                <a:ext cx="152400" cy="147066"/>
              </a:xfrm>
              <a:custGeom>
                <a:avLst/>
                <a:gdLst/>
                <a:ahLst/>
                <a:cxnLst/>
                <a:rect r="r" b="b" t="t" l="l"/>
                <a:pathLst>
                  <a:path h="147066" w="152400">
                    <a:moveTo>
                      <a:pt x="152400" y="138049"/>
                    </a:moveTo>
                    <a:lnTo>
                      <a:pt x="152400" y="1778"/>
                    </a:lnTo>
                    <a:cubicBezTo>
                      <a:pt x="152400" y="762"/>
                      <a:pt x="151384" y="0"/>
                      <a:pt x="149987" y="0"/>
                    </a:cubicBezTo>
                    <a:lnTo>
                      <a:pt x="2413" y="0"/>
                    </a:lnTo>
                    <a:cubicBezTo>
                      <a:pt x="1143" y="0"/>
                      <a:pt x="0" y="762"/>
                      <a:pt x="0" y="1778"/>
                    </a:cubicBezTo>
                    <a:lnTo>
                      <a:pt x="0" y="138049"/>
                    </a:lnTo>
                    <a:cubicBezTo>
                      <a:pt x="0" y="143002"/>
                      <a:pt x="5207" y="147066"/>
                      <a:pt x="11684" y="147066"/>
                    </a:cubicBezTo>
                    <a:lnTo>
                      <a:pt x="140716" y="147066"/>
                    </a:lnTo>
                    <a:cubicBezTo>
                      <a:pt x="147193" y="147066"/>
                      <a:pt x="152400" y="143002"/>
                      <a:pt x="152400" y="138049"/>
                    </a:cubicBezTo>
                    <a:close/>
                    <a:moveTo>
                      <a:pt x="4826" y="50292"/>
                    </a:moveTo>
                    <a:lnTo>
                      <a:pt x="147574" y="50292"/>
                    </a:lnTo>
                    <a:lnTo>
                      <a:pt x="147574" y="65405"/>
                    </a:lnTo>
                    <a:lnTo>
                      <a:pt x="4826" y="65405"/>
                    </a:lnTo>
                    <a:lnTo>
                      <a:pt x="4826" y="50292"/>
                    </a:lnTo>
                    <a:close/>
                    <a:moveTo>
                      <a:pt x="147574" y="3683"/>
                    </a:moveTo>
                    <a:lnTo>
                      <a:pt x="147574" y="46609"/>
                    </a:lnTo>
                    <a:lnTo>
                      <a:pt x="4826" y="46609"/>
                    </a:lnTo>
                    <a:lnTo>
                      <a:pt x="4826" y="3683"/>
                    </a:lnTo>
                    <a:lnTo>
                      <a:pt x="147574" y="3683"/>
                    </a:lnTo>
                    <a:close/>
                    <a:moveTo>
                      <a:pt x="4826" y="138049"/>
                    </a:moveTo>
                    <a:lnTo>
                      <a:pt x="4826" y="69088"/>
                    </a:lnTo>
                    <a:lnTo>
                      <a:pt x="147574" y="69088"/>
                    </a:lnTo>
                    <a:lnTo>
                      <a:pt x="147574" y="138049"/>
                    </a:lnTo>
                    <a:cubicBezTo>
                      <a:pt x="147574" y="140970"/>
                      <a:pt x="144526" y="143383"/>
                      <a:pt x="140716" y="143383"/>
                    </a:cubicBezTo>
                    <a:lnTo>
                      <a:pt x="11684" y="143383"/>
                    </a:lnTo>
                    <a:cubicBezTo>
                      <a:pt x="7874" y="143383"/>
                      <a:pt x="4826" y="140970"/>
                      <a:pt x="4826" y="138049"/>
                    </a:cubicBezTo>
                    <a:close/>
                  </a:path>
                </a:pathLst>
              </a:custGeom>
              <a:solidFill>
                <a:srgbClr val="505050"/>
              </a:solidFill>
            </p:spPr>
          </p:sp>
          <p:sp>
            <p:nvSpPr>
              <p:cNvPr name="Freeform 31" id="31"/>
              <p:cNvSpPr/>
              <p:nvPr/>
            </p:nvSpPr>
            <p:spPr>
              <a:xfrm flipH="false" flipV="false" rot="0">
                <a:off x="81407" y="71374"/>
                <a:ext cx="53340" cy="34925"/>
              </a:xfrm>
              <a:custGeom>
                <a:avLst/>
                <a:gdLst/>
                <a:ahLst/>
                <a:cxnLst/>
                <a:rect r="r" b="b" t="t" l="l"/>
                <a:pathLst>
                  <a:path h="34925" w="53340">
                    <a:moveTo>
                      <a:pt x="12065" y="34925"/>
                    </a:moveTo>
                    <a:lnTo>
                      <a:pt x="41275" y="34925"/>
                    </a:lnTo>
                    <a:cubicBezTo>
                      <a:pt x="47879" y="34925"/>
                      <a:pt x="53340" y="29718"/>
                      <a:pt x="53340" y="23241"/>
                    </a:cubicBezTo>
                    <a:lnTo>
                      <a:pt x="53340" y="11684"/>
                    </a:lnTo>
                    <a:cubicBezTo>
                      <a:pt x="53340" y="5207"/>
                      <a:pt x="47879" y="0"/>
                      <a:pt x="41275" y="0"/>
                    </a:cubicBezTo>
                    <a:lnTo>
                      <a:pt x="12065" y="0"/>
                    </a:lnTo>
                    <a:cubicBezTo>
                      <a:pt x="5461" y="0"/>
                      <a:pt x="0" y="5207"/>
                      <a:pt x="0" y="11684"/>
                    </a:cubicBezTo>
                    <a:lnTo>
                      <a:pt x="0" y="23241"/>
                    </a:lnTo>
                    <a:cubicBezTo>
                      <a:pt x="0" y="29718"/>
                      <a:pt x="5461" y="34925"/>
                      <a:pt x="12065" y="34925"/>
                    </a:cubicBezTo>
                    <a:close/>
                    <a:moveTo>
                      <a:pt x="4826" y="11684"/>
                    </a:moveTo>
                    <a:cubicBezTo>
                      <a:pt x="4826" y="7747"/>
                      <a:pt x="8128" y="4699"/>
                      <a:pt x="12065" y="4699"/>
                    </a:cubicBezTo>
                    <a:lnTo>
                      <a:pt x="41275" y="4699"/>
                    </a:lnTo>
                    <a:cubicBezTo>
                      <a:pt x="45339" y="4699"/>
                      <a:pt x="48514" y="7874"/>
                      <a:pt x="48514" y="11684"/>
                    </a:cubicBezTo>
                    <a:lnTo>
                      <a:pt x="48514" y="23241"/>
                    </a:lnTo>
                    <a:cubicBezTo>
                      <a:pt x="48514" y="27178"/>
                      <a:pt x="45212" y="30226"/>
                      <a:pt x="41275" y="30226"/>
                    </a:cubicBezTo>
                    <a:lnTo>
                      <a:pt x="12065" y="30226"/>
                    </a:lnTo>
                    <a:cubicBezTo>
                      <a:pt x="8001" y="30226"/>
                      <a:pt x="4826" y="27051"/>
                      <a:pt x="4826" y="23241"/>
                    </a:cubicBezTo>
                    <a:lnTo>
                      <a:pt x="4826" y="11684"/>
                    </a:lnTo>
                    <a:close/>
                  </a:path>
                </a:pathLst>
              </a:custGeom>
              <a:solidFill>
                <a:srgbClr val="505050"/>
              </a:solidFill>
            </p:spPr>
          </p:sp>
          <p:sp>
            <p:nvSpPr>
              <p:cNvPr name="Freeform 32" id="32"/>
              <p:cNvSpPr/>
              <p:nvPr/>
            </p:nvSpPr>
            <p:spPr>
              <a:xfrm flipH="false" flipV="false" rot="0">
                <a:off x="144653" y="71374"/>
                <a:ext cx="53213" cy="34925"/>
              </a:xfrm>
              <a:custGeom>
                <a:avLst/>
                <a:gdLst/>
                <a:ahLst/>
                <a:cxnLst/>
                <a:rect r="r" b="b" t="t" l="l"/>
                <a:pathLst>
                  <a:path h="34925" w="53213">
                    <a:moveTo>
                      <a:pt x="12065" y="34925"/>
                    </a:moveTo>
                    <a:lnTo>
                      <a:pt x="41148" y="34925"/>
                    </a:lnTo>
                    <a:cubicBezTo>
                      <a:pt x="47752" y="34925"/>
                      <a:pt x="53213" y="29718"/>
                      <a:pt x="53213" y="23241"/>
                    </a:cubicBezTo>
                    <a:lnTo>
                      <a:pt x="53213" y="11684"/>
                    </a:lnTo>
                    <a:cubicBezTo>
                      <a:pt x="53213" y="5207"/>
                      <a:pt x="47752" y="0"/>
                      <a:pt x="41148" y="0"/>
                    </a:cubicBezTo>
                    <a:lnTo>
                      <a:pt x="12065" y="0"/>
                    </a:lnTo>
                    <a:cubicBezTo>
                      <a:pt x="5461" y="0"/>
                      <a:pt x="0" y="5207"/>
                      <a:pt x="0" y="11684"/>
                    </a:cubicBezTo>
                    <a:lnTo>
                      <a:pt x="0" y="23241"/>
                    </a:lnTo>
                    <a:cubicBezTo>
                      <a:pt x="0" y="29718"/>
                      <a:pt x="5461" y="34925"/>
                      <a:pt x="12065" y="34925"/>
                    </a:cubicBezTo>
                    <a:close/>
                    <a:moveTo>
                      <a:pt x="4826" y="11684"/>
                    </a:moveTo>
                    <a:cubicBezTo>
                      <a:pt x="4826" y="7747"/>
                      <a:pt x="8128" y="4699"/>
                      <a:pt x="12065" y="4699"/>
                    </a:cubicBezTo>
                    <a:lnTo>
                      <a:pt x="41148" y="4699"/>
                    </a:lnTo>
                    <a:cubicBezTo>
                      <a:pt x="45212" y="4699"/>
                      <a:pt x="48387" y="7874"/>
                      <a:pt x="48387" y="11684"/>
                    </a:cubicBezTo>
                    <a:lnTo>
                      <a:pt x="48387" y="23241"/>
                    </a:lnTo>
                    <a:cubicBezTo>
                      <a:pt x="48387" y="27178"/>
                      <a:pt x="45085" y="30226"/>
                      <a:pt x="41148" y="30226"/>
                    </a:cubicBezTo>
                    <a:lnTo>
                      <a:pt x="12065" y="30226"/>
                    </a:lnTo>
                    <a:cubicBezTo>
                      <a:pt x="8001" y="30226"/>
                      <a:pt x="4826" y="27051"/>
                      <a:pt x="4826" y="23241"/>
                    </a:cubicBezTo>
                    <a:lnTo>
                      <a:pt x="4826" y="11684"/>
                    </a:lnTo>
                    <a:close/>
                  </a:path>
                </a:pathLst>
              </a:custGeom>
              <a:solidFill>
                <a:srgbClr val="505050"/>
              </a:solidFill>
            </p:spPr>
          </p:sp>
        </p:grpSp>
        <p:grpSp>
          <p:nvGrpSpPr>
            <p:cNvPr name="Group 33" id="33"/>
            <p:cNvGrpSpPr/>
            <p:nvPr/>
          </p:nvGrpSpPr>
          <p:grpSpPr>
            <a:xfrm rot="0">
              <a:off x="7632711" y="5726299"/>
              <a:ext cx="1998974" cy="9528"/>
              <a:chOff x="0" y="0"/>
              <a:chExt cx="999122" cy="4762"/>
            </a:xfrm>
          </p:grpSpPr>
          <p:sp>
            <p:nvSpPr>
              <p:cNvPr name="Freeform 34" id="34"/>
              <p:cNvSpPr/>
              <p:nvPr/>
            </p:nvSpPr>
            <p:spPr>
              <a:xfrm flipH="false" flipV="false" rot="0">
                <a:off x="0" y="0"/>
                <a:ext cx="999109" cy="4826"/>
              </a:xfrm>
              <a:custGeom>
                <a:avLst/>
                <a:gdLst/>
                <a:ahLst/>
                <a:cxnLst/>
                <a:rect r="r" b="b" t="t" l="l"/>
                <a:pathLst>
                  <a:path h="4826" w="999109">
                    <a:moveTo>
                      <a:pt x="0" y="0"/>
                    </a:moveTo>
                    <a:lnTo>
                      <a:pt x="999109" y="0"/>
                    </a:lnTo>
                    <a:lnTo>
                      <a:pt x="999109" y="4826"/>
                    </a:lnTo>
                    <a:lnTo>
                      <a:pt x="0" y="4826"/>
                    </a:lnTo>
                  </a:path>
                </a:pathLst>
              </a:custGeom>
              <a:solidFill>
                <a:srgbClr val="505050"/>
              </a:solidFill>
            </p:spPr>
          </p:sp>
        </p:grpSp>
        <p:sp>
          <p:nvSpPr>
            <p:cNvPr name="TextBox 35" id="35"/>
            <p:cNvSpPr txBox="true"/>
            <p:nvPr/>
          </p:nvSpPr>
          <p:spPr>
            <a:xfrm rot="0">
              <a:off x="36532" y="5430449"/>
              <a:ext cx="1803012" cy="318490"/>
            </a:xfrm>
            <a:prstGeom prst="rect">
              <a:avLst/>
            </a:prstGeom>
          </p:spPr>
          <p:txBody>
            <a:bodyPr anchor="t" rtlCol="false" tIns="0" lIns="0" bIns="0" rIns="0">
              <a:spAutoFit/>
            </a:bodyPr>
            <a:lstStyle/>
            <a:p>
              <a:pPr algn="l">
                <a:lnSpc>
                  <a:spcPts val="1862"/>
                </a:lnSpc>
              </a:pPr>
              <a:r>
                <a:rPr lang="en-US" b="true" sz="1185" i="true">
                  <a:solidFill>
                    <a:srgbClr val="191919"/>
                  </a:solidFill>
                  <a:latin typeface="Avenir Medium Italics"/>
                  <a:ea typeface="Avenir Medium Italics"/>
                  <a:cs typeface="Avenir Medium Italics"/>
                  <a:sym typeface="Avenir Medium Italics"/>
                </a:rPr>
                <a:t>Cancellation policy</a:t>
              </a:r>
            </a:p>
          </p:txBody>
        </p:sp>
        <p:sp>
          <p:nvSpPr>
            <p:cNvPr name="TextBox 36" id="36"/>
            <p:cNvSpPr txBox="true"/>
            <p:nvPr/>
          </p:nvSpPr>
          <p:spPr>
            <a:xfrm rot="0">
              <a:off x="430248" y="5755861"/>
              <a:ext cx="48595" cy="295129"/>
            </a:xfrm>
            <a:prstGeom prst="rect">
              <a:avLst/>
            </a:prstGeom>
          </p:spPr>
          <p:txBody>
            <a:bodyPr anchor="t" rtlCol="false" tIns="0" lIns="0" bIns="0" rIns="0">
              <a:spAutoFit/>
            </a:bodyPr>
            <a:lstStyle/>
            <a:p>
              <a:pPr algn="l">
                <a:lnSpc>
                  <a:spcPts val="1768"/>
                </a:lnSpc>
              </a:pPr>
              <a:r>
                <a:rPr lang="en-US" b="true" sz="1125">
                  <a:solidFill>
                    <a:srgbClr val="505050"/>
                  </a:solidFill>
                  <a:latin typeface="Avenir Ultra-Bold"/>
                  <a:ea typeface="Avenir Ultra-Bold"/>
                  <a:cs typeface="Avenir Ultra-Bold"/>
                  <a:sym typeface="Avenir Ultra-Bold"/>
                </a:rPr>
                <a:t> </a:t>
              </a:r>
            </a:p>
          </p:txBody>
        </p:sp>
        <p:sp>
          <p:nvSpPr>
            <p:cNvPr name="TextBox 37" id="37"/>
            <p:cNvSpPr txBox="true"/>
            <p:nvPr/>
          </p:nvSpPr>
          <p:spPr>
            <a:xfrm rot="0">
              <a:off x="541540" y="4354257"/>
              <a:ext cx="2117222" cy="276211"/>
            </a:xfrm>
            <a:prstGeom prst="rect">
              <a:avLst/>
            </a:prstGeom>
          </p:spPr>
          <p:txBody>
            <a:bodyPr anchor="t" rtlCol="false" tIns="0" lIns="0" bIns="0" rIns="0">
              <a:spAutoFit/>
            </a:bodyPr>
            <a:lstStyle/>
            <a:p>
              <a:pPr algn="l">
                <a:lnSpc>
                  <a:spcPts val="1575"/>
                </a:lnSpc>
              </a:pPr>
              <a:r>
                <a:rPr lang="en-US" b="true" sz="1125">
                  <a:solidFill>
                    <a:srgbClr val="CC0000"/>
                  </a:solidFill>
                  <a:latin typeface="Avenir Ultra-Bold"/>
                  <a:ea typeface="Avenir Ultra-Bold"/>
                  <a:cs typeface="Avenir Ultra-Bold"/>
                  <a:sym typeface="Avenir Ultra-Bold"/>
                </a:rPr>
                <a:t>Room View</a:t>
              </a:r>
            </a:p>
          </p:txBody>
        </p:sp>
        <p:sp>
          <p:nvSpPr>
            <p:cNvPr name="TextBox 38" id="38"/>
            <p:cNvSpPr txBox="true"/>
            <p:nvPr/>
          </p:nvSpPr>
          <p:spPr>
            <a:xfrm rot="0">
              <a:off x="3073231" y="4354257"/>
              <a:ext cx="974126" cy="276211"/>
            </a:xfrm>
            <a:prstGeom prst="rect">
              <a:avLst/>
            </a:prstGeom>
          </p:spPr>
          <p:txBody>
            <a:bodyPr anchor="t" rtlCol="false" tIns="0" lIns="0" bIns="0" rIns="0">
              <a:spAutoFit/>
            </a:bodyPr>
            <a:lstStyle/>
            <a:p>
              <a:pPr algn="l">
                <a:lnSpc>
                  <a:spcPts val="1575"/>
                </a:lnSpc>
              </a:pPr>
              <a:r>
                <a:rPr lang="en-US" b="true" sz="1125">
                  <a:solidFill>
                    <a:srgbClr val="CC0000"/>
                  </a:solidFill>
                  <a:latin typeface="Avenir Ultra-Bold"/>
                  <a:ea typeface="Avenir Ultra-Bold"/>
                  <a:cs typeface="Avenir Ultra-Bold"/>
                  <a:sym typeface="Avenir Ultra-Bold"/>
                </a:rPr>
                <a:t>Size m²</a:t>
              </a:r>
            </a:p>
          </p:txBody>
        </p:sp>
        <p:sp>
          <p:nvSpPr>
            <p:cNvPr name="TextBox 39" id="39"/>
            <p:cNvSpPr txBox="true"/>
            <p:nvPr/>
          </p:nvSpPr>
          <p:spPr>
            <a:xfrm rot="0">
              <a:off x="36532" y="5784436"/>
              <a:ext cx="6468806" cy="257485"/>
            </a:xfrm>
            <a:prstGeom prst="rect">
              <a:avLst/>
            </a:prstGeom>
          </p:spPr>
          <p:txBody>
            <a:bodyPr anchor="t" rtlCol="false" tIns="0" lIns="0" bIns="0" rIns="0">
              <a:spAutoFit/>
            </a:bodyPr>
            <a:lstStyle/>
            <a:p>
              <a:pPr algn="l">
                <a:lnSpc>
                  <a:spcPts val="1479"/>
                </a:lnSpc>
              </a:pPr>
              <a:r>
                <a:rPr lang="en-US" b="true" sz="1125">
                  <a:solidFill>
                    <a:srgbClr val="505050"/>
                  </a:solidFill>
                  <a:latin typeface="Avenir Ultra-Bold"/>
                  <a:ea typeface="Avenir Ultra-Bold"/>
                  <a:cs typeface="Avenir Ultra-Bold"/>
                  <a:sym typeface="Avenir Ultra-Bold"/>
                </a:rPr>
                <a:t>Free cancellation before </a:t>
              </a:r>
              <a:r>
                <a:rPr lang="en-US" b="true" sz="1125">
                  <a:solidFill>
                    <a:srgbClr val="CC0000"/>
                  </a:solidFill>
                  <a:latin typeface="Avenir Ultra-Bold"/>
                  <a:ea typeface="Avenir Ultra-Bold"/>
                  <a:cs typeface="Avenir Ultra-Bold"/>
                  <a:sym typeface="Avenir Ultra-Bold"/>
                </a:rPr>
                <a:t>time</a:t>
              </a:r>
              <a:r>
                <a:rPr lang="en-US" b="true" sz="1125">
                  <a:solidFill>
                    <a:srgbClr val="505050"/>
                  </a:solidFill>
                  <a:latin typeface="Avenir Ultra-Bold"/>
                  <a:ea typeface="Avenir Ultra-Bold"/>
                  <a:cs typeface="Avenir Ultra-Bold"/>
                  <a:sym typeface="Avenir Ultra-Bold"/>
                </a:rPr>
                <a:t> on</a:t>
              </a:r>
              <a:r>
                <a:rPr lang="en-US" b="true" sz="1125">
                  <a:solidFill>
                    <a:srgbClr val="CC0000"/>
                  </a:solidFill>
                  <a:latin typeface="Avenir Ultra-Bold"/>
                  <a:ea typeface="Avenir Ultra-Bold"/>
                  <a:cs typeface="Avenir Ultra-Bold"/>
                  <a:sym typeface="Avenir Ultra-Bold"/>
                </a:rPr>
                <a:t> Date Month Year </a:t>
              </a:r>
              <a:r>
                <a:rPr lang="en-US" b="true" sz="1125">
                  <a:solidFill>
                    <a:srgbClr val="505050"/>
                  </a:solidFill>
                  <a:latin typeface="Avenir Ultra-Bold"/>
                  <a:ea typeface="Avenir Ultra-Bold"/>
                  <a:cs typeface="Avenir Ultra-Bold"/>
                  <a:sym typeface="Avenir Ultra-Bold"/>
                </a:rPr>
                <a:t>after which a</a:t>
              </a:r>
            </a:p>
          </p:txBody>
        </p:sp>
        <p:sp>
          <p:nvSpPr>
            <p:cNvPr name="TextBox 40" id="40"/>
            <p:cNvSpPr txBox="true"/>
            <p:nvPr/>
          </p:nvSpPr>
          <p:spPr>
            <a:xfrm rot="0">
              <a:off x="36532" y="6034939"/>
              <a:ext cx="4010825" cy="257485"/>
            </a:xfrm>
            <a:prstGeom prst="rect">
              <a:avLst/>
            </a:prstGeom>
          </p:spPr>
          <p:txBody>
            <a:bodyPr anchor="t" rtlCol="false" tIns="0" lIns="0" bIns="0" rIns="0">
              <a:spAutoFit/>
            </a:bodyPr>
            <a:lstStyle/>
            <a:p>
              <a:pPr algn="l">
                <a:lnSpc>
                  <a:spcPts val="1479"/>
                </a:lnSpc>
              </a:pPr>
              <a:r>
                <a:rPr lang="en-US" b="true" sz="1125">
                  <a:solidFill>
                    <a:srgbClr val="505050"/>
                  </a:solidFill>
                  <a:latin typeface="Avenir Ultra-Bold"/>
                  <a:ea typeface="Avenir Ultra-Bold"/>
                  <a:cs typeface="Avenir Ultra-Bold"/>
                  <a:sym typeface="Avenir Ultra-Bold"/>
                </a:rPr>
                <a:t>charge of EUR </a:t>
              </a:r>
              <a:r>
                <a:rPr lang="en-US" b="true" sz="1125">
                  <a:solidFill>
                    <a:srgbClr val="CC0000"/>
                  </a:solidFill>
                  <a:latin typeface="Avenir Ultra-Bold"/>
                  <a:ea typeface="Avenir Ultra-Bold"/>
                  <a:cs typeface="Avenir Ultra-Bold"/>
                  <a:sym typeface="Avenir Ultra-Bold"/>
                </a:rPr>
                <a:t>price</a:t>
              </a:r>
              <a:r>
                <a:rPr lang="en-US" b="true" sz="1125">
                  <a:solidFill>
                    <a:srgbClr val="505050"/>
                  </a:solidFill>
                  <a:latin typeface="Avenir Ultra-Bold"/>
                  <a:ea typeface="Avenir Ultra-Bold"/>
                  <a:cs typeface="Avenir Ultra-Bold"/>
                  <a:sym typeface="Avenir Ultra-Bold"/>
                </a:rPr>
                <a:t> will be incurred.</a:t>
              </a:r>
            </a:p>
          </p:txBody>
        </p:sp>
        <p:sp>
          <p:nvSpPr>
            <p:cNvPr name="TextBox 41" id="41"/>
            <p:cNvSpPr txBox="true"/>
            <p:nvPr/>
          </p:nvSpPr>
          <p:spPr>
            <a:xfrm rot="0">
              <a:off x="4668885" y="4354257"/>
              <a:ext cx="1490085" cy="276211"/>
            </a:xfrm>
            <a:prstGeom prst="rect">
              <a:avLst/>
            </a:prstGeom>
          </p:spPr>
          <p:txBody>
            <a:bodyPr anchor="t" rtlCol="false" tIns="0" lIns="0" bIns="0" rIns="0">
              <a:spAutoFit/>
            </a:bodyPr>
            <a:lstStyle/>
            <a:p>
              <a:pPr algn="l">
                <a:lnSpc>
                  <a:spcPts val="1575"/>
                </a:lnSpc>
              </a:pPr>
              <a:r>
                <a:rPr lang="en-US" b="true" sz="1125">
                  <a:solidFill>
                    <a:srgbClr val="CC0000"/>
                  </a:solidFill>
                  <a:latin typeface="Avenir Ultra-Bold"/>
                  <a:ea typeface="Avenir Ultra-Bold"/>
                  <a:cs typeface="Avenir Ultra-Bold"/>
                  <a:sym typeface="Avenir Ultra-Bold"/>
                </a:rPr>
                <a:t>King / Twin</a:t>
              </a:r>
            </a:p>
          </p:txBody>
        </p:sp>
        <p:sp>
          <p:nvSpPr>
            <p:cNvPr name="TextBox 42" id="42"/>
            <p:cNvSpPr txBox="true"/>
            <p:nvPr/>
          </p:nvSpPr>
          <p:spPr>
            <a:xfrm rot="0">
              <a:off x="36532" y="3762007"/>
              <a:ext cx="1767261" cy="350248"/>
            </a:xfrm>
            <a:prstGeom prst="rect">
              <a:avLst/>
            </a:prstGeom>
          </p:spPr>
          <p:txBody>
            <a:bodyPr anchor="t" rtlCol="false" tIns="0" lIns="0" bIns="0" rIns="0">
              <a:spAutoFit/>
            </a:bodyPr>
            <a:lstStyle/>
            <a:p>
              <a:pPr algn="l">
                <a:lnSpc>
                  <a:spcPts val="2058"/>
                </a:lnSpc>
              </a:pPr>
              <a:r>
                <a:rPr lang="en-US" b="true" sz="1470" i="true">
                  <a:solidFill>
                    <a:srgbClr val="CC0000"/>
                  </a:solidFill>
                  <a:latin typeface="Avenir Medium Italics"/>
                  <a:ea typeface="Avenir Medium Italics"/>
                  <a:cs typeface="Avenir Medium Italics"/>
                  <a:sym typeface="Avenir Medium Italics"/>
                </a:rPr>
                <a:t>Room Type</a:t>
              </a:r>
            </a:p>
          </p:txBody>
        </p:sp>
        <p:sp>
          <p:nvSpPr>
            <p:cNvPr name="TextBox 43" id="43"/>
            <p:cNvSpPr txBox="true"/>
            <p:nvPr/>
          </p:nvSpPr>
          <p:spPr>
            <a:xfrm rot="0">
              <a:off x="112760" y="4973584"/>
              <a:ext cx="1625383" cy="254625"/>
            </a:xfrm>
            <a:prstGeom prst="rect">
              <a:avLst/>
            </a:prstGeom>
          </p:spPr>
          <p:txBody>
            <a:bodyPr anchor="t" rtlCol="false" tIns="0" lIns="0" bIns="0" rIns="0">
              <a:spAutoFit/>
            </a:bodyPr>
            <a:lstStyle/>
            <a:p>
              <a:pPr algn="l">
                <a:lnSpc>
                  <a:spcPts val="1491"/>
                </a:lnSpc>
              </a:pPr>
              <a:r>
                <a:rPr lang="en-US" b="true" sz="1065">
                  <a:solidFill>
                    <a:srgbClr val="000000"/>
                  </a:solidFill>
                  <a:latin typeface="Avenir Medium"/>
                  <a:ea typeface="Avenir Medium"/>
                  <a:cs typeface="Avenir Medium"/>
                  <a:sym typeface="Avenir Medium"/>
                </a:rPr>
                <a:t>Best Available Rate</a:t>
              </a:r>
            </a:p>
          </p:txBody>
        </p:sp>
        <p:sp>
          <p:nvSpPr>
            <p:cNvPr name="TextBox 44" id="44"/>
            <p:cNvSpPr txBox="true"/>
            <p:nvPr/>
          </p:nvSpPr>
          <p:spPr>
            <a:xfrm rot="0">
              <a:off x="6991604" y="4939230"/>
              <a:ext cx="2640082" cy="1087213"/>
            </a:xfrm>
            <a:prstGeom prst="rect">
              <a:avLst/>
            </a:prstGeom>
          </p:spPr>
          <p:txBody>
            <a:bodyPr anchor="t" rtlCol="false" tIns="0" lIns="0" bIns="0" rIns="0">
              <a:spAutoFit/>
            </a:bodyPr>
            <a:lstStyle/>
            <a:p>
              <a:pPr algn="r">
                <a:lnSpc>
                  <a:spcPts val="1428"/>
                </a:lnSpc>
              </a:pPr>
              <a:r>
                <a:rPr lang="en-US" b="true" sz="1020" i="true">
                  <a:solidFill>
                    <a:srgbClr val="505050"/>
                  </a:solidFill>
                  <a:latin typeface="Avenir Medium Italics"/>
                  <a:ea typeface="Avenir Medium Italics"/>
                  <a:cs typeface="Avenir Medium Italics"/>
                  <a:sym typeface="Avenir Medium Italics"/>
                </a:rPr>
                <a:t>Total for </a:t>
              </a:r>
              <a:r>
                <a:rPr lang="en-US" b="true" sz="1020" i="true">
                  <a:solidFill>
                    <a:srgbClr val="CC0000"/>
                  </a:solidFill>
                  <a:latin typeface="Avenir Medium Italics"/>
                  <a:ea typeface="Avenir Medium Italics"/>
                  <a:cs typeface="Avenir Medium Italics"/>
                  <a:sym typeface="Avenir Medium Italics"/>
                </a:rPr>
                <a:t>x</a:t>
              </a:r>
              <a:r>
                <a:rPr lang="en-US" b="true" sz="1020" i="true">
                  <a:solidFill>
                    <a:srgbClr val="505050"/>
                  </a:solidFill>
                  <a:latin typeface="Avenir Medium Italics"/>
                  <a:ea typeface="Avenir Medium Italics"/>
                  <a:cs typeface="Avenir Medium Italics"/>
                  <a:sym typeface="Avenir Medium Italics"/>
                </a:rPr>
                <a:t> nights inc tax</a:t>
              </a:r>
            </a:p>
            <a:p>
              <a:pPr algn="r">
                <a:lnSpc>
                  <a:spcPts val="1890"/>
                </a:lnSpc>
              </a:pPr>
              <a:r>
                <a:rPr lang="en-US" b="true" sz="1350" i="true">
                  <a:solidFill>
                    <a:srgbClr val="505050"/>
                  </a:solidFill>
                  <a:latin typeface="Avenir Medium Italics"/>
                  <a:ea typeface="Avenir Medium Italics"/>
                  <a:cs typeface="Avenir Medium Italics"/>
                  <a:sym typeface="Avenir Medium Italics"/>
                </a:rPr>
                <a:t>€ </a:t>
              </a:r>
              <a:r>
                <a:rPr lang="en-US" b="true" sz="1350" i="true">
                  <a:solidFill>
                    <a:srgbClr val="CC0000"/>
                  </a:solidFill>
                  <a:latin typeface="Avenir Medium Italics"/>
                  <a:ea typeface="Avenir Medium Italics"/>
                  <a:cs typeface="Avenir Medium Italics"/>
                  <a:sym typeface="Avenir Medium Italics"/>
                </a:rPr>
                <a:t>price</a:t>
              </a:r>
            </a:p>
            <a:p>
              <a:pPr algn="r">
                <a:lnSpc>
                  <a:spcPts val="1641"/>
                </a:lnSpc>
              </a:pPr>
              <a:r>
                <a:rPr lang="en-US" b="true" sz="1020" i="true">
                  <a:solidFill>
                    <a:srgbClr val="505050"/>
                  </a:solidFill>
                  <a:latin typeface="Avenir Medium Italics"/>
                  <a:ea typeface="Avenir Medium Italics"/>
                  <a:cs typeface="Avenir Medium Italics"/>
                  <a:sym typeface="Avenir Medium Italics"/>
                </a:rPr>
                <a:t>Average per night inc tax</a:t>
              </a:r>
            </a:p>
            <a:p>
              <a:pPr algn="r">
                <a:lnSpc>
                  <a:spcPts val="1641"/>
                </a:lnSpc>
              </a:pPr>
              <a:r>
                <a:rPr lang="en-US" b="true" sz="1020" i="true">
                  <a:solidFill>
                    <a:srgbClr val="505050"/>
                  </a:solidFill>
                  <a:latin typeface="Avenir Medium Italics"/>
                  <a:ea typeface="Avenir Medium Italics"/>
                  <a:cs typeface="Avenir Medium Italics"/>
                  <a:sym typeface="Avenir Medium Italics"/>
                </a:rPr>
                <a:t>€ </a:t>
              </a:r>
              <a:r>
                <a:rPr lang="en-US" b="true" sz="1020" i="true">
                  <a:solidFill>
                    <a:srgbClr val="CC0000"/>
                  </a:solidFill>
                  <a:latin typeface="Avenir Medium Italics"/>
                  <a:ea typeface="Avenir Medium Italics"/>
                  <a:cs typeface="Avenir Medium Italics"/>
                  <a:sym typeface="Avenir Medium Italics"/>
                </a:rPr>
                <a:t>price</a:t>
              </a:r>
            </a:p>
          </p:txBody>
        </p:sp>
        <p:grpSp>
          <p:nvGrpSpPr>
            <p:cNvPr name="Group 45" id="45"/>
            <p:cNvGrpSpPr/>
            <p:nvPr/>
          </p:nvGrpSpPr>
          <p:grpSpPr>
            <a:xfrm rot="0">
              <a:off x="46061" y="0"/>
              <a:ext cx="9585625" cy="3620813"/>
              <a:chOff x="0" y="0"/>
              <a:chExt cx="6388100" cy="2413000"/>
            </a:xfrm>
          </p:grpSpPr>
          <p:sp>
            <p:nvSpPr>
              <p:cNvPr name="Freeform 46" id="46"/>
              <p:cNvSpPr/>
              <p:nvPr/>
            </p:nvSpPr>
            <p:spPr>
              <a:xfrm flipH="false" flipV="false" rot="0">
                <a:off x="0" y="0"/>
                <a:ext cx="6388100" cy="2413000"/>
              </a:xfrm>
              <a:custGeom>
                <a:avLst/>
                <a:gdLst/>
                <a:ahLst/>
                <a:cxnLst/>
                <a:rect r="r" b="b" t="t" l="l"/>
                <a:pathLst>
                  <a:path h="2413000" w="6388100">
                    <a:moveTo>
                      <a:pt x="0" y="0"/>
                    </a:moveTo>
                    <a:lnTo>
                      <a:pt x="6388100" y="0"/>
                    </a:lnTo>
                    <a:lnTo>
                      <a:pt x="6388100" y="2413000"/>
                    </a:lnTo>
                    <a:lnTo>
                      <a:pt x="0" y="2413000"/>
                    </a:lnTo>
                    <a:lnTo>
                      <a:pt x="0" y="0"/>
                    </a:lnTo>
                    <a:close/>
                  </a:path>
                </a:pathLst>
              </a:custGeom>
              <a:blipFill>
                <a:blip r:embed="rId6"/>
                <a:stretch>
                  <a:fillRect l="0" t="-1584" r="0" b="-1584"/>
                </a:stretch>
              </a:blipFill>
            </p:spPr>
          </p:sp>
        </p:grpSp>
      </p:grpSp>
      <p:grpSp>
        <p:nvGrpSpPr>
          <p:cNvPr name="Group 47" id="47"/>
          <p:cNvGrpSpPr/>
          <p:nvPr/>
        </p:nvGrpSpPr>
        <p:grpSpPr>
          <a:xfrm rot="0">
            <a:off x="-84048" y="15237194"/>
            <a:ext cx="10455084" cy="647136"/>
            <a:chOff x="0" y="0"/>
            <a:chExt cx="7899400" cy="488950"/>
          </a:xfrm>
        </p:grpSpPr>
        <p:sp>
          <p:nvSpPr>
            <p:cNvPr name="Freeform 48" id="48"/>
            <p:cNvSpPr/>
            <p:nvPr/>
          </p:nvSpPr>
          <p:spPr>
            <a:xfrm flipH="false" flipV="false" rot="0">
              <a:off x="63500" y="63500"/>
              <a:ext cx="7772400" cy="361950"/>
            </a:xfrm>
            <a:custGeom>
              <a:avLst/>
              <a:gdLst/>
              <a:ahLst/>
              <a:cxnLst/>
              <a:rect r="r" b="b" t="t" l="l"/>
              <a:pathLst>
                <a:path h="361950" w="7772400">
                  <a:moveTo>
                    <a:pt x="0" y="361950"/>
                  </a:moveTo>
                  <a:lnTo>
                    <a:pt x="7772400" y="361950"/>
                  </a:lnTo>
                  <a:lnTo>
                    <a:pt x="7772400" y="0"/>
                  </a:lnTo>
                  <a:lnTo>
                    <a:pt x="0" y="0"/>
                  </a:lnTo>
                  <a:close/>
                </a:path>
              </a:pathLst>
            </a:custGeom>
            <a:solidFill>
              <a:srgbClr val="FFFFFF"/>
            </a:solidFill>
          </p:spPr>
        </p:sp>
        <p:sp>
          <p:nvSpPr>
            <p:cNvPr name="Freeform 49" id="49"/>
            <p:cNvSpPr/>
            <p:nvPr/>
          </p:nvSpPr>
          <p:spPr>
            <a:xfrm flipH="false" flipV="false" rot="0">
              <a:off x="63500" y="63500"/>
              <a:ext cx="7772400" cy="4826"/>
            </a:xfrm>
            <a:custGeom>
              <a:avLst/>
              <a:gdLst/>
              <a:ahLst/>
              <a:cxnLst/>
              <a:rect r="r" b="b" t="t" l="l"/>
              <a:pathLst>
                <a:path h="4826" w="7772400">
                  <a:moveTo>
                    <a:pt x="0" y="0"/>
                  </a:moveTo>
                  <a:lnTo>
                    <a:pt x="7772400" y="0"/>
                  </a:lnTo>
                  <a:lnTo>
                    <a:pt x="7772400" y="4826"/>
                  </a:lnTo>
                  <a:lnTo>
                    <a:pt x="0" y="4826"/>
                  </a:lnTo>
                </a:path>
              </a:pathLst>
            </a:custGeom>
            <a:solidFill>
              <a:srgbClr val="191919"/>
            </a:solidFill>
          </p:spPr>
        </p:sp>
      </p:grpSp>
      <p:sp>
        <p:nvSpPr>
          <p:cNvPr name="TextBox 50" id="50"/>
          <p:cNvSpPr txBox="true"/>
          <p:nvPr/>
        </p:nvSpPr>
        <p:spPr>
          <a:xfrm rot="0">
            <a:off x="276085" y="15458677"/>
            <a:ext cx="3809909" cy="175121"/>
          </a:xfrm>
          <a:prstGeom prst="rect">
            <a:avLst/>
          </a:prstGeom>
        </p:spPr>
        <p:txBody>
          <a:bodyPr anchor="t" rtlCol="false" tIns="0" lIns="0" bIns="0" rIns="0">
            <a:spAutoFit/>
          </a:bodyPr>
          <a:lstStyle/>
          <a:p>
            <a:pPr algn="l">
              <a:lnSpc>
                <a:spcPts val="1260"/>
              </a:lnSpc>
            </a:pPr>
            <a:r>
              <a:rPr lang="en-US" b="true" sz="900">
                <a:solidFill>
                  <a:srgbClr val="505050"/>
                </a:solidFill>
                <a:latin typeface="Avenir Ultra-Bold"/>
                <a:ea typeface="Avenir Ultra-Bold"/>
                <a:cs typeface="Avenir Ultra-Bold"/>
                <a:sym typeface="Avenir Ultra-Bold"/>
              </a:rPr>
              <a:t>All prices listed are subject to availability and change, none are on hold.</a:t>
            </a:r>
          </a:p>
        </p:txBody>
      </p:sp>
      <p:grpSp>
        <p:nvGrpSpPr>
          <p:cNvPr name="Group 51" id="51"/>
          <p:cNvGrpSpPr/>
          <p:nvPr/>
        </p:nvGrpSpPr>
        <p:grpSpPr>
          <a:xfrm rot="0">
            <a:off x="0" y="3628605"/>
            <a:ext cx="10287000" cy="3926961"/>
            <a:chOff x="0" y="0"/>
            <a:chExt cx="10363200" cy="3956050"/>
          </a:xfrm>
        </p:grpSpPr>
        <p:sp>
          <p:nvSpPr>
            <p:cNvPr name="Freeform 52" id="52"/>
            <p:cNvSpPr/>
            <p:nvPr/>
          </p:nvSpPr>
          <p:spPr>
            <a:xfrm flipH="false" flipV="false" rot="0">
              <a:off x="0" y="0"/>
              <a:ext cx="10363200" cy="3956050"/>
            </a:xfrm>
            <a:custGeom>
              <a:avLst/>
              <a:gdLst/>
              <a:ahLst/>
              <a:cxnLst/>
              <a:rect r="r" b="b" t="t" l="l"/>
              <a:pathLst>
                <a:path h="3956050" w="10363200">
                  <a:moveTo>
                    <a:pt x="0" y="0"/>
                  </a:moveTo>
                  <a:lnTo>
                    <a:pt x="10363200" y="0"/>
                  </a:lnTo>
                  <a:lnTo>
                    <a:pt x="10363200" y="3956050"/>
                  </a:lnTo>
                  <a:lnTo>
                    <a:pt x="0" y="3956050"/>
                  </a:lnTo>
                  <a:lnTo>
                    <a:pt x="0" y="0"/>
                  </a:lnTo>
                  <a:close/>
                </a:path>
              </a:pathLst>
            </a:custGeom>
            <a:blipFill>
              <a:blip r:embed="rId6"/>
              <a:stretch>
                <a:fillRect l="0" t="-1042" r="0" b="-1042"/>
              </a:stretch>
            </a:blipFill>
          </p:spPr>
        </p:sp>
      </p:grpSp>
      <p:grpSp>
        <p:nvGrpSpPr>
          <p:cNvPr name="Group 53" id="53"/>
          <p:cNvGrpSpPr/>
          <p:nvPr/>
        </p:nvGrpSpPr>
        <p:grpSpPr>
          <a:xfrm rot="0">
            <a:off x="2571750" y="5616051"/>
            <a:ext cx="5143500" cy="1293023"/>
            <a:chOff x="0" y="0"/>
            <a:chExt cx="3886200" cy="976948"/>
          </a:xfrm>
        </p:grpSpPr>
        <p:sp>
          <p:nvSpPr>
            <p:cNvPr name="Freeform 54" id="54"/>
            <p:cNvSpPr/>
            <p:nvPr/>
          </p:nvSpPr>
          <p:spPr>
            <a:xfrm flipH="false" flipV="false" rot="0">
              <a:off x="0" y="0"/>
              <a:ext cx="3886200" cy="976884"/>
            </a:xfrm>
            <a:custGeom>
              <a:avLst/>
              <a:gdLst/>
              <a:ahLst/>
              <a:cxnLst/>
              <a:rect r="r" b="b" t="t" l="l"/>
              <a:pathLst>
                <a:path h="976884" w="3886200">
                  <a:moveTo>
                    <a:pt x="0" y="976884"/>
                  </a:moveTo>
                  <a:lnTo>
                    <a:pt x="3886200" y="976884"/>
                  </a:lnTo>
                  <a:lnTo>
                    <a:pt x="3886200" y="0"/>
                  </a:lnTo>
                  <a:lnTo>
                    <a:pt x="0" y="0"/>
                  </a:lnTo>
                  <a:close/>
                </a:path>
              </a:pathLst>
            </a:custGeom>
            <a:solidFill>
              <a:srgbClr val="191919">
                <a:alpha val="35686"/>
              </a:srgbClr>
            </a:solidFill>
          </p:spPr>
        </p:sp>
      </p:grpSp>
      <p:sp>
        <p:nvSpPr>
          <p:cNvPr name="TextBox 55" id="55"/>
          <p:cNvSpPr txBox="true"/>
          <p:nvPr/>
        </p:nvSpPr>
        <p:spPr>
          <a:xfrm rot="0">
            <a:off x="3246488" y="5943291"/>
            <a:ext cx="3866967" cy="337432"/>
          </a:xfrm>
          <a:prstGeom prst="rect">
            <a:avLst/>
          </a:prstGeom>
        </p:spPr>
        <p:txBody>
          <a:bodyPr anchor="t" rtlCol="false" tIns="0" lIns="0" bIns="0" rIns="0">
            <a:spAutoFit/>
          </a:bodyPr>
          <a:lstStyle/>
          <a:p>
            <a:pPr algn="ctr">
              <a:lnSpc>
                <a:spcPts val="2487"/>
              </a:lnSpc>
            </a:pPr>
            <a:r>
              <a:rPr lang="en-US" b="true" sz="1786" i="true">
                <a:solidFill>
                  <a:srgbClr val="CC0000"/>
                </a:solidFill>
                <a:latin typeface="Avenir Medium Italics"/>
                <a:ea typeface="Avenir Medium Italics"/>
                <a:cs typeface="Avenir Medium Italics"/>
                <a:sym typeface="Avenir Medium Italics"/>
              </a:rPr>
              <a:t>HOTEL NAME</a:t>
            </a:r>
          </a:p>
        </p:txBody>
      </p:sp>
      <p:sp>
        <p:nvSpPr>
          <p:cNvPr name="TextBox 56" id="56"/>
          <p:cNvSpPr txBox="true"/>
          <p:nvPr/>
        </p:nvSpPr>
        <p:spPr>
          <a:xfrm rot="0">
            <a:off x="5179971" y="6293784"/>
            <a:ext cx="40291" cy="342041"/>
          </a:xfrm>
          <a:prstGeom prst="rect">
            <a:avLst/>
          </a:prstGeom>
        </p:spPr>
        <p:txBody>
          <a:bodyPr anchor="t" rtlCol="false" tIns="0" lIns="0" bIns="0" rIns="0">
            <a:spAutoFit/>
          </a:bodyPr>
          <a:lstStyle/>
          <a:p>
            <a:pPr algn="l">
              <a:lnSpc>
                <a:spcPts val="2871"/>
              </a:lnSpc>
            </a:pPr>
            <a:r>
              <a:rPr lang="en-US" b="true" sz="1244">
                <a:solidFill>
                  <a:srgbClr val="FFFFFF"/>
                </a:solidFill>
                <a:latin typeface="Avenir Medium"/>
                <a:ea typeface="Avenir Medium"/>
                <a:cs typeface="Avenir Medium"/>
                <a:sym typeface="Avenir Medium"/>
              </a:rPr>
              <a:t> </a:t>
            </a:r>
          </a:p>
        </p:txBody>
      </p:sp>
      <p:sp>
        <p:nvSpPr>
          <p:cNvPr name="TextBox 57" id="57"/>
          <p:cNvSpPr txBox="true"/>
          <p:nvPr/>
        </p:nvSpPr>
        <p:spPr>
          <a:xfrm rot="0">
            <a:off x="4546482" y="6304822"/>
            <a:ext cx="1194048" cy="235099"/>
          </a:xfrm>
          <a:prstGeom prst="rect">
            <a:avLst/>
          </a:prstGeom>
        </p:spPr>
        <p:txBody>
          <a:bodyPr anchor="t" rtlCol="false" tIns="0" lIns="0" bIns="0" rIns="0">
            <a:spAutoFit/>
          </a:bodyPr>
          <a:lstStyle/>
          <a:p>
            <a:pPr algn="ctr">
              <a:lnSpc>
                <a:spcPts val="1741"/>
              </a:lnSpc>
            </a:pPr>
            <a:r>
              <a:rPr lang="en-US" b="true" sz="1244">
                <a:solidFill>
                  <a:srgbClr val="CC0000"/>
                </a:solidFill>
                <a:latin typeface="Avenir Medium"/>
                <a:ea typeface="Avenir Medium"/>
                <a:cs typeface="Avenir Medium"/>
                <a:sym typeface="Avenir Medium"/>
              </a:rPr>
              <a:t>CITY, COUNTRY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83096" y="868428"/>
            <a:ext cx="8229600" cy="546609"/>
          </a:xfrm>
          <a:prstGeom prst="rect">
            <a:avLst/>
          </a:prstGeom>
        </p:spPr>
        <p:txBody>
          <a:bodyPr anchor="t" rtlCol="false" tIns="0" lIns="0" bIns="0" rIns="0">
            <a:spAutoFit/>
          </a:bodyPr>
          <a:lstStyle/>
          <a:p>
            <a:pPr algn="ctr" marL="0" indent="0" lvl="1">
              <a:lnSpc>
                <a:spcPts val="4521"/>
              </a:lnSpc>
              <a:spcBef>
                <a:spcPct val="0"/>
              </a:spcBef>
            </a:pPr>
            <a:r>
              <a:rPr lang="en-US" b="true" sz="3229" spc="1178">
                <a:solidFill>
                  <a:srgbClr val="131F5B"/>
                </a:solidFill>
                <a:latin typeface="Montserrat Bold"/>
                <a:ea typeface="Montserrat Bold"/>
                <a:cs typeface="Montserrat Bold"/>
                <a:sym typeface="Montserrat Bold"/>
              </a:rPr>
              <a:t>YOUR ACCOMMODATION</a:t>
            </a:r>
          </a:p>
        </p:txBody>
      </p:sp>
      <p:sp>
        <p:nvSpPr>
          <p:cNvPr name="AutoShape 3" id="3"/>
          <p:cNvSpPr/>
          <p:nvPr/>
        </p:nvSpPr>
        <p:spPr>
          <a:xfrm flipH="true">
            <a:off x="568244" y="1536535"/>
            <a:ext cx="9258300" cy="0"/>
          </a:xfrm>
          <a:prstGeom prst="line">
            <a:avLst/>
          </a:prstGeom>
          <a:ln cap="flat" w="38100">
            <a:solidFill>
              <a:srgbClr val="131F5B"/>
            </a:solidFill>
            <a:prstDash val="solid"/>
            <a:headEnd type="none" len="sm" w="sm"/>
            <a:tailEnd type="none" len="sm" w="sm"/>
          </a:ln>
        </p:spPr>
      </p:sp>
      <p:sp>
        <p:nvSpPr>
          <p:cNvPr name="TextBox 4" id="4"/>
          <p:cNvSpPr txBox="true"/>
          <p:nvPr/>
        </p:nvSpPr>
        <p:spPr>
          <a:xfrm rot="0">
            <a:off x="3265181" y="1707985"/>
            <a:ext cx="3638401" cy="389256"/>
          </a:xfrm>
          <a:prstGeom prst="rect">
            <a:avLst/>
          </a:prstGeom>
        </p:spPr>
        <p:txBody>
          <a:bodyPr anchor="t" rtlCol="false" tIns="0" lIns="0" bIns="0" rIns="0">
            <a:spAutoFit/>
          </a:bodyPr>
          <a:lstStyle/>
          <a:p>
            <a:pPr algn="ctr">
              <a:lnSpc>
                <a:spcPts val="3219"/>
              </a:lnSpc>
              <a:spcBef>
                <a:spcPct val="0"/>
              </a:spcBef>
            </a:pPr>
            <a:r>
              <a:rPr lang="en-US" b="true" sz="2299" spc="839">
                <a:solidFill>
                  <a:srgbClr val="CC0000"/>
                </a:solidFill>
                <a:latin typeface="Montserrat Bold"/>
                <a:ea typeface="Montserrat Bold"/>
                <a:cs typeface="Montserrat Bold"/>
                <a:sym typeface="Montserrat Bold"/>
              </a:rPr>
              <a:t>HOTEL NAME B</a:t>
            </a:r>
          </a:p>
        </p:txBody>
      </p:sp>
      <p:sp>
        <p:nvSpPr>
          <p:cNvPr name="TextBox 5" id="5"/>
          <p:cNvSpPr txBox="true"/>
          <p:nvPr/>
        </p:nvSpPr>
        <p:spPr>
          <a:xfrm rot="0">
            <a:off x="385769" y="2777294"/>
            <a:ext cx="933944" cy="213332"/>
          </a:xfrm>
          <a:prstGeom prst="rect">
            <a:avLst/>
          </a:prstGeom>
        </p:spPr>
        <p:txBody>
          <a:bodyPr anchor="t" rtlCol="false" tIns="0" lIns="0" bIns="0" rIns="0">
            <a:spAutoFit/>
          </a:bodyPr>
          <a:lstStyle/>
          <a:p>
            <a:pPr algn="l">
              <a:lnSpc>
                <a:spcPts val="1836"/>
              </a:lnSpc>
            </a:pPr>
            <a:r>
              <a:rPr lang="en-US" b="true" sz="992" i="true">
                <a:solidFill>
                  <a:srgbClr val="000000"/>
                </a:solidFill>
                <a:latin typeface="Montserrat Medium Italics"/>
                <a:ea typeface="Montserrat Medium Italics"/>
                <a:cs typeface="Montserrat Medium Italics"/>
                <a:sym typeface="Montserrat Medium Italics"/>
              </a:rPr>
              <a:t>Check in</a:t>
            </a:r>
          </a:p>
        </p:txBody>
      </p:sp>
      <p:sp>
        <p:nvSpPr>
          <p:cNvPr name="TextBox 6" id="6"/>
          <p:cNvSpPr txBox="true"/>
          <p:nvPr/>
        </p:nvSpPr>
        <p:spPr>
          <a:xfrm rot="0">
            <a:off x="532006" y="3013177"/>
            <a:ext cx="32147" cy="213332"/>
          </a:xfrm>
          <a:prstGeom prst="rect">
            <a:avLst/>
          </a:prstGeom>
        </p:spPr>
        <p:txBody>
          <a:bodyPr anchor="t" rtlCol="false" tIns="0" lIns="0" bIns="0" rIns="0">
            <a:spAutoFit/>
          </a:bodyPr>
          <a:lstStyle/>
          <a:p>
            <a:pPr algn="l">
              <a:lnSpc>
                <a:spcPts val="1836"/>
              </a:lnSpc>
            </a:pPr>
            <a:r>
              <a:rPr lang="en-US" b="true" sz="992">
                <a:solidFill>
                  <a:srgbClr val="505050"/>
                </a:solidFill>
                <a:latin typeface="Montserrat Ultra-Bold"/>
                <a:ea typeface="Montserrat Ultra-Bold"/>
                <a:cs typeface="Montserrat Ultra-Bold"/>
                <a:sym typeface="Montserrat Ultra-Bold"/>
              </a:rPr>
              <a:t> </a:t>
            </a:r>
          </a:p>
        </p:txBody>
      </p:sp>
      <p:sp>
        <p:nvSpPr>
          <p:cNvPr name="TextBox 7" id="7"/>
          <p:cNvSpPr txBox="true"/>
          <p:nvPr/>
        </p:nvSpPr>
        <p:spPr>
          <a:xfrm rot="0">
            <a:off x="2234113" y="2777294"/>
            <a:ext cx="930331" cy="213332"/>
          </a:xfrm>
          <a:prstGeom prst="rect">
            <a:avLst/>
          </a:prstGeom>
        </p:spPr>
        <p:txBody>
          <a:bodyPr anchor="t" rtlCol="false" tIns="0" lIns="0" bIns="0" rIns="0">
            <a:spAutoFit/>
          </a:bodyPr>
          <a:lstStyle/>
          <a:p>
            <a:pPr algn="l">
              <a:lnSpc>
                <a:spcPts val="1836"/>
              </a:lnSpc>
            </a:pPr>
            <a:r>
              <a:rPr lang="en-US" b="true" sz="992" i="true">
                <a:solidFill>
                  <a:srgbClr val="000000"/>
                </a:solidFill>
                <a:latin typeface="Montserrat Medium Italics"/>
                <a:ea typeface="Montserrat Medium Italics"/>
                <a:cs typeface="Montserrat Medium Italics"/>
                <a:sym typeface="Montserrat Medium Italics"/>
              </a:rPr>
              <a:t>Check out</a:t>
            </a:r>
          </a:p>
        </p:txBody>
      </p:sp>
      <p:sp>
        <p:nvSpPr>
          <p:cNvPr name="TextBox 8" id="8"/>
          <p:cNvSpPr txBox="true"/>
          <p:nvPr/>
        </p:nvSpPr>
        <p:spPr>
          <a:xfrm rot="0">
            <a:off x="2380350" y="3013177"/>
            <a:ext cx="32147" cy="213332"/>
          </a:xfrm>
          <a:prstGeom prst="rect">
            <a:avLst/>
          </a:prstGeom>
        </p:spPr>
        <p:txBody>
          <a:bodyPr anchor="t" rtlCol="false" tIns="0" lIns="0" bIns="0" rIns="0">
            <a:spAutoFit/>
          </a:bodyPr>
          <a:lstStyle/>
          <a:p>
            <a:pPr algn="l">
              <a:lnSpc>
                <a:spcPts val="1836"/>
              </a:lnSpc>
            </a:pPr>
            <a:r>
              <a:rPr lang="en-US" b="true" sz="992">
                <a:solidFill>
                  <a:srgbClr val="505050"/>
                </a:solidFill>
                <a:latin typeface="Montserrat Ultra-Bold"/>
                <a:ea typeface="Montserrat Ultra-Bold"/>
                <a:cs typeface="Montserrat Ultra-Bold"/>
                <a:sym typeface="Montserrat Ultra-Bold"/>
              </a:rPr>
              <a:t> </a:t>
            </a:r>
          </a:p>
        </p:txBody>
      </p:sp>
      <p:sp>
        <p:nvSpPr>
          <p:cNvPr name="TextBox 9" id="9"/>
          <p:cNvSpPr txBox="true"/>
          <p:nvPr/>
        </p:nvSpPr>
        <p:spPr>
          <a:xfrm rot="0">
            <a:off x="4082483" y="2777294"/>
            <a:ext cx="685711" cy="213332"/>
          </a:xfrm>
          <a:prstGeom prst="rect">
            <a:avLst/>
          </a:prstGeom>
        </p:spPr>
        <p:txBody>
          <a:bodyPr anchor="t" rtlCol="false" tIns="0" lIns="0" bIns="0" rIns="0">
            <a:spAutoFit/>
          </a:bodyPr>
          <a:lstStyle/>
          <a:p>
            <a:pPr algn="l">
              <a:lnSpc>
                <a:spcPts val="1836"/>
              </a:lnSpc>
            </a:pPr>
            <a:r>
              <a:rPr lang="en-US" sz="992">
                <a:solidFill>
                  <a:srgbClr val="000000"/>
                </a:solidFill>
                <a:latin typeface="Montserrat"/>
                <a:ea typeface="Montserrat"/>
                <a:cs typeface="Montserrat"/>
                <a:sym typeface="Montserrat"/>
              </a:rPr>
              <a:t>Nights </a:t>
            </a:r>
          </a:p>
        </p:txBody>
      </p:sp>
      <p:sp>
        <p:nvSpPr>
          <p:cNvPr name="TextBox 10" id="10"/>
          <p:cNvSpPr txBox="true"/>
          <p:nvPr/>
        </p:nvSpPr>
        <p:spPr>
          <a:xfrm rot="0">
            <a:off x="385769" y="3060802"/>
            <a:ext cx="1178504" cy="165287"/>
          </a:xfrm>
          <a:prstGeom prst="rect">
            <a:avLst/>
          </a:prstGeom>
        </p:spPr>
        <p:txBody>
          <a:bodyPr anchor="t" rtlCol="false" tIns="0" lIns="0" bIns="0" rIns="0">
            <a:spAutoFit/>
          </a:bodyPr>
          <a:lstStyle/>
          <a:p>
            <a:pPr algn="l">
              <a:lnSpc>
                <a:spcPts val="1389"/>
              </a:lnSpc>
            </a:pPr>
            <a:r>
              <a:rPr lang="en-US" sz="992">
                <a:solidFill>
                  <a:srgbClr val="CC0000"/>
                </a:solidFill>
                <a:latin typeface="Montserrat"/>
                <a:ea typeface="Montserrat"/>
                <a:cs typeface="Montserrat"/>
                <a:sym typeface="Montserrat"/>
              </a:rPr>
              <a:t>Date</a:t>
            </a:r>
            <a:r>
              <a:rPr lang="en-US" sz="992">
                <a:solidFill>
                  <a:srgbClr val="CC0000"/>
                </a:solidFill>
                <a:latin typeface="Montserrat"/>
                <a:ea typeface="Montserrat"/>
                <a:cs typeface="Montserrat"/>
                <a:sym typeface="Montserrat"/>
              </a:rPr>
              <a:t> Month Year</a:t>
            </a:r>
          </a:p>
        </p:txBody>
      </p:sp>
      <p:sp>
        <p:nvSpPr>
          <p:cNvPr name="TextBox 11" id="11"/>
          <p:cNvSpPr txBox="true"/>
          <p:nvPr/>
        </p:nvSpPr>
        <p:spPr>
          <a:xfrm rot="0">
            <a:off x="2234113" y="3060802"/>
            <a:ext cx="1158851" cy="165287"/>
          </a:xfrm>
          <a:prstGeom prst="rect">
            <a:avLst/>
          </a:prstGeom>
        </p:spPr>
        <p:txBody>
          <a:bodyPr anchor="t" rtlCol="false" tIns="0" lIns="0" bIns="0" rIns="0">
            <a:spAutoFit/>
          </a:bodyPr>
          <a:lstStyle/>
          <a:p>
            <a:pPr algn="l">
              <a:lnSpc>
                <a:spcPts val="1389"/>
              </a:lnSpc>
            </a:pPr>
            <a:r>
              <a:rPr lang="en-US" sz="992">
                <a:solidFill>
                  <a:srgbClr val="CC0000"/>
                </a:solidFill>
                <a:latin typeface="Montserrat"/>
                <a:ea typeface="Montserrat"/>
                <a:cs typeface="Montserrat"/>
                <a:sym typeface="Montserrat"/>
              </a:rPr>
              <a:t>Date Month Year </a:t>
            </a:r>
          </a:p>
        </p:txBody>
      </p:sp>
      <p:sp>
        <p:nvSpPr>
          <p:cNvPr name="TextBox 12" id="12"/>
          <p:cNvSpPr txBox="true"/>
          <p:nvPr/>
        </p:nvSpPr>
        <p:spPr>
          <a:xfrm rot="0">
            <a:off x="4082483" y="3076351"/>
            <a:ext cx="1158851" cy="165287"/>
          </a:xfrm>
          <a:prstGeom prst="rect">
            <a:avLst/>
          </a:prstGeom>
        </p:spPr>
        <p:txBody>
          <a:bodyPr anchor="t" rtlCol="false" tIns="0" lIns="0" bIns="0" rIns="0">
            <a:spAutoFit/>
          </a:bodyPr>
          <a:lstStyle/>
          <a:p>
            <a:pPr algn="l">
              <a:lnSpc>
                <a:spcPts val="1389"/>
              </a:lnSpc>
            </a:pPr>
            <a:r>
              <a:rPr lang="en-US" sz="992">
                <a:solidFill>
                  <a:srgbClr val="CC0000"/>
                </a:solidFill>
                <a:latin typeface="Montserrat"/>
                <a:ea typeface="Montserrat"/>
                <a:cs typeface="Montserrat"/>
                <a:sym typeface="Montserrat"/>
              </a:rPr>
              <a:t>Number </a:t>
            </a:r>
          </a:p>
        </p:txBody>
      </p:sp>
      <p:sp>
        <p:nvSpPr>
          <p:cNvPr name="Freeform 13" id="13"/>
          <p:cNvSpPr/>
          <p:nvPr/>
        </p:nvSpPr>
        <p:spPr>
          <a:xfrm flipH="false" flipV="false" rot="0">
            <a:off x="1644460" y="7799403"/>
            <a:ext cx="1260892" cy="254489"/>
          </a:xfrm>
          <a:custGeom>
            <a:avLst/>
            <a:gdLst/>
            <a:ahLst/>
            <a:cxnLst/>
            <a:rect r="r" b="b" t="t" l="l"/>
            <a:pathLst>
              <a:path h="254489" w="1260892">
                <a:moveTo>
                  <a:pt x="0" y="0"/>
                </a:moveTo>
                <a:lnTo>
                  <a:pt x="1260891" y="0"/>
                </a:lnTo>
                <a:lnTo>
                  <a:pt x="1260891" y="254488"/>
                </a:lnTo>
                <a:lnTo>
                  <a:pt x="0" y="2544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84048" y="9037028"/>
            <a:ext cx="10371048" cy="34296"/>
            <a:chOff x="0" y="0"/>
            <a:chExt cx="7200900" cy="23812"/>
          </a:xfrm>
        </p:grpSpPr>
        <p:sp>
          <p:nvSpPr>
            <p:cNvPr name="Freeform 15" id="15"/>
            <p:cNvSpPr/>
            <p:nvPr/>
          </p:nvSpPr>
          <p:spPr>
            <a:xfrm flipH="false" flipV="false" rot="0">
              <a:off x="0" y="0"/>
              <a:ext cx="7200900" cy="23876"/>
            </a:xfrm>
            <a:custGeom>
              <a:avLst/>
              <a:gdLst/>
              <a:ahLst/>
              <a:cxnLst/>
              <a:rect r="r" b="b" t="t" l="l"/>
              <a:pathLst>
                <a:path h="23876" w="7200900">
                  <a:moveTo>
                    <a:pt x="0" y="0"/>
                  </a:moveTo>
                  <a:lnTo>
                    <a:pt x="7200900" y="0"/>
                  </a:lnTo>
                  <a:lnTo>
                    <a:pt x="7200900" y="23876"/>
                  </a:lnTo>
                  <a:lnTo>
                    <a:pt x="0" y="23876"/>
                  </a:lnTo>
                </a:path>
              </a:pathLst>
            </a:custGeom>
            <a:solidFill>
              <a:srgbClr val="FFFFFF"/>
            </a:solidFill>
          </p:spPr>
        </p:sp>
      </p:grpSp>
      <p:grpSp>
        <p:nvGrpSpPr>
          <p:cNvPr name="Group 16" id="16"/>
          <p:cNvGrpSpPr/>
          <p:nvPr/>
        </p:nvGrpSpPr>
        <p:grpSpPr>
          <a:xfrm rot="0">
            <a:off x="7112650" y="8369262"/>
            <a:ext cx="1438983" cy="6859"/>
            <a:chOff x="0" y="0"/>
            <a:chExt cx="999122" cy="4762"/>
          </a:xfrm>
        </p:grpSpPr>
        <p:sp>
          <p:nvSpPr>
            <p:cNvPr name="Freeform 17" id="17"/>
            <p:cNvSpPr/>
            <p:nvPr/>
          </p:nvSpPr>
          <p:spPr>
            <a:xfrm flipH="false" flipV="false" rot="0">
              <a:off x="0" y="0"/>
              <a:ext cx="999109" cy="4826"/>
            </a:xfrm>
            <a:custGeom>
              <a:avLst/>
              <a:gdLst/>
              <a:ahLst/>
              <a:cxnLst/>
              <a:rect r="r" b="b" t="t" l="l"/>
              <a:pathLst>
                <a:path h="4826" w="999109">
                  <a:moveTo>
                    <a:pt x="0" y="0"/>
                  </a:moveTo>
                  <a:lnTo>
                    <a:pt x="999109" y="0"/>
                  </a:lnTo>
                  <a:lnTo>
                    <a:pt x="999109" y="4826"/>
                  </a:lnTo>
                  <a:lnTo>
                    <a:pt x="0" y="4826"/>
                  </a:lnTo>
                </a:path>
              </a:pathLst>
            </a:custGeom>
            <a:solidFill>
              <a:srgbClr val="505050"/>
            </a:solidFill>
          </p:spPr>
        </p:sp>
      </p:grpSp>
      <p:grpSp>
        <p:nvGrpSpPr>
          <p:cNvPr name="Group 18" id="18"/>
          <p:cNvGrpSpPr/>
          <p:nvPr/>
        </p:nvGrpSpPr>
        <p:grpSpPr>
          <a:xfrm rot="0">
            <a:off x="1651319" y="4241763"/>
            <a:ext cx="6900314" cy="2606480"/>
            <a:chOff x="0" y="0"/>
            <a:chExt cx="6388100" cy="2413000"/>
          </a:xfrm>
        </p:grpSpPr>
        <p:sp>
          <p:nvSpPr>
            <p:cNvPr name="Freeform 19" id="19"/>
            <p:cNvSpPr/>
            <p:nvPr/>
          </p:nvSpPr>
          <p:spPr>
            <a:xfrm flipH="false" flipV="false" rot="0">
              <a:off x="0" y="0"/>
              <a:ext cx="6388100" cy="2413000"/>
            </a:xfrm>
            <a:custGeom>
              <a:avLst/>
              <a:gdLst/>
              <a:ahLst/>
              <a:cxnLst/>
              <a:rect r="r" b="b" t="t" l="l"/>
              <a:pathLst>
                <a:path h="2413000" w="6388100">
                  <a:moveTo>
                    <a:pt x="0" y="0"/>
                  </a:moveTo>
                  <a:lnTo>
                    <a:pt x="6388100" y="0"/>
                  </a:lnTo>
                  <a:lnTo>
                    <a:pt x="6388100" y="2413000"/>
                  </a:lnTo>
                  <a:lnTo>
                    <a:pt x="0" y="2413000"/>
                  </a:lnTo>
                  <a:lnTo>
                    <a:pt x="0" y="0"/>
                  </a:lnTo>
                  <a:close/>
                </a:path>
              </a:pathLst>
            </a:custGeom>
            <a:blipFill>
              <a:blip r:embed="rId4"/>
              <a:stretch>
                <a:fillRect l="0" t="-1584" r="0" b="-1584"/>
              </a:stretch>
            </a:blipFill>
          </p:spPr>
        </p:sp>
      </p:grpSp>
      <p:grpSp>
        <p:nvGrpSpPr>
          <p:cNvPr name="Group 20" id="20"/>
          <p:cNvGrpSpPr/>
          <p:nvPr/>
        </p:nvGrpSpPr>
        <p:grpSpPr>
          <a:xfrm rot="0">
            <a:off x="1651319" y="9263380"/>
            <a:ext cx="6900314" cy="2606480"/>
            <a:chOff x="0" y="0"/>
            <a:chExt cx="6388100" cy="2413000"/>
          </a:xfrm>
        </p:grpSpPr>
        <p:sp>
          <p:nvSpPr>
            <p:cNvPr name="Freeform 21" id="21"/>
            <p:cNvSpPr/>
            <p:nvPr/>
          </p:nvSpPr>
          <p:spPr>
            <a:xfrm flipH="false" flipV="false" rot="0">
              <a:off x="0" y="0"/>
              <a:ext cx="6388100" cy="2413000"/>
            </a:xfrm>
            <a:custGeom>
              <a:avLst/>
              <a:gdLst/>
              <a:ahLst/>
              <a:cxnLst/>
              <a:rect r="r" b="b" t="t" l="l"/>
              <a:pathLst>
                <a:path h="2413000" w="6388100">
                  <a:moveTo>
                    <a:pt x="0" y="0"/>
                  </a:moveTo>
                  <a:lnTo>
                    <a:pt x="6388100" y="0"/>
                  </a:lnTo>
                  <a:lnTo>
                    <a:pt x="6388100" y="2413000"/>
                  </a:lnTo>
                  <a:lnTo>
                    <a:pt x="0" y="2413000"/>
                  </a:lnTo>
                  <a:lnTo>
                    <a:pt x="0" y="0"/>
                  </a:lnTo>
                  <a:close/>
                </a:path>
              </a:pathLst>
            </a:custGeom>
            <a:blipFill>
              <a:blip r:embed="rId4"/>
              <a:stretch>
                <a:fillRect l="0" t="-1584" r="0" b="-1584"/>
              </a:stretch>
            </a:blipFill>
          </p:spPr>
        </p:sp>
      </p:grpSp>
      <p:sp>
        <p:nvSpPr>
          <p:cNvPr name="Freeform 22" id="22"/>
          <p:cNvSpPr/>
          <p:nvPr/>
        </p:nvSpPr>
        <p:spPr>
          <a:xfrm flipH="false" flipV="false" rot="0">
            <a:off x="1644460" y="12821020"/>
            <a:ext cx="1260892" cy="254489"/>
          </a:xfrm>
          <a:custGeom>
            <a:avLst/>
            <a:gdLst/>
            <a:ahLst/>
            <a:cxnLst/>
            <a:rect r="r" b="b" t="t" l="l"/>
            <a:pathLst>
              <a:path h="254489" w="1260892">
                <a:moveTo>
                  <a:pt x="0" y="0"/>
                </a:moveTo>
                <a:lnTo>
                  <a:pt x="1260891" y="0"/>
                </a:lnTo>
                <a:lnTo>
                  <a:pt x="1260891" y="254489"/>
                </a:lnTo>
                <a:lnTo>
                  <a:pt x="0" y="254489"/>
                </a:lnTo>
                <a:lnTo>
                  <a:pt x="0" y="0"/>
                </a:lnTo>
                <a:close/>
              </a:path>
            </a:pathLst>
          </a:custGeom>
          <a:blipFill>
            <a:blip r:embed="rId2">
              <a:extLst>
                <a:ext uri="{96DAC541-7B7A-43D3-8B79-37D633B846F1}">
                  <asvg:svgBlip xmlns:asvg="http://schemas.microsoft.com/office/drawing/2016/SVG/main" r:embed="rId5"/>
                </a:ext>
              </a:extLst>
            </a:blip>
            <a:stretch>
              <a:fillRect l="0" t="0" r="0" b="0"/>
            </a:stretch>
          </a:blipFill>
        </p:spPr>
      </p:sp>
      <p:grpSp>
        <p:nvGrpSpPr>
          <p:cNvPr name="Group 23" id="23"/>
          <p:cNvGrpSpPr/>
          <p:nvPr/>
        </p:nvGrpSpPr>
        <p:grpSpPr>
          <a:xfrm rot="0">
            <a:off x="7112650" y="13390879"/>
            <a:ext cx="1438983" cy="6859"/>
            <a:chOff x="0" y="0"/>
            <a:chExt cx="999122" cy="4762"/>
          </a:xfrm>
        </p:grpSpPr>
        <p:sp>
          <p:nvSpPr>
            <p:cNvPr name="Freeform 24" id="24"/>
            <p:cNvSpPr/>
            <p:nvPr/>
          </p:nvSpPr>
          <p:spPr>
            <a:xfrm flipH="false" flipV="false" rot="0">
              <a:off x="0" y="0"/>
              <a:ext cx="999109" cy="4826"/>
            </a:xfrm>
            <a:custGeom>
              <a:avLst/>
              <a:gdLst/>
              <a:ahLst/>
              <a:cxnLst/>
              <a:rect r="r" b="b" t="t" l="l"/>
              <a:pathLst>
                <a:path h="4826" w="999109">
                  <a:moveTo>
                    <a:pt x="0" y="0"/>
                  </a:moveTo>
                  <a:lnTo>
                    <a:pt x="999109" y="0"/>
                  </a:lnTo>
                  <a:lnTo>
                    <a:pt x="999109" y="4826"/>
                  </a:lnTo>
                  <a:lnTo>
                    <a:pt x="0" y="4826"/>
                  </a:lnTo>
                </a:path>
              </a:pathLst>
            </a:custGeom>
            <a:solidFill>
              <a:srgbClr val="505050"/>
            </a:solidFill>
          </p:spPr>
        </p:sp>
      </p:grpSp>
      <p:sp>
        <p:nvSpPr>
          <p:cNvPr name="TextBox 25" id="25"/>
          <p:cNvSpPr txBox="true"/>
          <p:nvPr/>
        </p:nvSpPr>
        <p:spPr>
          <a:xfrm rot="0">
            <a:off x="1644460" y="6933846"/>
            <a:ext cx="926753" cy="268949"/>
          </a:xfrm>
          <a:prstGeom prst="rect">
            <a:avLst/>
          </a:prstGeom>
        </p:spPr>
        <p:txBody>
          <a:bodyPr anchor="t" rtlCol="false" tIns="0" lIns="0" bIns="0" rIns="0">
            <a:spAutoFit/>
          </a:bodyPr>
          <a:lstStyle/>
          <a:p>
            <a:pPr algn="l">
              <a:lnSpc>
                <a:spcPts val="1976"/>
              </a:lnSpc>
            </a:pPr>
            <a:r>
              <a:rPr lang="en-US" b="true" sz="1411" i="true">
                <a:solidFill>
                  <a:srgbClr val="CC0000"/>
                </a:solidFill>
                <a:latin typeface="Avenir Medium Italics"/>
                <a:ea typeface="Avenir Medium Italics"/>
                <a:cs typeface="Avenir Medium Italics"/>
                <a:sym typeface="Avenir Medium Italics"/>
              </a:rPr>
              <a:t>Room Type</a:t>
            </a:r>
          </a:p>
        </p:txBody>
      </p:sp>
      <p:sp>
        <p:nvSpPr>
          <p:cNvPr name="TextBox 26" id="26"/>
          <p:cNvSpPr txBox="true"/>
          <p:nvPr/>
        </p:nvSpPr>
        <p:spPr>
          <a:xfrm rot="0">
            <a:off x="1644460" y="11955464"/>
            <a:ext cx="926753" cy="268949"/>
          </a:xfrm>
          <a:prstGeom prst="rect">
            <a:avLst/>
          </a:prstGeom>
        </p:spPr>
        <p:txBody>
          <a:bodyPr anchor="t" rtlCol="false" tIns="0" lIns="0" bIns="0" rIns="0">
            <a:spAutoFit/>
          </a:bodyPr>
          <a:lstStyle/>
          <a:p>
            <a:pPr algn="l">
              <a:lnSpc>
                <a:spcPts val="1976"/>
              </a:lnSpc>
            </a:pPr>
            <a:r>
              <a:rPr lang="en-US" b="true" sz="1411" i="true">
                <a:solidFill>
                  <a:srgbClr val="CC0000"/>
                </a:solidFill>
                <a:latin typeface="Avenir Medium Italics"/>
                <a:ea typeface="Avenir Medium Italics"/>
                <a:cs typeface="Avenir Medium Italics"/>
                <a:sym typeface="Avenir Medium Italics"/>
              </a:rPr>
              <a:t>Room Type</a:t>
            </a:r>
          </a:p>
        </p:txBody>
      </p:sp>
      <p:grpSp>
        <p:nvGrpSpPr>
          <p:cNvPr name="Group 27" id="27"/>
          <p:cNvGrpSpPr/>
          <p:nvPr/>
        </p:nvGrpSpPr>
        <p:grpSpPr>
          <a:xfrm rot="0">
            <a:off x="1618162" y="7289308"/>
            <a:ext cx="3725156" cy="394717"/>
            <a:chOff x="0" y="0"/>
            <a:chExt cx="4966875" cy="526290"/>
          </a:xfrm>
        </p:grpSpPr>
        <p:grpSp>
          <p:nvGrpSpPr>
            <p:cNvPr name="Group 28" id="28"/>
            <p:cNvGrpSpPr/>
            <p:nvPr/>
          </p:nvGrpSpPr>
          <p:grpSpPr>
            <a:xfrm rot="0">
              <a:off x="0" y="44749"/>
              <a:ext cx="536551" cy="436791"/>
              <a:chOff x="0" y="0"/>
              <a:chExt cx="279400" cy="227457"/>
            </a:xfrm>
          </p:grpSpPr>
          <p:sp>
            <p:nvSpPr>
              <p:cNvPr name="Freeform 29" id="29"/>
              <p:cNvSpPr/>
              <p:nvPr/>
            </p:nvSpPr>
            <p:spPr>
              <a:xfrm flipH="false" flipV="false" rot="0">
                <a:off x="63500" y="63474"/>
                <a:ext cx="152272" cy="100481"/>
              </a:xfrm>
              <a:custGeom>
                <a:avLst/>
                <a:gdLst/>
                <a:ahLst/>
                <a:cxnLst/>
                <a:rect r="r" b="b" t="t" l="l"/>
                <a:pathLst>
                  <a:path h="100481" w="152272">
                    <a:moveTo>
                      <a:pt x="75056" y="100481"/>
                    </a:moveTo>
                    <a:cubicBezTo>
                      <a:pt x="48894" y="100481"/>
                      <a:pt x="23875" y="84098"/>
                      <a:pt x="635" y="51841"/>
                    </a:cubicBezTo>
                    <a:cubicBezTo>
                      <a:pt x="254" y="51333"/>
                      <a:pt x="0" y="50571"/>
                      <a:pt x="0" y="49936"/>
                    </a:cubicBezTo>
                    <a:cubicBezTo>
                      <a:pt x="0" y="49301"/>
                      <a:pt x="127" y="48539"/>
                      <a:pt x="508" y="48031"/>
                    </a:cubicBezTo>
                    <a:cubicBezTo>
                      <a:pt x="1778" y="46126"/>
                      <a:pt x="32003" y="1041"/>
                      <a:pt x="75691" y="25"/>
                    </a:cubicBezTo>
                    <a:cubicBezTo>
                      <a:pt x="102488" y="-737"/>
                      <a:pt x="128015" y="15519"/>
                      <a:pt x="151637" y="47904"/>
                    </a:cubicBezTo>
                    <a:cubicBezTo>
                      <a:pt x="152018" y="48412"/>
                      <a:pt x="152272" y="49047"/>
                      <a:pt x="152272" y="49809"/>
                    </a:cubicBezTo>
                    <a:cubicBezTo>
                      <a:pt x="152272" y="50571"/>
                      <a:pt x="152145" y="51206"/>
                      <a:pt x="151764" y="51714"/>
                    </a:cubicBezTo>
                    <a:cubicBezTo>
                      <a:pt x="150494" y="53619"/>
                      <a:pt x="120141" y="99465"/>
                      <a:pt x="76453" y="100481"/>
                    </a:cubicBezTo>
                    <a:cubicBezTo>
                      <a:pt x="75945" y="100481"/>
                      <a:pt x="75437" y="100481"/>
                      <a:pt x="74929" y="100481"/>
                    </a:cubicBezTo>
                    <a:close/>
                    <a:moveTo>
                      <a:pt x="7366" y="49809"/>
                    </a:moveTo>
                    <a:cubicBezTo>
                      <a:pt x="29336" y="79526"/>
                      <a:pt x="52577" y="94385"/>
                      <a:pt x="76326" y="93750"/>
                    </a:cubicBezTo>
                    <a:cubicBezTo>
                      <a:pt x="111759" y="92988"/>
                      <a:pt x="138810" y="58445"/>
                      <a:pt x="144906" y="49936"/>
                    </a:cubicBezTo>
                    <a:cubicBezTo>
                      <a:pt x="123062" y="20726"/>
                      <a:pt x="99694" y="6248"/>
                      <a:pt x="75818" y="6756"/>
                    </a:cubicBezTo>
                    <a:cubicBezTo>
                      <a:pt x="40385" y="7518"/>
                      <a:pt x="13461" y="41427"/>
                      <a:pt x="7239" y="49936"/>
                    </a:cubicBezTo>
                    <a:close/>
                  </a:path>
                </a:pathLst>
              </a:custGeom>
              <a:solidFill>
                <a:srgbClr val="505050"/>
              </a:solidFill>
            </p:spPr>
          </p:sp>
          <p:sp>
            <p:nvSpPr>
              <p:cNvPr name="Freeform 30" id="30"/>
              <p:cNvSpPr/>
              <p:nvPr/>
            </p:nvSpPr>
            <p:spPr>
              <a:xfrm flipH="false" flipV="false" rot="0">
                <a:off x="112521" y="86359"/>
                <a:ext cx="54483" cy="54736"/>
              </a:xfrm>
              <a:custGeom>
                <a:avLst/>
                <a:gdLst/>
                <a:ahLst/>
                <a:cxnLst/>
                <a:rect r="r" b="b" t="t" l="l"/>
                <a:pathLst>
                  <a:path h="54736" w="54483">
                    <a:moveTo>
                      <a:pt x="27178" y="54736"/>
                    </a:moveTo>
                    <a:cubicBezTo>
                      <a:pt x="21844" y="54736"/>
                      <a:pt x="16510" y="53085"/>
                      <a:pt x="12065" y="50164"/>
                    </a:cubicBezTo>
                    <a:cubicBezTo>
                      <a:pt x="7620" y="47243"/>
                      <a:pt x="4064" y="42925"/>
                      <a:pt x="2032" y="37845"/>
                    </a:cubicBezTo>
                    <a:cubicBezTo>
                      <a:pt x="0" y="32766"/>
                      <a:pt x="-508" y="27305"/>
                      <a:pt x="508" y="21971"/>
                    </a:cubicBezTo>
                    <a:cubicBezTo>
                      <a:pt x="1524" y="16637"/>
                      <a:pt x="4191" y="11811"/>
                      <a:pt x="8001" y="8001"/>
                    </a:cubicBezTo>
                    <a:cubicBezTo>
                      <a:pt x="11811" y="4191"/>
                      <a:pt x="16637" y="1524"/>
                      <a:pt x="21971" y="508"/>
                    </a:cubicBezTo>
                    <a:cubicBezTo>
                      <a:pt x="27305" y="-508"/>
                      <a:pt x="32766" y="0"/>
                      <a:pt x="37719" y="2032"/>
                    </a:cubicBezTo>
                    <a:cubicBezTo>
                      <a:pt x="42672" y="4064"/>
                      <a:pt x="46990" y="7620"/>
                      <a:pt x="49911" y="12065"/>
                    </a:cubicBezTo>
                    <a:cubicBezTo>
                      <a:pt x="52832" y="16510"/>
                      <a:pt x="54483" y="21844"/>
                      <a:pt x="54483" y="27305"/>
                    </a:cubicBezTo>
                    <a:cubicBezTo>
                      <a:pt x="54483" y="34544"/>
                      <a:pt x="51562" y="41528"/>
                      <a:pt x="46482" y="46608"/>
                    </a:cubicBezTo>
                    <a:cubicBezTo>
                      <a:pt x="41402" y="51688"/>
                      <a:pt x="34417" y="54609"/>
                      <a:pt x="27178" y="54609"/>
                    </a:cubicBezTo>
                    <a:close/>
                    <a:moveTo>
                      <a:pt x="27178" y="6477"/>
                    </a:moveTo>
                    <a:cubicBezTo>
                      <a:pt x="23114" y="6477"/>
                      <a:pt x="19177" y="7747"/>
                      <a:pt x="15748" y="10033"/>
                    </a:cubicBezTo>
                    <a:cubicBezTo>
                      <a:pt x="12319" y="12319"/>
                      <a:pt x="9652" y="15494"/>
                      <a:pt x="8128" y="19304"/>
                    </a:cubicBezTo>
                    <a:cubicBezTo>
                      <a:pt x="6604" y="23114"/>
                      <a:pt x="6223" y="27305"/>
                      <a:pt x="6985" y="31242"/>
                    </a:cubicBezTo>
                    <a:cubicBezTo>
                      <a:pt x="7747" y="35179"/>
                      <a:pt x="9779" y="38988"/>
                      <a:pt x="12573" y="41782"/>
                    </a:cubicBezTo>
                    <a:cubicBezTo>
                      <a:pt x="15367" y="44576"/>
                      <a:pt x="19177" y="46608"/>
                      <a:pt x="23114" y="47497"/>
                    </a:cubicBezTo>
                    <a:cubicBezTo>
                      <a:pt x="27051" y="48386"/>
                      <a:pt x="31242" y="47878"/>
                      <a:pt x="35052" y="46354"/>
                    </a:cubicBezTo>
                    <a:cubicBezTo>
                      <a:pt x="38862" y="44830"/>
                      <a:pt x="42037" y="42163"/>
                      <a:pt x="44323" y="38734"/>
                    </a:cubicBezTo>
                    <a:cubicBezTo>
                      <a:pt x="46609" y="35306"/>
                      <a:pt x="47752" y="31369"/>
                      <a:pt x="47752" y="27178"/>
                    </a:cubicBezTo>
                    <a:cubicBezTo>
                      <a:pt x="47752" y="21717"/>
                      <a:pt x="45593" y="16383"/>
                      <a:pt x="41656" y="12573"/>
                    </a:cubicBezTo>
                    <a:cubicBezTo>
                      <a:pt x="37719" y="8763"/>
                      <a:pt x="32512" y="6477"/>
                      <a:pt x="27051" y="6477"/>
                    </a:cubicBezTo>
                    <a:close/>
                  </a:path>
                </a:pathLst>
              </a:custGeom>
              <a:solidFill>
                <a:srgbClr val="505050"/>
              </a:solidFill>
            </p:spPr>
          </p:sp>
        </p:grpSp>
        <p:sp>
          <p:nvSpPr>
            <p:cNvPr name="TextBox 31" id="31"/>
            <p:cNvSpPr txBox="true"/>
            <p:nvPr/>
          </p:nvSpPr>
          <p:spPr>
            <a:xfrm rot="0">
              <a:off x="519778" y="121119"/>
              <a:ext cx="1042789" cy="265043"/>
            </a:xfrm>
            <a:prstGeom prst="rect">
              <a:avLst/>
            </a:prstGeom>
          </p:spPr>
          <p:txBody>
            <a:bodyPr anchor="t" rtlCol="false" tIns="0" lIns="0" bIns="0" rIns="0">
              <a:spAutoFit/>
            </a:bodyPr>
            <a:lstStyle/>
            <a:p>
              <a:pPr algn="l">
                <a:lnSpc>
                  <a:spcPts val="1512"/>
                </a:lnSpc>
              </a:pPr>
              <a:r>
                <a:rPr lang="en-US" b="true" sz="1080">
                  <a:solidFill>
                    <a:srgbClr val="CC0000"/>
                  </a:solidFill>
                  <a:latin typeface="Avenir Ultra-Bold"/>
                  <a:ea typeface="Avenir Ultra-Bold"/>
                  <a:cs typeface="Avenir Ultra-Bold"/>
                  <a:sym typeface="Avenir Ultra-Bold"/>
                </a:rPr>
                <a:t>Room View </a:t>
              </a:r>
            </a:p>
          </p:txBody>
        </p:sp>
        <p:grpSp>
          <p:nvGrpSpPr>
            <p:cNvPr name="Group 32" id="32"/>
            <p:cNvGrpSpPr/>
            <p:nvPr/>
          </p:nvGrpSpPr>
          <p:grpSpPr>
            <a:xfrm rot="0">
              <a:off x="1668294" y="125422"/>
              <a:ext cx="292657" cy="282414"/>
              <a:chOff x="0" y="0"/>
              <a:chExt cx="152400" cy="147066"/>
            </a:xfrm>
          </p:grpSpPr>
          <p:sp>
            <p:nvSpPr>
              <p:cNvPr name="Freeform 33" id="33"/>
              <p:cNvSpPr/>
              <p:nvPr/>
            </p:nvSpPr>
            <p:spPr>
              <a:xfrm flipH="false" flipV="false" rot="0">
                <a:off x="0" y="0"/>
                <a:ext cx="152400" cy="147066"/>
              </a:xfrm>
              <a:custGeom>
                <a:avLst/>
                <a:gdLst/>
                <a:ahLst/>
                <a:cxnLst/>
                <a:rect r="r" b="b" t="t" l="l"/>
                <a:pathLst>
                  <a:path h="147066" w="152400">
                    <a:moveTo>
                      <a:pt x="0" y="0"/>
                    </a:moveTo>
                    <a:lnTo>
                      <a:pt x="0" y="147066"/>
                    </a:lnTo>
                    <a:lnTo>
                      <a:pt x="152400" y="147066"/>
                    </a:lnTo>
                    <a:lnTo>
                      <a:pt x="152400" y="0"/>
                    </a:lnTo>
                    <a:lnTo>
                      <a:pt x="130175" y="0"/>
                    </a:lnTo>
                    <a:lnTo>
                      <a:pt x="129540" y="508"/>
                    </a:lnTo>
                    <a:lnTo>
                      <a:pt x="93726" y="27813"/>
                    </a:lnTo>
                    <a:lnTo>
                      <a:pt x="96647" y="31496"/>
                    </a:lnTo>
                    <a:lnTo>
                      <a:pt x="131826" y="4572"/>
                    </a:lnTo>
                    <a:lnTo>
                      <a:pt x="147701" y="4572"/>
                    </a:lnTo>
                    <a:lnTo>
                      <a:pt x="147701" y="78105"/>
                    </a:lnTo>
                    <a:lnTo>
                      <a:pt x="81026" y="78105"/>
                    </a:lnTo>
                    <a:lnTo>
                      <a:pt x="81026" y="110363"/>
                    </a:lnTo>
                    <a:lnTo>
                      <a:pt x="4826" y="110363"/>
                    </a:lnTo>
                    <a:lnTo>
                      <a:pt x="4826" y="68961"/>
                    </a:lnTo>
                    <a:lnTo>
                      <a:pt x="71374" y="68961"/>
                    </a:lnTo>
                    <a:lnTo>
                      <a:pt x="71374" y="4572"/>
                    </a:lnTo>
                    <a:lnTo>
                      <a:pt x="95250" y="4572"/>
                    </a:lnTo>
                    <a:lnTo>
                      <a:pt x="95250" y="0"/>
                    </a:lnTo>
                    <a:lnTo>
                      <a:pt x="0" y="0"/>
                    </a:lnTo>
                    <a:close/>
                    <a:moveTo>
                      <a:pt x="4826" y="4572"/>
                    </a:moveTo>
                    <a:lnTo>
                      <a:pt x="66675" y="4572"/>
                    </a:lnTo>
                    <a:lnTo>
                      <a:pt x="66675" y="64262"/>
                    </a:lnTo>
                    <a:lnTo>
                      <a:pt x="4826" y="64262"/>
                    </a:lnTo>
                    <a:lnTo>
                      <a:pt x="4826" y="4572"/>
                    </a:lnTo>
                    <a:close/>
                    <a:moveTo>
                      <a:pt x="85725" y="82677"/>
                    </a:moveTo>
                    <a:lnTo>
                      <a:pt x="147701" y="82677"/>
                    </a:lnTo>
                    <a:lnTo>
                      <a:pt x="147701" y="142367"/>
                    </a:lnTo>
                    <a:lnTo>
                      <a:pt x="85725" y="142367"/>
                    </a:lnTo>
                    <a:lnTo>
                      <a:pt x="85725" y="82677"/>
                    </a:lnTo>
                    <a:close/>
                    <a:moveTo>
                      <a:pt x="4826" y="114935"/>
                    </a:moveTo>
                    <a:lnTo>
                      <a:pt x="81026" y="114935"/>
                    </a:lnTo>
                    <a:lnTo>
                      <a:pt x="81026" y="142494"/>
                    </a:lnTo>
                    <a:lnTo>
                      <a:pt x="4826" y="142494"/>
                    </a:lnTo>
                    <a:lnTo>
                      <a:pt x="4826" y="114935"/>
                    </a:lnTo>
                    <a:close/>
                  </a:path>
                </a:pathLst>
              </a:custGeom>
              <a:solidFill>
                <a:srgbClr val="505050"/>
              </a:solidFill>
            </p:spPr>
          </p:sp>
        </p:grpSp>
        <p:grpSp>
          <p:nvGrpSpPr>
            <p:cNvPr name="Group 34" id="34"/>
            <p:cNvGrpSpPr/>
            <p:nvPr/>
          </p:nvGrpSpPr>
          <p:grpSpPr>
            <a:xfrm rot="0">
              <a:off x="3077842" y="0"/>
              <a:ext cx="536533" cy="526290"/>
              <a:chOff x="0" y="0"/>
              <a:chExt cx="279400" cy="274066"/>
            </a:xfrm>
          </p:grpSpPr>
          <p:sp>
            <p:nvSpPr>
              <p:cNvPr name="Freeform 35" id="35"/>
              <p:cNvSpPr/>
              <p:nvPr/>
            </p:nvSpPr>
            <p:spPr>
              <a:xfrm flipH="false" flipV="false" rot="0">
                <a:off x="63500" y="63500"/>
                <a:ext cx="152400" cy="147066"/>
              </a:xfrm>
              <a:custGeom>
                <a:avLst/>
                <a:gdLst/>
                <a:ahLst/>
                <a:cxnLst/>
                <a:rect r="r" b="b" t="t" l="l"/>
                <a:pathLst>
                  <a:path h="147066" w="152400">
                    <a:moveTo>
                      <a:pt x="152400" y="138049"/>
                    </a:moveTo>
                    <a:lnTo>
                      <a:pt x="152400" y="1778"/>
                    </a:lnTo>
                    <a:cubicBezTo>
                      <a:pt x="152400" y="762"/>
                      <a:pt x="151384" y="0"/>
                      <a:pt x="149987" y="0"/>
                    </a:cubicBezTo>
                    <a:lnTo>
                      <a:pt x="2413" y="0"/>
                    </a:lnTo>
                    <a:cubicBezTo>
                      <a:pt x="1143" y="0"/>
                      <a:pt x="0" y="762"/>
                      <a:pt x="0" y="1778"/>
                    </a:cubicBezTo>
                    <a:lnTo>
                      <a:pt x="0" y="138049"/>
                    </a:lnTo>
                    <a:cubicBezTo>
                      <a:pt x="0" y="143002"/>
                      <a:pt x="5207" y="147066"/>
                      <a:pt x="11684" y="147066"/>
                    </a:cubicBezTo>
                    <a:lnTo>
                      <a:pt x="140716" y="147066"/>
                    </a:lnTo>
                    <a:cubicBezTo>
                      <a:pt x="147193" y="147066"/>
                      <a:pt x="152400" y="143002"/>
                      <a:pt x="152400" y="138049"/>
                    </a:cubicBezTo>
                    <a:close/>
                    <a:moveTo>
                      <a:pt x="4826" y="50292"/>
                    </a:moveTo>
                    <a:lnTo>
                      <a:pt x="147574" y="50292"/>
                    </a:lnTo>
                    <a:lnTo>
                      <a:pt x="147574" y="65405"/>
                    </a:lnTo>
                    <a:lnTo>
                      <a:pt x="4826" y="65405"/>
                    </a:lnTo>
                    <a:lnTo>
                      <a:pt x="4826" y="50292"/>
                    </a:lnTo>
                    <a:close/>
                    <a:moveTo>
                      <a:pt x="147574" y="3683"/>
                    </a:moveTo>
                    <a:lnTo>
                      <a:pt x="147574" y="46609"/>
                    </a:lnTo>
                    <a:lnTo>
                      <a:pt x="4826" y="46609"/>
                    </a:lnTo>
                    <a:lnTo>
                      <a:pt x="4826" y="3683"/>
                    </a:lnTo>
                    <a:lnTo>
                      <a:pt x="147574" y="3683"/>
                    </a:lnTo>
                    <a:close/>
                    <a:moveTo>
                      <a:pt x="4826" y="138049"/>
                    </a:moveTo>
                    <a:lnTo>
                      <a:pt x="4826" y="69088"/>
                    </a:lnTo>
                    <a:lnTo>
                      <a:pt x="147574" y="69088"/>
                    </a:lnTo>
                    <a:lnTo>
                      <a:pt x="147574" y="138049"/>
                    </a:lnTo>
                    <a:cubicBezTo>
                      <a:pt x="147574" y="140970"/>
                      <a:pt x="144526" y="143383"/>
                      <a:pt x="140716" y="143383"/>
                    </a:cubicBezTo>
                    <a:lnTo>
                      <a:pt x="11684" y="143383"/>
                    </a:lnTo>
                    <a:cubicBezTo>
                      <a:pt x="7874" y="143383"/>
                      <a:pt x="4826" y="140970"/>
                      <a:pt x="4826" y="138049"/>
                    </a:cubicBezTo>
                    <a:close/>
                  </a:path>
                </a:pathLst>
              </a:custGeom>
              <a:solidFill>
                <a:srgbClr val="505050"/>
              </a:solidFill>
            </p:spPr>
          </p:sp>
          <p:sp>
            <p:nvSpPr>
              <p:cNvPr name="Freeform 36" id="36"/>
              <p:cNvSpPr/>
              <p:nvPr/>
            </p:nvSpPr>
            <p:spPr>
              <a:xfrm flipH="false" flipV="false" rot="0">
                <a:off x="81407" y="71374"/>
                <a:ext cx="53340" cy="34925"/>
              </a:xfrm>
              <a:custGeom>
                <a:avLst/>
                <a:gdLst/>
                <a:ahLst/>
                <a:cxnLst/>
                <a:rect r="r" b="b" t="t" l="l"/>
                <a:pathLst>
                  <a:path h="34925" w="53340">
                    <a:moveTo>
                      <a:pt x="12065" y="34925"/>
                    </a:moveTo>
                    <a:lnTo>
                      <a:pt x="41275" y="34925"/>
                    </a:lnTo>
                    <a:cubicBezTo>
                      <a:pt x="47879" y="34925"/>
                      <a:pt x="53340" y="29718"/>
                      <a:pt x="53340" y="23241"/>
                    </a:cubicBezTo>
                    <a:lnTo>
                      <a:pt x="53340" y="11684"/>
                    </a:lnTo>
                    <a:cubicBezTo>
                      <a:pt x="53340" y="5207"/>
                      <a:pt x="47879" y="0"/>
                      <a:pt x="41275" y="0"/>
                    </a:cubicBezTo>
                    <a:lnTo>
                      <a:pt x="12065" y="0"/>
                    </a:lnTo>
                    <a:cubicBezTo>
                      <a:pt x="5461" y="0"/>
                      <a:pt x="0" y="5207"/>
                      <a:pt x="0" y="11684"/>
                    </a:cubicBezTo>
                    <a:lnTo>
                      <a:pt x="0" y="23241"/>
                    </a:lnTo>
                    <a:cubicBezTo>
                      <a:pt x="0" y="29718"/>
                      <a:pt x="5461" y="34925"/>
                      <a:pt x="12065" y="34925"/>
                    </a:cubicBezTo>
                    <a:close/>
                    <a:moveTo>
                      <a:pt x="4826" y="11684"/>
                    </a:moveTo>
                    <a:cubicBezTo>
                      <a:pt x="4826" y="7747"/>
                      <a:pt x="8128" y="4699"/>
                      <a:pt x="12065" y="4699"/>
                    </a:cubicBezTo>
                    <a:lnTo>
                      <a:pt x="41275" y="4699"/>
                    </a:lnTo>
                    <a:cubicBezTo>
                      <a:pt x="45339" y="4699"/>
                      <a:pt x="48514" y="7874"/>
                      <a:pt x="48514" y="11684"/>
                    </a:cubicBezTo>
                    <a:lnTo>
                      <a:pt x="48514" y="23241"/>
                    </a:lnTo>
                    <a:cubicBezTo>
                      <a:pt x="48514" y="27178"/>
                      <a:pt x="45212" y="30226"/>
                      <a:pt x="41275" y="30226"/>
                    </a:cubicBezTo>
                    <a:lnTo>
                      <a:pt x="12065" y="30226"/>
                    </a:lnTo>
                    <a:cubicBezTo>
                      <a:pt x="8001" y="30226"/>
                      <a:pt x="4826" y="27051"/>
                      <a:pt x="4826" y="23241"/>
                    </a:cubicBezTo>
                    <a:lnTo>
                      <a:pt x="4826" y="11684"/>
                    </a:lnTo>
                    <a:close/>
                  </a:path>
                </a:pathLst>
              </a:custGeom>
              <a:solidFill>
                <a:srgbClr val="505050"/>
              </a:solidFill>
            </p:spPr>
          </p:sp>
          <p:sp>
            <p:nvSpPr>
              <p:cNvPr name="Freeform 37" id="37"/>
              <p:cNvSpPr/>
              <p:nvPr/>
            </p:nvSpPr>
            <p:spPr>
              <a:xfrm flipH="false" flipV="false" rot="0">
                <a:off x="144653" y="71374"/>
                <a:ext cx="53213" cy="34925"/>
              </a:xfrm>
              <a:custGeom>
                <a:avLst/>
                <a:gdLst/>
                <a:ahLst/>
                <a:cxnLst/>
                <a:rect r="r" b="b" t="t" l="l"/>
                <a:pathLst>
                  <a:path h="34925" w="53213">
                    <a:moveTo>
                      <a:pt x="12065" y="34925"/>
                    </a:moveTo>
                    <a:lnTo>
                      <a:pt x="41148" y="34925"/>
                    </a:lnTo>
                    <a:cubicBezTo>
                      <a:pt x="47752" y="34925"/>
                      <a:pt x="53213" y="29718"/>
                      <a:pt x="53213" y="23241"/>
                    </a:cubicBezTo>
                    <a:lnTo>
                      <a:pt x="53213" y="11684"/>
                    </a:lnTo>
                    <a:cubicBezTo>
                      <a:pt x="53213" y="5207"/>
                      <a:pt x="47752" y="0"/>
                      <a:pt x="41148" y="0"/>
                    </a:cubicBezTo>
                    <a:lnTo>
                      <a:pt x="12065" y="0"/>
                    </a:lnTo>
                    <a:cubicBezTo>
                      <a:pt x="5461" y="0"/>
                      <a:pt x="0" y="5207"/>
                      <a:pt x="0" y="11684"/>
                    </a:cubicBezTo>
                    <a:lnTo>
                      <a:pt x="0" y="23241"/>
                    </a:lnTo>
                    <a:cubicBezTo>
                      <a:pt x="0" y="29718"/>
                      <a:pt x="5461" y="34925"/>
                      <a:pt x="12065" y="34925"/>
                    </a:cubicBezTo>
                    <a:close/>
                    <a:moveTo>
                      <a:pt x="4826" y="11684"/>
                    </a:moveTo>
                    <a:cubicBezTo>
                      <a:pt x="4826" y="7747"/>
                      <a:pt x="8128" y="4699"/>
                      <a:pt x="12065" y="4699"/>
                    </a:cubicBezTo>
                    <a:lnTo>
                      <a:pt x="41148" y="4699"/>
                    </a:lnTo>
                    <a:cubicBezTo>
                      <a:pt x="45212" y="4699"/>
                      <a:pt x="48387" y="7874"/>
                      <a:pt x="48387" y="11684"/>
                    </a:cubicBezTo>
                    <a:lnTo>
                      <a:pt x="48387" y="23241"/>
                    </a:lnTo>
                    <a:cubicBezTo>
                      <a:pt x="48387" y="27178"/>
                      <a:pt x="45085" y="30226"/>
                      <a:pt x="41148" y="30226"/>
                    </a:cubicBezTo>
                    <a:lnTo>
                      <a:pt x="12065" y="30226"/>
                    </a:lnTo>
                    <a:cubicBezTo>
                      <a:pt x="8001" y="30226"/>
                      <a:pt x="4826" y="27051"/>
                      <a:pt x="4826" y="23241"/>
                    </a:cubicBezTo>
                    <a:lnTo>
                      <a:pt x="4826" y="11684"/>
                    </a:lnTo>
                    <a:close/>
                  </a:path>
                </a:pathLst>
              </a:custGeom>
              <a:solidFill>
                <a:srgbClr val="505050"/>
              </a:solidFill>
            </p:spPr>
          </p:sp>
        </p:grpSp>
        <p:sp>
          <p:nvSpPr>
            <p:cNvPr name="TextBox 38" id="38"/>
            <p:cNvSpPr txBox="true"/>
            <p:nvPr/>
          </p:nvSpPr>
          <p:spPr>
            <a:xfrm rot="0">
              <a:off x="2066107" y="125793"/>
              <a:ext cx="862539" cy="265043"/>
            </a:xfrm>
            <a:prstGeom prst="rect">
              <a:avLst/>
            </a:prstGeom>
          </p:spPr>
          <p:txBody>
            <a:bodyPr anchor="t" rtlCol="false" tIns="0" lIns="0" bIns="0" rIns="0">
              <a:spAutoFit/>
            </a:bodyPr>
            <a:lstStyle/>
            <a:p>
              <a:pPr algn="l">
                <a:lnSpc>
                  <a:spcPts val="1512"/>
                </a:lnSpc>
              </a:pPr>
              <a:r>
                <a:rPr lang="en-US" b="true" sz="1080">
                  <a:solidFill>
                    <a:srgbClr val="CC0000"/>
                  </a:solidFill>
                  <a:latin typeface="Avenir Ultra-Bold"/>
                  <a:ea typeface="Avenir Ultra-Bold"/>
                  <a:cs typeface="Avenir Ultra-Bold"/>
                  <a:sym typeface="Avenir Ultra-Bold"/>
                </a:rPr>
                <a:t>Size </a:t>
              </a:r>
              <a:r>
                <a:rPr lang="en-US" b="true" sz="1080">
                  <a:solidFill>
                    <a:srgbClr val="CC0000"/>
                  </a:solidFill>
                  <a:latin typeface="Avenir Ultra-Bold"/>
                  <a:ea typeface="Avenir Ultra-Bold"/>
                  <a:cs typeface="Avenir Ultra-Bold"/>
                  <a:sym typeface="Avenir Ultra-Bold"/>
                </a:rPr>
                <a:t>m²</a:t>
              </a:r>
            </a:p>
          </p:txBody>
        </p:sp>
        <p:sp>
          <p:nvSpPr>
            <p:cNvPr name="TextBox 39" id="39"/>
            <p:cNvSpPr txBox="true"/>
            <p:nvPr/>
          </p:nvSpPr>
          <p:spPr>
            <a:xfrm rot="0">
              <a:off x="3597601" y="125793"/>
              <a:ext cx="1369273" cy="265043"/>
            </a:xfrm>
            <a:prstGeom prst="rect">
              <a:avLst/>
            </a:prstGeom>
          </p:spPr>
          <p:txBody>
            <a:bodyPr anchor="t" rtlCol="false" tIns="0" lIns="0" bIns="0" rIns="0">
              <a:spAutoFit/>
            </a:bodyPr>
            <a:lstStyle/>
            <a:p>
              <a:pPr algn="l">
                <a:lnSpc>
                  <a:spcPts val="1512"/>
                </a:lnSpc>
              </a:pPr>
              <a:r>
                <a:rPr lang="en-US" b="true" sz="1080">
                  <a:solidFill>
                    <a:srgbClr val="CC0000"/>
                  </a:solidFill>
                  <a:latin typeface="Avenir Ultra-Bold"/>
                  <a:ea typeface="Avenir Ultra-Bold"/>
                  <a:cs typeface="Avenir Ultra-Bold"/>
                  <a:sym typeface="Avenir Ultra-Bold"/>
                </a:rPr>
                <a:t>King / Twin</a:t>
              </a:r>
            </a:p>
          </p:txBody>
        </p:sp>
      </p:grpSp>
      <p:sp>
        <p:nvSpPr>
          <p:cNvPr name="TextBox 40" id="40"/>
          <p:cNvSpPr txBox="true"/>
          <p:nvPr/>
        </p:nvSpPr>
        <p:spPr>
          <a:xfrm rot="0">
            <a:off x="2479096" y="8144469"/>
            <a:ext cx="36847" cy="241090"/>
          </a:xfrm>
          <a:prstGeom prst="rect">
            <a:avLst/>
          </a:prstGeom>
        </p:spPr>
        <p:txBody>
          <a:bodyPr anchor="t" rtlCol="false" tIns="0" lIns="0" bIns="0" rIns="0">
            <a:spAutoFit/>
          </a:bodyPr>
          <a:lstStyle/>
          <a:p>
            <a:pPr algn="l">
              <a:lnSpc>
                <a:spcPts val="1786"/>
              </a:lnSpc>
            </a:pPr>
            <a:r>
              <a:rPr lang="en-US" b="true" sz="1137" i="true">
                <a:solidFill>
                  <a:srgbClr val="191919"/>
                </a:solidFill>
                <a:latin typeface="Avenir Medium Italics"/>
                <a:ea typeface="Avenir Medium Italics"/>
                <a:cs typeface="Avenir Medium Italics"/>
                <a:sym typeface="Avenir Medium Italics"/>
              </a:rPr>
              <a:t> </a:t>
            </a:r>
          </a:p>
        </p:txBody>
      </p:sp>
      <p:sp>
        <p:nvSpPr>
          <p:cNvPr name="TextBox 41" id="41"/>
          <p:cNvSpPr txBox="true"/>
          <p:nvPr/>
        </p:nvSpPr>
        <p:spPr>
          <a:xfrm rot="0">
            <a:off x="1644460" y="8381362"/>
            <a:ext cx="4046410" cy="425492"/>
          </a:xfrm>
          <a:prstGeom prst="rect">
            <a:avLst/>
          </a:prstGeom>
        </p:spPr>
        <p:txBody>
          <a:bodyPr anchor="t" rtlCol="false" tIns="0" lIns="0" bIns="0" rIns="0">
            <a:spAutoFit/>
          </a:bodyPr>
          <a:lstStyle/>
          <a:p>
            <a:pPr algn="l">
              <a:lnSpc>
                <a:spcPts val="1695"/>
              </a:lnSpc>
            </a:pPr>
            <a:r>
              <a:rPr lang="en-US" b="true" sz="1080">
                <a:solidFill>
                  <a:srgbClr val="505050"/>
                </a:solidFill>
                <a:latin typeface="Avenir Ultra-Bold"/>
                <a:ea typeface="Avenir Ultra-Bold"/>
                <a:cs typeface="Avenir Ultra-Bold"/>
                <a:sym typeface="Avenir Ultra-Bold"/>
              </a:rPr>
              <a:t>Fre</a:t>
            </a:r>
            <a:r>
              <a:rPr lang="en-US" b="true" sz="1080">
                <a:solidFill>
                  <a:srgbClr val="505050"/>
                </a:solidFill>
                <a:latin typeface="Avenir Ultra-Bold"/>
                <a:ea typeface="Avenir Ultra-Bold"/>
                <a:cs typeface="Avenir Ultra-Bold"/>
                <a:sym typeface="Avenir Ultra-Bold"/>
              </a:rPr>
              <a:t>e cancellation before </a:t>
            </a:r>
            <a:r>
              <a:rPr lang="en-US" b="true" sz="1080">
                <a:solidFill>
                  <a:srgbClr val="CC0000"/>
                </a:solidFill>
                <a:latin typeface="Avenir Ultra-Bold"/>
                <a:ea typeface="Avenir Ultra-Bold"/>
                <a:cs typeface="Avenir Ultra-Bold"/>
                <a:sym typeface="Avenir Ultra-Bold"/>
              </a:rPr>
              <a:t>time</a:t>
            </a:r>
            <a:r>
              <a:rPr lang="en-US" b="true" sz="1080">
                <a:solidFill>
                  <a:srgbClr val="505050"/>
                </a:solidFill>
                <a:latin typeface="Avenir Ultra-Bold"/>
                <a:ea typeface="Avenir Ultra-Bold"/>
                <a:cs typeface="Avenir Ultra-Bold"/>
                <a:sym typeface="Avenir Ultra-Bold"/>
              </a:rPr>
              <a:t> on </a:t>
            </a:r>
            <a:r>
              <a:rPr lang="en-US" b="true" sz="1080">
                <a:solidFill>
                  <a:srgbClr val="CC0000"/>
                </a:solidFill>
                <a:latin typeface="Avenir Ultra-Bold"/>
                <a:ea typeface="Avenir Ultra-Bold"/>
                <a:cs typeface="Avenir Ultra-Bold"/>
                <a:sym typeface="Avenir Ultra-Bold"/>
              </a:rPr>
              <a:t>Date Month Year </a:t>
            </a:r>
            <a:r>
              <a:rPr lang="en-US" b="true" sz="1080">
                <a:solidFill>
                  <a:srgbClr val="505050"/>
                </a:solidFill>
                <a:latin typeface="Avenir Ultra-Bold"/>
                <a:ea typeface="Avenir Ultra-Bold"/>
                <a:cs typeface="Avenir Ultra-Bold"/>
                <a:sym typeface="Avenir Ultra-Bold"/>
              </a:rPr>
              <a:t>after which a </a:t>
            </a:r>
            <a:r>
              <a:rPr lang="en-US" b="true" sz="1080">
                <a:solidFill>
                  <a:srgbClr val="505050"/>
                </a:solidFill>
                <a:latin typeface="Avenir Ultra-Bold"/>
                <a:ea typeface="Avenir Ultra-Bold"/>
                <a:cs typeface="Avenir Ultra-Bold"/>
                <a:sym typeface="Avenir Ultra-Bold"/>
              </a:rPr>
              <a:t>charge of EUR </a:t>
            </a:r>
            <a:r>
              <a:rPr lang="en-US" b="true" sz="1080">
                <a:solidFill>
                  <a:srgbClr val="CC0000"/>
                </a:solidFill>
                <a:latin typeface="Avenir Ultra-Bold"/>
                <a:ea typeface="Avenir Ultra-Bold"/>
                <a:cs typeface="Avenir Ultra-Bold"/>
                <a:sym typeface="Avenir Ultra-Bold"/>
              </a:rPr>
              <a:t>price</a:t>
            </a:r>
            <a:r>
              <a:rPr lang="en-US" b="true" sz="1080">
                <a:solidFill>
                  <a:srgbClr val="505050"/>
                </a:solidFill>
                <a:latin typeface="Avenir Ultra-Bold"/>
                <a:ea typeface="Avenir Ultra-Bold"/>
                <a:cs typeface="Avenir Ultra-Bold"/>
                <a:sym typeface="Avenir Ultra-Bold"/>
              </a:rPr>
              <a:t> will be incurred.</a:t>
            </a:r>
          </a:p>
        </p:txBody>
      </p:sp>
      <p:sp>
        <p:nvSpPr>
          <p:cNvPr name="TextBox 42" id="42"/>
          <p:cNvSpPr txBox="true"/>
          <p:nvPr/>
        </p:nvSpPr>
        <p:spPr>
          <a:xfrm rot="0">
            <a:off x="2479096" y="13166087"/>
            <a:ext cx="36847" cy="241090"/>
          </a:xfrm>
          <a:prstGeom prst="rect">
            <a:avLst/>
          </a:prstGeom>
        </p:spPr>
        <p:txBody>
          <a:bodyPr anchor="t" rtlCol="false" tIns="0" lIns="0" bIns="0" rIns="0">
            <a:spAutoFit/>
          </a:bodyPr>
          <a:lstStyle/>
          <a:p>
            <a:pPr algn="l">
              <a:lnSpc>
                <a:spcPts val="1786"/>
              </a:lnSpc>
            </a:pPr>
            <a:r>
              <a:rPr lang="en-US" b="true" sz="1137" i="true">
                <a:solidFill>
                  <a:srgbClr val="191919"/>
                </a:solidFill>
                <a:latin typeface="Avenir Medium Italics"/>
                <a:ea typeface="Avenir Medium Italics"/>
                <a:cs typeface="Avenir Medium Italics"/>
                <a:sym typeface="Avenir Medium Italics"/>
              </a:rPr>
              <a:t> </a:t>
            </a:r>
          </a:p>
        </p:txBody>
      </p:sp>
      <p:sp>
        <p:nvSpPr>
          <p:cNvPr name="TextBox 43" id="43"/>
          <p:cNvSpPr txBox="true"/>
          <p:nvPr/>
        </p:nvSpPr>
        <p:spPr>
          <a:xfrm rot="0">
            <a:off x="1644460" y="13402979"/>
            <a:ext cx="4329344" cy="395034"/>
          </a:xfrm>
          <a:prstGeom prst="rect">
            <a:avLst/>
          </a:prstGeom>
        </p:spPr>
        <p:txBody>
          <a:bodyPr anchor="t" rtlCol="false" tIns="0" lIns="0" bIns="0" rIns="0">
            <a:spAutoFit/>
          </a:bodyPr>
          <a:lstStyle/>
          <a:p>
            <a:pPr algn="l">
              <a:lnSpc>
                <a:spcPts val="1695"/>
              </a:lnSpc>
            </a:pPr>
            <a:r>
              <a:rPr lang="en-US" b="true" sz="1080">
                <a:solidFill>
                  <a:srgbClr val="505050"/>
                </a:solidFill>
                <a:latin typeface="Avenir Ultra-Bold"/>
                <a:ea typeface="Avenir Ultra-Bold"/>
                <a:cs typeface="Avenir Ultra-Bold"/>
                <a:sym typeface="Avenir Ultra-Bold"/>
              </a:rPr>
              <a:t>Free cancellation before </a:t>
            </a:r>
            <a:r>
              <a:rPr lang="en-US" b="true" sz="1080">
                <a:solidFill>
                  <a:srgbClr val="CC0000"/>
                </a:solidFill>
                <a:latin typeface="Avenir Ultra-Bold"/>
                <a:ea typeface="Avenir Ultra-Bold"/>
                <a:cs typeface="Avenir Ultra-Bold"/>
                <a:sym typeface="Avenir Ultra-Bold"/>
              </a:rPr>
              <a:t>time</a:t>
            </a:r>
            <a:r>
              <a:rPr lang="en-US" b="true" sz="1080">
                <a:solidFill>
                  <a:srgbClr val="505050"/>
                </a:solidFill>
                <a:latin typeface="Avenir Ultra-Bold"/>
                <a:ea typeface="Avenir Ultra-Bold"/>
                <a:cs typeface="Avenir Ultra-Bold"/>
                <a:sym typeface="Avenir Ultra-Bold"/>
              </a:rPr>
              <a:t> on </a:t>
            </a:r>
            <a:r>
              <a:rPr lang="en-US" b="true" sz="1080">
                <a:solidFill>
                  <a:srgbClr val="CC0000"/>
                </a:solidFill>
                <a:latin typeface="Avenir Ultra-Bold"/>
                <a:ea typeface="Avenir Ultra-Bold"/>
                <a:cs typeface="Avenir Ultra-Bold"/>
                <a:sym typeface="Avenir Ultra-Bold"/>
              </a:rPr>
              <a:t>Date</a:t>
            </a:r>
            <a:r>
              <a:rPr lang="en-US" b="true" sz="1080">
                <a:solidFill>
                  <a:srgbClr val="505050"/>
                </a:solidFill>
                <a:latin typeface="Avenir Ultra-Bold"/>
                <a:ea typeface="Avenir Ultra-Bold"/>
                <a:cs typeface="Avenir Ultra-Bold"/>
                <a:sym typeface="Avenir Ultra-Bold"/>
              </a:rPr>
              <a:t> </a:t>
            </a:r>
            <a:r>
              <a:rPr lang="en-US" b="true" sz="1080">
                <a:solidFill>
                  <a:srgbClr val="CC0000"/>
                </a:solidFill>
                <a:latin typeface="Avenir Ultra-Bold"/>
                <a:ea typeface="Avenir Ultra-Bold"/>
                <a:cs typeface="Avenir Ultra-Bold"/>
                <a:sym typeface="Avenir Ultra-Bold"/>
              </a:rPr>
              <a:t>Month</a:t>
            </a:r>
            <a:r>
              <a:rPr lang="en-US" b="true" sz="1080">
                <a:solidFill>
                  <a:srgbClr val="505050"/>
                </a:solidFill>
                <a:latin typeface="Avenir Ultra-Bold"/>
                <a:ea typeface="Avenir Ultra-Bold"/>
                <a:cs typeface="Avenir Ultra-Bold"/>
                <a:sym typeface="Avenir Ultra-Bold"/>
              </a:rPr>
              <a:t> </a:t>
            </a:r>
            <a:r>
              <a:rPr lang="en-US" b="true" sz="1080">
                <a:solidFill>
                  <a:srgbClr val="CC0000"/>
                </a:solidFill>
                <a:latin typeface="Avenir Ultra-Bold"/>
                <a:ea typeface="Avenir Ultra-Bold"/>
                <a:cs typeface="Avenir Ultra-Bold"/>
                <a:sym typeface="Avenir Ultra-Bold"/>
              </a:rPr>
              <a:t>Year</a:t>
            </a:r>
            <a:r>
              <a:rPr lang="en-US" b="true" sz="1080">
                <a:solidFill>
                  <a:srgbClr val="505050"/>
                </a:solidFill>
                <a:latin typeface="Avenir Ultra-Bold"/>
                <a:ea typeface="Avenir Ultra-Bold"/>
                <a:cs typeface="Avenir Ultra-Bold"/>
                <a:sym typeface="Avenir Ultra-Bold"/>
              </a:rPr>
              <a:t> after which a</a:t>
            </a:r>
          </a:p>
          <a:p>
            <a:pPr algn="l">
              <a:lnSpc>
                <a:spcPts val="1125"/>
              </a:lnSpc>
            </a:pPr>
            <a:r>
              <a:rPr lang="en-US" b="true" sz="1080">
                <a:solidFill>
                  <a:srgbClr val="505050"/>
                </a:solidFill>
                <a:latin typeface="Avenir Ultra-Bold"/>
                <a:ea typeface="Avenir Ultra-Bold"/>
                <a:cs typeface="Avenir Ultra-Bold"/>
                <a:sym typeface="Avenir Ultra-Bold"/>
              </a:rPr>
              <a:t>charge of EUR </a:t>
            </a:r>
            <a:r>
              <a:rPr lang="en-US" b="true" sz="1080">
                <a:solidFill>
                  <a:srgbClr val="CC0000"/>
                </a:solidFill>
                <a:latin typeface="Avenir Ultra-Bold"/>
                <a:ea typeface="Avenir Ultra-Bold"/>
                <a:cs typeface="Avenir Ultra-Bold"/>
                <a:sym typeface="Avenir Ultra-Bold"/>
              </a:rPr>
              <a:t>price</a:t>
            </a:r>
            <a:r>
              <a:rPr lang="en-US" b="true" sz="1080">
                <a:solidFill>
                  <a:srgbClr val="505050"/>
                </a:solidFill>
                <a:latin typeface="Avenir Ultra-Bold"/>
                <a:ea typeface="Avenir Ultra-Bold"/>
                <a:cs typeface="Avenir Ultra-Bold"/>
                <a:sym typeface="Avenir Ultra-Bold"/>
              </a:rPr>
              <a:t> will be incurred.</a:t>
            </a:r>
          </a:p>
        </p:txBody>
      </p:sp>
      <p:sp>
        <p:nvSpPr>
          <p:cNvPr name="TextBox 44" id="44"/>
          <p:cNvSpPr txBox="true"/>
          <p:nvPr/>
        </p:nvSpPr>
        <p:spPr>
          <a:xfrm rot="0">
            <a:off x="1699333" y="7807200"/>
            <a:ext cx="1170049" cy="203493"/>
          </a:xfrm>
          <a:prstGeom prst="rect">
            <a:avLst/>
          </a:prstGeom>
        </p:spPr>
        <p:txBody>
          <a:bodyPr anchor="t" rtlCol="false" tIns="0" lIns="0" bIns="0" rIns="0">
            <a:spAutoFit/>
          </a:bodyPr>
          <a:lstStyle/>
          <a:p>
            <a:pPr algn="l">
              <a:lnSpc>
                <a:spcPts val="1431"/>
              </a:lnSpc>
            </a:pPr>
            <a:r>
              <a:rPr lang="en-US" b="true" sz="1022">
                <a:solidFill>
                  <a:srgbClr val="000000"/>
                </a:solidFill>
                <a:latin typeface="Avenir Medium"/>
                <a:ea typeface="Avenir Medium"/>
                <a:cs typeface="Avenir Medium"/>
                <a:sym typeface="Avenir Medium"/>
              </a:rPr>
              <a:t>Best Available Rate</a:t>
            </a:r>
          </a:p>
        </p:txBody>
      </p:sp>
      <p:sp>
        <p:nvSpPr>
          <p:cNvPr name="TextBox 45" id="45"/>
          <p:cNvSpPr txBox="true"/>
          <p:nvPr/>
        </p:nvSpPr>
        <p:spPr>
          <a:xfrm rot="0">
            <a:off x="1699333" y="12828817"/>
            <a:ext cx="1170049" cy="203493"/>
          </a:xfrm>
          <a:prstGeom prst="rect">
            <a:avLst/>
          </a:prstGeom>
        </p:spPr>
        <p:txBody>
          <a:bodyPr anchor="t" rtlCol="false" tIns="0" lIns="0" bIns="0" rIns="0">
            <a:spAutoFit/>
          </a:bodyPr>
          <a:lstStyle/>
          <a:p>
            <a:pPr algn="l">
              <a:lnSpc>
                <a:spcPts val="1431"/>
              </a:lnSpc>
            </a:pPr>
            <a:r>
              <a:rPr lang="en-US" b="true" sz="1022">
                <a:solidFill>
                  <a:srgbClr val="000000"/>
                </a:solidFill>
                <a:latin typeface="Avenir Medium"/>
                <a:ea typeface="Avenir Medium"/>
                <a:cs typeface="Avenir Medium"/>
                <a:sym typeface="Avenir Medium"/>
              </a:rPr>
              <a:t>Best Available Rate</a:t>
            </a:r>
          </a:p>
        </p:txBody>
      </p:sp>
      <p:sp>
        <p:nvSpPr>
          <p:cNvPr name="TextBox 46" id="46"/>
          <p:cNvSpPr txBox="true"/>
          <p:nvPr/>
        </p:nvSpPr>
        <p:spPr>
          <a:xfrm rot="0">
            <a:off x="7072990" y="7791931"/>
            <a:ext cx="1478643" cy="800326"/>
          </a:xfrm>
          <a:prstGeom prst="rect">
            <a:avLst/>
          </a:prstGeom>
        </p:spPr>
        <p:txBody>
          <a:bodyPr anchor="t" rtlCol="false" tIns="0" lIns="0" bIns="0" rIns="0">
            <a:spAutoFit/>
          </a:bodyPr>
          <a:lstStyle/>
          <a:p>
            <a:pPr algn="r">
              <a:lnSpc>
                <a:spcPts val="1371"/>
              </a:lnSpc>
            </a:pPr>
            <a:r>
              <a:rPr lang="en-US" b="true" sz="979" i="true">
                <a:solidFill>
                  <a:srgbClr val="505050"/>
                </a:solidFill>
                <a:latin typeface="Avenir Medium Italics"/>
                <a:ea typeface="Avenir Medium Italics"/>
                <a:cs typeface="Avenir Medium Italics"/>
                <a:sym typeface="Avenir Medium Italics"/>
              </a:rPr>
              <a:t>Total for </a:t>
            </a:r>
            <a:r>
              <a:rPr lang="en-US" b="true" sz="979" i="true">
                <a:solidFill>
                  <a:srgbClr val="CC0000"/>
                </a:solidFill>
                <a:latin typeface="Avenir Medium Italics"/>
                <a:ea typeface="Avenir Medium Italics"/>
                <a:cs typeface="Avenir Medium Italics"/>
                <a:sym typeface="Avenir Medium Italics"/>
              </a:rPr>
              <a:t>x</a:t>
            </a:r>
            <a:r>
              <a:rPr lang="en-US" b="true" sz="979" i="true">
                <a:solidFill>
                  <a:srgbClr val="505050"/>
                </a:solidFill>
                <a:latin typeface="Avenir Medium Italics"/>
                <a:ea typeface="Avenir Medium Italics"/>
                <a:cs typeface="Avenir Medium Italics"/>
                <a:sym typeface="Avenir Medium Italics"/>
              </a:rPr>
              <a:t> nights inc tax</a:t>
            </a:r>
          </a:p>
          <a:p>
            <a:pPr algn="r">
              <a:lnSpc>
                <a:spcPts val="1814"/>
              </a:lnSpc>
            </a:pPr>
            <a:r>
              <a:rPr lang="en-US" b="true" sz="1296" i="true">
                <a:solidFill>
                  <a:srgbClr val="505050"/>
                </a:solidFill>
                <a:latin typeface="Avenir Medium Italics"/>
                <a:ea typeface="Avenir Medium Italics"/>
                <a:cs typeface="Avenir Medium Italics"/>
                <a:sym typeface="Avenir Medium Italics"/>
              </a:rPr>
              <a:t>€ </a:t>
            </a:r>
            <a:r>
              <a:rPr lang="en-US" b="true" sz="1296" i="true">
                <a:solidFill>
                  <a:srgbClr val="CC0000"/>
                </a:solidFill>
                <a:latin typeface="Avenir Medium Italics"/>
                <a:ea typeface="Avenir Medium Italics"/>
                <a:cs typeface="Avenir Medium Italics"/>
                <a:sym typeface="Avenir Medium Italics"/>
              </a:rPr>
              <a:t>price</a:t>
            </a:r>
          </a:p>
          <a:p>
            <a:pPr algn="r">
              <a:lnSpc>
                <a:spcPts val="1575"/>
              </a:lnSpc>
            </a:pPr>
            <a:r>
              <a:rPr lang="en-US" b="true" sz="979" i="true">
                <a:solidFill>
                  <a:srgbClr val="505050"/>
                </a:solidFill>
                <a:latin typeface="Avenir Medium Italics"/>
                <a:ea typeface="Avenir Medium Italics"/>
                <a:cs typeface="Avenir Medium Italics"/>
                <a:sym typeface="Avenir Medium Italics"/>
              </a:rPr>
              <a:t>Average per night inc tax € </a:t>
            </a:r>
            <a:r>
              <a:rPr lang="en-US" b="true" sz="979" i="true">
                <a:solidFill>
                  <a:srgbClr val="CC0000"/>
                </a:solidFill>
                <a:latin typeface="Avenir Medium Italics"/>
                <a:ea typeface="Avenir Medium Italics"/>
                <a:cs typeface="Avenir Medium Italics"/>
                <a:sym typeface="Avenir Medium Italics"/>
              </a:rPr>
              <a:t>price</a:t>
            </a:r>
          </a:p>
        </p:txBody>
      </p:sp>
      <p:sp>
        <p:nvSpPr>
          <p:cNvPr name="TextBox 47" id="47"/>
          <p:cNvSpPr txBox="true"/>
          <p:nvPr/>
        </p:nvSpPr>
        <p:spPr>
          <a:xfrm rot="0">
            <a:off x="6473512" y="12813549"/>
            <a:ext cx="2078121" cy="800326"/>
          </a:xfrm>
          <a:prstGeom prst="rect">
            <a:avLst/>
          </a:prstGeom>
        </p:spPr>
        <p:txBody>
          <a:bodyPr anchor="t" rtlCol="false" tIns="0" lIns="0" bIns="0" rIns="0">
            <a:spAutoFit/>
          </a:bodyPr>
          <a:lstStyle/>
          <a:p>
            <a:pPr algn="r">
              <a:lnSpc>
                <a:spcPts val="1371"/>
              </a:lnSpc>
            </a:pPr>
            <a:r>
              <a:rPr lang="en-US" b="true" sz="979" i="true">
                <a:solidFill>
                  <a:srgbClr val="505050"/>
                </a:solidFill>
                <a:latin typeface="Avenir Medium Italics"/>
                <a:ea typeface="Avenir Medium Italics"/>
                <a:cs typeface="Avenir Medium Italics"/>
                <a:sym typeface="Avenir Medium Italics"/>
              </a:rPr>
              <a:t>Total for </a:t>
            </a:r>
            <a:r>
              <a:rPr lang="en-US" b="true" sz="979" i="true">
                <a:solidFill>
                  <a:srgbClr val="CC0000"/>
                </a:solidFill>
                <a:latin typeface="Avenir Medium Italics"/>
                <a:ea typeface="Avenir Medium Italics"/>
                <a:cs typeface="Avenir Medium Italics"/>
                <a:sym typeface="Avenir Medium Italics"/>
              </a:rPr>
              <a:t>x </a:t>
            </a:r>
            <a:r>
              <a:rPr lang="en-US" b="true" sz="979" i="true">
                <a:solidFill>
                  <a:srgbClr val="505050"/>
                </a:solidFill>
                <a:latin typeface="Avenir Medium Italics"/>
                <a:ea typeface="Avenir Medium Italics"/>
                <a:cs typeface="Avenir Medium Italics"/>
                <a:sym typeface="Avenir Medium Italics"/>
              </a:rPr>
              <a:t>nights inc tax</a:t>
            </a:r>
          </a:p>
          <a:p>
            <a:pPr algn="r">
              <a:lnSpc>
                <a:spcPts val="1814"/>
              </a:lnSpc>
            </a:pPr>
            <a:r>
              <a:rPr lang="en-US" b="true" sz="1296" i="true">
                <a:solidFill>
                  <a:srgbClr val="505050"/>
                </a:solidFill>
                <a:latin typeface="Avenir Medium Italics"/>
                <a:ea typeface="Avenir Medium Italics"/>
                <a:cs typeface="Avenir Medium Italics"/>
                <a:sym typeface="Avenir Medium Italics"/>
              </a:rPr>
              <a:t>€ </a:t>
            </a:r>
            <a:r>
              <a:rPr lang="en-US" b="true" sz="1296" i="true">
                <a:solidFill>
                  <a:srgbClr val="CC0000"/>
                </a:solidFill>
                <a:latin typeface="Avenir Medium Italics"/>
                <a:ea typeface="Avenir Medium Italics"/>
                <a:cs typeface="Avenir Medium Italics"/>
                <a:sym typeface="Avenir Medium Italics"/>
              </a:rPr>
              <a:t>price</a:t>
            </a:r>
          </a:p>
          <a:p>
            <a:pPr algn="r">
              <a:lnSpc>
                <a:spcPts val="1575"/>
              </a:lnSpc>
            </a:pPr>
            <a:r>
              <a:rPr lang="en-US" b="true" sz="979" i="true">
                <a:solidFill>
                  <a:srgbClr val="505050"/>
                </a:solidFill>
                <a:latin typeface="Avenir Medium Italics"/>
                <a:ea typeface="Avenir Medium Italics"/>
                <a:cs typeface="Avenir Medium Italics"/>
                <a:sym typeface="Avenir Medium Italics"/>
              </a:rPr>
              <a:t>Average per night inc tax </a:t>
            </a:r>
          </a:p>
          <a:p>
            <a:pPr algn="r">
              <a:lnSpc>
                <a:spcPts val="1575"/>
              </a:lnSpc>
            </a:pPr>
            <a:r>
              <a:rPr lang="en-US" b="true" sz="979" i="true">
                <a:solidFill>
                  <a:srgbClr val="505050"/>
                </a:solidFill>
                <a:latin typeface="Avenir Medium Italics"/>
                <a:ea typeface="Avenir Medium Italics"/>
                <a:cs typeface="Avenir Medium Italics"/>
                <a:sym typeface="Avenir Medium Italics"/>
              </a:rPr>
              <a:t>€ </a:t>
            </a:r>
            <a:r>
              <a:rPr lang="en-US" b="true" sz="979" i="true">
                <a:solidFill>
                  <a:srgbClr val="CC0000"/>
                </a:solidFill>
                <a:latin typeface="Avenir Medium Italics"/>
                <a:ea typeface="Avenir Medium Italics"/>
                <a:cs typeface="Avenir Medium Italics"/>
                <a:sym typeface="Avenir Medium Italics"/>
              </a:rPr>
              <a:t>price</a:t>
            </a:r>
          </a:p>
        </p:txBody>
      </p:sp>
      <p:sp>
        <p:nvSpPr>
          <p:cNvPr name="TextBox 48" id="48"/>
          <p:cNvSpPr txBox="true"/>
          <p:nvPr/>
        </p:nvSpPr>
        <p:spPr>
          <a:xfrm rot="0">
            <a:off x="1644460" y="8163519"/>
            <a:ext cx="1231433" cy="210782"/>
          </a:xfrm>
          <a:prstGeom prst="rect">
            <a:avLst/>
          </a:prstGeom>
        </p:spPr>
        <p:txBody>
          <a:bodyPr anchor="t" rtlCol="false" tIns="0" lIns="0" bIns="0" rIns="0">
            <a:spAutoFit/>
          </a:bodyPr>
          <a:lstStyle/>
          <a:p>
            <a:pPr algn="l">
              <a:lnSpc>
                <a:spcPts val="1592"/>
              </a:lnSpc>
            </a:pPr>
            <a:r>
              <a:rPr lang="en-US" b="true" sz="1137" i="true">
                <a:solidFill>
                  <a:srgbClr val="191919"/>
                </a:solidFill>
                <a:latin typeface="Avenir Medium Italics"/>
                <a:ea typeface="Avenir Medium Italics"/>
                <a:cs typeface="Avenir Medium Italics"/>
                <a:sym typeface="Avenir Medium Italics"/>
              </a:rPr>
              <a:t>Cancellation policy</a:t>
            </a:r>
          </a:p>
        </p:txBody>
      </p:sp>
      <p:sp>
        <p:nvSpPr>
          <p:cNvPr name="TextBox 49" id="49"/>
          <p:cNvSpPr txBox="true"/>
          <p:nvPr/>
        </p:nvSpPr>
        <p:spPr>
          <a:xfrm rot="0">
            <a:off x="1644460" y="13185137"/>
            <a:ext cx="1231433" cy="210782"/>
          </a:xfrm>
          <a:prstGeom prst="rect">
            <a:avLst/>
          </a:prstGeom>
        </p:spPr>
        <p:txBody>
          <a:bodyPr anchor="t" rtlCol="false" tIns="0" lIns="0" bIns="0" rIns="0">
            <a:spAutoFit/>
          </a:bodyPr>
          <a:lstStyle/>
          <a:p>
            <a:pPr algn="l">
              <a:lnSpc>
                <a:spcPts val="1592"/>
              </a:lnSpc>
            </a:pPr>
            <a:r>
              <a:rPr lang="en-US" b="true" sz="1137" i="true">
                <a:solidFill>
                  <a:srgbClr val="191919"/>
                </a:solidFill>
                <a:latin typeface="Avenir Medium Italics"/>
                <a:ea typeface="Avenir Medium Italics"/>
                <a:cs typeface="Avenir Medium Italics"/>
                <a:sym typeface="Avenir Medium Italics"/>
              </a:rPr>
              <a:t>Cancellation policy</a:t>
            </a:r>
          </a:p>
        </p:txBody>
      </p:sp>
      <p:sp>
        <p:nvSpPr>
          <p:cNvPr name="Freeform 50" id="50"/>
          <p:cNvSpPr/>
          <p:nvPr/>
        </p:nvSpPr>
        <p:spPr>
          <a:xfrm flipH="false" flipV="false" rot="0">
            <a:off x="8809372" y="2775213"/>
            <a:ext cx="756397" cy="756397"/>
          </a:xfrm>
          <a:custGeom>
            <a:avLst/>
            <a:gdLst/>
            <a:ahLst/>
            <a:cxnLst/>
            <a:rect r="r" b="b" t="t" l="l"/>
            <a:pathLst>
              <a:path h="756397" w="756397">
                <a:moveTo>
                  <a:pt x="0" y="0"/>
                </a:moveTo>
                <a:lnTo>
                  <a:pt x="756397" y="0"/>
                </a:lnTo>
                <a:lnTo>
                  <a:pt x="756397" y="756397"/>
                </a:lnTo>
                <a:lnTo>
                  <a:pt x="0" y="756397"/>
                </a:lnTo>
                <a:lnTo>
                  <a:pt x="0" y="0"/>
                </a:lnTo>
                <a:close/>
              </a:path>
            </a:pathLst>
          </a:custGeom>
          <a:blipFill>
            <a:blip r:embed="rId6"/>
            <a:stretch>
              <a:fillRect l="0" t="0" r="0" b="0"/>
            </a:stretch>
          </a:blipFill>
        </p:spPr>
      </p:sp>
      <p:grpSp>
        <p:nvGrpSpPr>
          <p:cNvPr name="Group 51" id="51"/>
          <p:cNvGrpSpPr/>
          <p:nvPr/>
        </p:nvGrpSpPr>
        <p:grpSpPr>
          <a:xfrm rot="0">
            <a:off x="-84048" y="15237194"/>
            <a:ext cx="10455084" cy="647136"/>
            <a:chOff x="0" y="0"/>
            <a:chExt cx="7899400" cy="488950"/>
          </a:xfrm>
        </p:grpSpPr>
        <p:sp>
          <p:nvSpPr>
            <p:cNvPr name="Freeform 52" id="52"/>
            <p:cNvSpPr/>
            <p:nvPr/>
          </p:nvSpPr>
          <p:spPr>
            <a:xfrm flipH="false" flipV="false" rot="0">
              <a:off x="63500" y="63500"/>
              <a:ext cx="7772400" cy="361950"/>
            </a:xfrm>
            <a:custGeom>
              <a:avLst/>
              <a:gdLst/>
              <a:ahLst/>
              <a:cxnLst/>
              <a:rect r="r" b="b" t="t" l="l"/>
              <a:pathLst>
                <a:path h="361950" w="7772400">
                  <a:moveTo>
                    <a:pt x="0" y="361950"/>
                  </a:moveTo>
                  <a:lnTo>
                    <a:pt x="7772400" y="361950"/>
                  </a:lnTo>
                  <a:lnTo>
                    <a:pt x="7772400" y="0"/>
                  </a:lnTo>
                  <a:lnTo>
                    <a:pt x="0" y="0"/>
                  </a:lnTo>
                  <a:close/>
                </a:path>
              </a:pathLst>
            </a:custGeom>
            <a:solidFill>
              <a:srgbClr val="FFFFFF"/>
            </a:solidFill>
          </p:spPr>
        </p:sp>
        <p:sp>
          <p:nvSpPr>
            <p:cNvPr name="Freeform 53" id="53"/>
            <p:cNvSpPr/>
            <p:nvPr/>
          </p:nvSpPr>
          <p:spPr>
            <a:xfrm flipH="false" flipV="false" rot="0">
              <a:off x="63500" y="63500"/>
              <a:ext cx="7772400" cy="4826"/>
            </a:xfrm>
            <a:custGeom>
              <a:avLst/>
              <a:gdLst/>
              <a:ahLst/>
              <a:cxnLst/>
              <a:rect r="r" b="b" t="t" l="l"/>
              <a:pathLst>
                <a:path h="4826" w="7772400">
                  <a:moveTo>
                    <a:pt x="0" y="0"/>
                  </a:moveTo>
                  <a:lnTo>
                    <a:pt x="7772400" y="0"/>
                  </a:lnTo>
                  <a:lnTo>
                    <a:pt x="7772400" y="4826"/>
                  </a:lnTo>
                  <a:lnTo>
                    <a:pt x="0" y="4826"/>
                  </a:lnTo>
                </a:path>
              </a:pathLst>
            </a:custGeom>
            <a:solidFill>
              <a:srgbClr val="191919"/>
            </a:solidFill>
          </p:spPr>
        </p:sp>
      </p:grpSp>
      <p:sp>
        <p:nvSpPr>
          <p:cNvPr name="TextBox 54" id="54"/>
          <p:cNvSpPr txBox="true"/>
          <p:nvPr/>
        </p:nvSpPr>
        <p:spPr>
          <a:xfrm rot="0">
            <a:off x="276085" y="15458677"/>
            <a:ext cx="3809909" cy="175121"/>
          </a:xfrm>
          <a:prstGeom prst="rect">
            <a:avLst/>
          </a:prstGeom>
        </p:spPr>
        <p:txBody>
          <a:bodyPr anchor="t" rtlCol="false" tIns="0" lIns="0" bIns="0" rIns="0">
            <a:spAutoFit/>
          </a:bodyPr>
          <a:lstStyle/>
          <a:p>
            <a:pPr algn="l">
              <a:lnSpc>
                <a:spcPts val="1260"/>
              </a:lnSpc>
            </a:pPr>
            <a:r>
              <a:rPr lang="en-US" b="true" sz="900">
                <a:solidFill>
                  <a:srgbClr val="505050"/>
                </a:solidFill>
                <a:latin typeface="Avenir Ultra-Bold"/>
                <a:ea typeface="Avenir Ultra-Bold"/>
                <a:cs typeface="Avenir Ultra-Bold"/>
                <a:sym typeface="Avenir Ultra-Bold"/>
              </a:rPr>
              <a:t>All prices listed are subject to availability and change, none are on hold.</a:t>
            </a:r>
          </a:p>
        </p:txBody>
      </p:sp>
      <p:sp>
        <p:nvSpPr>
          <p:cNvPr name="Freeform 55" id="55"/>
          <p:cNvSpPr/>
          <p:nvPr/>
        </p:nvSpPr>
        <p:spPr>
          <a:xfrm flipH="false" flipV="false" rot="0">
            <a:off x="4156808" y="16565541"/>
            <a:ext cx="1973384" cy="1973384"/>
          </a:xfrm>
          <a:custGeom>
            <a:avLst/>
            <a:gdLst/>
            <a:ahLst/>
            <a:cxnLst/>
            <a:rect r="r" b="b" t="t" l="l"/>
            <a:pathLst>
              <a:path h="1973384" w="1973384">
                <a:moveTo>
                  <a:pt x="0" y="0"/>
                </a:moveTo>
                <a:lnTo>
                  <a:pt x="1973384" y="0"/>
                </a:lnTo>
                <a:lnTo>
                  <a:pt x="1973384" y="1973383"/>
                </a:lnTo>
                <a:lnTo>
                  <a:pt x="0" y="1973383"/>
                </a:lnTo>
                <a:lnTo>
                  <a:pt x="0" y="0"/>
                </a:lnTo>
                <a:close/>
              </a:path>
            </a:pathLst>
          </a:custGeom>
          <a:blipFill>
            <a:blip r:embed="rId7"/>
            <a:stretch>
              <a:fillRect l="0" t="0" r="0" b="0"/>
            </a:stretch>
          </a:blipFill>
        </p:spPr>
      </p:sp>
      <p:grpSp>
        <p:nvGrpSpPr>
          <p:cNvPr name="Group 56" id="56"/>
          <p:cNvGrpSpPr/>
          <p:nvPr/>
        </p:nvGrpSpPr>
        <p:grpSpPr>
          <a:xfrm rot="0">
            <a:off x="1618162" y="12291088"/>
            <a:ext cx="3725156" cy="394717"/>
            <a:chOff x="0" y="0"/>
            <a:chExt cx="4966875" cy="526290"/>
          </a:xfrm>
        </p:grpSpPr>
        <p:grpSp>
          <p:nvGrpSpPr>
            <p:cNvPr name="Group 57" id="57"/>
            <p:cNvGrpSpPr/>
            <p:nvPr/>
          </p:nvGrpSpPr>
          <p:grpSpPr>
            <a:xfrm rot="0">
              <a:off x="0" y="44749"/>
              <a:ext cx="536551" cy="436791"/>
              <a:chOff x="0" y="0"/>
              <a:chExt cx="279400" cy="227457"/>
            </a:xfrm>
          </p:grpSpPr>
          <p:sp>
            <p:nvSpPr>
              <p:cNvPr name="Freeform 58" id="58"/>
              <p:cNvSpPr/>
              <p:nvPr/>
            </p:nvSpPr>
            <p:spPr>
              <a:xfrm flipH="false" flipV="false" rot="0">
                <a:off x="63500" y="63474"/>
                <a:ext cx="152272" cy="100481"/>
              </a:xfrm>
              <a:custGeom>
                <a:avLst/>
                <a:gdLst/>
                <a:ahLst/>
                <a:cxnLst/>
                <a:rect r="r" b="b" t="t" l="l"/>
                <a:pathLst>
                  <a:path h="100481" w="152272">
                    <a:moveTo>
                      <a:pt x="75056" y="100481"/>
                    </a:moveTo>
                    <a:cubicBezTo>
                      <a:pt x="48894" y="100481"/>
                      <a:pt x="23875" y="84098"/>
                      <a:pt x="635" y="51841"/>
                    </a:cubicBezTo>
                    <a:cubicBezTo>
                      <a:pt x="254" y="51333"/>
                      <a:pt x="0" y="50571"/>
                      <a:pt x="0" y="49936"/>
                    </a:cubicBezTo>
                    <a:cubicBezTo>
                      <a:pt x="0" y="49301"/>
                      <a:pt x="127" y="48539"/>
                      <a:pt x="508" y="48031"/>
                    </a:cubicBezTo>
                    <a:cubicBezTo>
                      <a:pt x="1778" y="46126"/>
                      <a:pt x="32003" y="1041"/>
                      <a:pt x="75691" y="25"/>
                    </a:cubicBezTo>
                    <a:cubicBezTo>
                      <a:pt x="102488" y="-737"/>
                      <a:pt x="128015" y="15519"/>
                      <a:pt x="151637" y="47904"/>
                    </a:cubicBezTo>
                    <a:cubicBezTo>
                      <a:pt x="152018" y="48412"/>
                      <a:pt x="152272" y="49047"/>
                      <a:pt x="152272" y="49809"/>
                    </a:cubicBezTo>
                    <a:cubicBezTo>
                      <a:pt x="152272" y="50571"/>
                      <a:pt x="152145" y="51206"/>
                      <a:pt x="151764" y="51714"/>
                    </a:cubicBezTo>
                    <a:cubicBezTo>
                      <a:pt x="150494" y="53619"/>
                      <a:pt x="120141" y="99465"/>
                      <a:pt x="76453" y="100481"/>
                    </a:cubicBezTo>
                    <a:cubicBezTo>
                      <a:pt x="75945" y="100481"/>
                      <a:pt x="75437" y="100481"/>
                      <a:pt x="74929" y="100481"/>
                    </a:cubicBezTo>
                    <a:close/>
                    <a:moveTo>
                      <a:pt x="7366" y="49809"/>
                    </a:moveTo>
                    <a:cubicBezTo>
                      <a:pt x="29336" y="79526"/>
                      <a:pt x="52577" y="94385"/>
                      <a:pt x="76326" y="93750"/>
                    </a:cubicBezTo>
                    <a:cubicBezTo>
                      <a:pt x="111759" y="92988"/>
                      <a:pt x="138810" y="58445"/>
                      <a:pt x="144906" y="49936"/>
                    </a:cubicBezTo>
                    <a:cubicBezTo>
                      <a:pt x="123062" y="20726"/>
                      <a:pt x="99694" y="6248"/>
                      <a:pt x="75818" y="6756"/>
                    </a:cubicBezTo>
                    <a:cubicBezTo>
                      <a:pt x="40385" y="7518"/>
                      <a:pt x="13461" y="41427"/>
                      <a:pt x="7239" y="49936"/>
                    </a:cubicBezTo>
                    <a:close/>
                  </a:path>
                </a:pathLst>
              </a:custGeom>
              <a:solidFill>
                <a:srgbClr val="505050"/>
              </a:solidFill>
            </p:spPr>
          </p:sp>
          <p:sp>
            <p:nvSpPr>
              <p:cNvPr name="Freeform 59" id="59"/>
              <p:cNvSpPr/>
              <p:nvPr/>
            </p:nvSpPr>
            <p:spPr>
              <a:xfrm flipH="false" flipV="false" rot="0">
                <a:off x="112521" y="86359"/>
                <a:ext cx="54483" cy="54736"/>
              </a:xfrm>
              <a:custGeom>
                <a:avLst/>
                <a:gdLst/>
                <a:ahLst/>
                <a:cxnLst/>
                <a:rect r="r" b="b" t="t" l="l"/>
                <a:pathLst>
                  <a:path h="54736" w="54483">
                    <a:moveTo>
                      <a:pt x="27178" y="54736"/>
                    </a:moveTo>
                    <a:cubicBezTo>
                      <a:pt x="21844" y="54736"/>
                      <a:pt x="16510" y="53085"/>
                      <a:pt x="12065" y="50164"/>
                    </a:cubicBezTo>
                    <a:cubicBezTo>
                      <a:pt x="7620" y="47243"/>
                      <a:pt x="4064" y="42925"/>
                      <a:pt x="2032" y="37845"/>
                    </a:cubicBezTo>
                    <a:cubicBezTo>
                      <a:pt x="0" y="32766"/>
                      <a:pt x="-508" y="27305"/>
                      <a:pt x="508" y="21971"/>
                    </a:cubicBezTo>
                    <a:cubicBezTo>
                      <a:pt x="1524" y="16637"/>
                      <a:pt x="4191" y="11811"/>
                      <a:pt x="8001" y="8001"/>
                    </a:cubicBezTo>
                    <a:cubicBezTo>
                      <a:pt x="11811" y="4191"/>
                      <a:pt x="16637" y="1524"/>
                      <a:pt x="21971" y="508"/>
                    </a:cubicBezTo>
                    <a:cubicBezTo>
                      <a:pt x="27305" y="-508"/>
                      <a:pt x="32766" y="0"/>
                      <a:pt x="37719" y="2032"/>
                    </a:cubicBezTo>
                    <a:cubicBezTo>
                      <a:pt x="42672" y="4064"/>
                      <a:pt x="46990" y="7620"/>
                      <a:pt x="49911" y="12065"/>
                    </a:cubicBezTo>
                    <a:cubicBezTo>
                      <a:pt x="52832" y="16510"/>
                      <a:pt x="54483" y="21844"/>
                      <a:pt x="54483" y="27305"/>
                    </a:cubicBezTo>
                    <a:cubicBezTo>
                      <a:pt x="54483" y="34544"/>
                      <a:pt x="51562" y="41528"/>
                      <a:pt x="46482" y="46608"/>
                    </a:cubicBezTo>
                    <a:cubicBezTo>
                      <a:pt x="41402" y="51688"/>
                      <a:pt x="34417" y="54609"/>
                      <a:pt x="27178" y="54609"/>
                    </a:cubicBezTo>
                    <a:close/>
                    <a:moveTo>
                      <a:pt x="27178" y="6477"/>
                    </a:moveTo>
                    <a:cubicBezTo>
                      <a:pt x="23114" y="6477"/>
                      <a:pt x="19177" y="7747"/>
                      <a:pt x="15748" y="10033"/>
                    </a:cubicBezTo>
                    <a:cubicBezTo>
                      <a:pt x="12319" y="12319"/>
                      <a:pt x="9652" y="15494"/>
                      <a:pt x="8128" y="19304"/>
                    </a:cubicBezTo>
                    <a:cubicBezTo>
                      <a:pt x="6604" y="23114"/>
                      <a:pt x="6223" y="27305"/>
                      <a:pt x="6985" y="31242"/>
                    </a:cubicBezTo>
                    <a:cubicBezTo>
                      <a:pt x="7747" y="35179"/>
                      <a:pt x="9779" y="38988"/>
                      <a:pt x="12573" y="41782"/>
                    </a:cubicBezTo>
                    <a:cubicBezTo>
                      <a:pt x="15367" y="44576"/>
                      <a:pt x="19177" y="46608"/>
                      <a:pt x="23114" y="47497"/>
                    </a:cubicBezTo>
                    <a:cubicBezTo>
                      <a:pt x="27051" y="48386"/>
                      <a:pt x="31242" y="47878"/>
                      <a:pt x="35052" y="46354"/>
                    </a:cubicBezTo>
                    <a:cubicBezTo>
                      <a:pt x="38862" y="44830"/>
                      <a:pt x="42037" y="42163"/>
                      <a:pt x="44323" y="38734"/>
                    </a:cubicBezTo>
                    <a:cubicBezTo>
                      <a:pt x="46609" y="35306"/>
                      <a:pt x="47752" y="31369"/>
                      <a:pt x="47752" y="27178"/>
                    </a:cubicBezTo>
                    <a:cubicBezTo>
                      <a:pt x="47752" y="21717"/>
                      <a:pt x="45593" y="16383"/>
                      <a:pt x="41656" y="12573"/>
                    </a:cubicBezTo>
                    <a:cubicBezTo>
                      <a:pt x="37719" y="8763"/>
                      <a:pt x="32512" y="6477"/>
                      <a:pt x="27051" y="6477"/>
                    </a:cubicBezTo>
                    <a:close/>
                  </a:path>
                </a:pathLst>
              </a:custGeom>
              <a:solidFill>
                <a:srgbClr val="505050"/>
              </a:solidFill>
            </p:spPr>
          </p:sp>
        </p:grpSp>
        <p:sp>
          <p:nvSpPr>
            <p:cNvPr name="TextBox 60" id="60"/>
            <p:cNvSpPr txBox="true"/>
            <p:nvPr/>
          </p:nvSpPr>
          <p:spPr>
            <a:xfrm rot="0">
              <a:off x="519778" y="121119"/>
              <a:ext cx="1042789" cy="265043"/>
            </a:xfrm>
            <a:prstGeom prst="rect">
              <a:avLst/>
            </a:prstGeom>
          </p:spPr>
          <p:txBody>
            <a:bodyPr anchor="t" rtlCol="false" tIns="0" lIns="0" bIns="0" rIns="0">
              <a:spAutoFit/>
            </a:bodyPr>
            <a:lstStyle/>
            <a:p>
              <a:pPr algn="l">
                <a:lnSpc>
                  <a:spcPts val="1512"/>
                </a:lnSpc>
              </a:pPr>
              <a:r>
                <a:rPr lang="en-US" b="true" sz="1080">
                  <a:solidFill>
                    <a:srgbClr val="CC0000"/>
                  </a:solidFill>
                  <a:latin typeface="Avenir Ultra-Bold"/>
                  <a:ea typeface="Avenir Ultra-Bold"/>
                  <a:cs typeface="Avenir Ultra-Bold"/>
                  <a:sym typeface="Avenir Ultra-Bold"/>
                </a:rPr>
                <a:t>Room View </a:t>
              </a:r>
            </a:p>
          </p:txBody>
        </p:sp>
        <p:grpSp>
          <p:nvGrpSpPr>
            <p:cNvPr name="Group 61" id="61"/>
            <p:cNvGrpSpPr/>
            <p:nvPr/>
          </p:nvGrpSpPr>
          <p:grpSpPr>
            <a:xfrm rot="0">
              <a:off x="1668294" y="125422"/>
              <a:ext cx="292657" cy="282414"/>
              <a:chOff x="0" y="0"/>
              <a:chExt cx="152400" cy="147066"/>
            </a:xfrm>
          </p:grpSpPr>
          <p:sp>
            <p:nvSpPr>
              <p:cNvPr name="Freeform 62" id="62"/>
              <p:cNvSpPr/>
              <p:nvPr/>
            </p:nvSpPr>
            <p:spPr>
              <a:xfrm flipH="false" flipV="false" rot="0">
                <a:off x="0" y="0"/>
                <a:ext cx="152400" cy="147066"/>
              </a:xfrm>
              <a:custGeom>
                <a:avLst/>
                <a:gdLst/>
                <a:ahLst/>
                <a:cxnLst/>
                <a:rect r="r" b="b" t="t" l="l"/>
                <a:pathLst>
                  <a:path h="147066" w="152400">
                    <a:moveTo>
                      <a:pt x="0" y="0"/>
                    </a:moveTo>
                    <a:lnTo>
                      <a:pt x="0" y="147066"/>
                    </a:lnTo>
                    <a:lnTo>
                      <a:pt x="152400" y="147066"/>
                    </a:lnTo>
                    <a:lnTo>
                      <a:pt x="152400" y="0"/>
                    </a:lnTo>
                    <a:lnTo>
                      <a:pt x="130175" y="0"/>
                    </a:lnTo>
                    <a:lnTo>
                      <a:pt x="129540" y="508"/>
                    </a:lnTo>
                    <a:lnTo>
                      <a:pt x="93726" y="27813"/>
                    </a:lnTo>
                    <a:lnTo>
                      <a:pt x="96647" y="31496"/>
                    </a:lnTo>
                    <a:lnTo>
                      <a:pt x="131826" y="4572"/>
                    </a:lnTo>
                    <a:lnTo>
                      <a:pt x="147701" y="4572"/>
                    </a:lnTo>
                    <a:lnTo>
                      <a:pt x="147701" y="78105"/>
                    </a:lnTo>
                    <a:lnTo>
                      <a:pt x="81026" y="78105"/>
                    </a:lnTo>
                    <a:lnTo>
                      <a:pt x="81026" y="110363"/>
                    </a:lnTo>
                    <a:lnTo>
                      <a:pt x="4826" y="110363"/>
                    </a:lnTo>
                    <a:lnTo>
                      <a:pt x="4826" y="68961"/>
                    </a:lnTo>
                    <a:lnTo>
                      <a:pt x="71374" y="68961"/>
                    </a:lnTo>
                    <a:lnTo>
                      <a:pt x="71374" y="4572"/>
                    </a:lnTo>
                    <a:lnTo>
                      <a:pt x="95250" y="4572"/>
                    </a:lnTo>
                    <a:lnTo>
                      <a:pt x="95250" y="0"/>
                    </a:lnTo>
                    <a:lnTo>
                      <a:pt x="0" y="0"/>
                    </a:lnTo>
                    <a:close/>
                    <a:moveTo>
                      <a:pt x="4826" y="4572"/>
                    </a:moveTo>
                    <a:lnTo>
                      <a:pt x="66675" y="4572"/>
                    </a:lnTo>
                    <a:lnTo>
                      <a:pt x="66675" y="64262"/>
                    </a:lnTo>
                    <a:lnTo>
                      <a:pt x="4826" y="64262"/>
                    </a:lnTo>
                    <a:lnTo>
                      <a:pt x="4826" y="4572"/>
                    </a:lnTo>
                    <a:close/>
                    <a:moveTo>
                      <a:pt x="85725" y="82677"/>
                    </a:moveTo>
                    <a:lnTo>
                      <a:pt x="147701" y="82677"/>
                    </a:lnTo>
                    <a:lnTo>
                      <a:pt x="147701" y="142367"/>
                    </a:lnTo>
                    <a:lnTo>
                      <a:pt x="85725" y="142367"/>
                    </a:lnTo>
                    <a:lnTo>
                      <a:pt x="85725" y="82677"/>
                    </a:lnTo>
                    <a:close/>
                    <a:moveTo>
                      <a:pt x="4826" y="114935"/>
                    </a:moveTo>
                    <a:lnTo>
                      <a:pt x="81026" y="114935"/>
                    </a:lnTo>
                    <a:lnTo>
                      <a:pt x="81026" y="142494"/>
                    </a:lnTo>
                    <a:lnTo>
                      <a:pt x="4826" y="142494"/>
                    </a:lnTo>
                    <a:lnTo>
                      <a:pt x="4826" y="114935"/>
                    </a:lnTo>
                    <a:close/>
                  </a:path>
                </a:pathLst>
              </a:custGeom>
              <a:solidFill>
                <a:srgbClr val="505050"/>
              </a:solidFill>
            </p:spPr>
          </p:sp>
        </p:grpSp>
        <p:grpSp>
          <p:nvGrpSpPr>
            <p:cNvPr name="Group 63" id="63"/>
            <p:cNvGrpSpPr/>
            <p:nvPr/>
          </p:nvGrpSpPr>
          <p:grpSpPr>
            <a:xfrm rot="0">
              <a:off x="3077842" y="0"/>
              <a:ext cx="536533" cy="526290"/>
              <a:chOff x="0" y="0"/>
              <a:chExt cx="279400" cy="274066"/>
            </a:xfrm>
          </p:grpSpPr>
          <p:sp>
            <p:nvSpPr>
              <p:cNvPr name="Freeform 64" id="64"/>
              <p:cNvSpPr/>
              <p:nvPr/>
            </p:nvSpPr>
            <p:spPr>
              <a:xfrm flipH="false" flipV="false" rot="0">
                <a:off x="63500" y="63500"/>
                <a:ext cx="152400" cy="147066"/>
              </a:xfrm>
              <a:custGeom>
                <a:avLst/>
                <a:gdLst/>
                <a:ahLst/>
                <a:cxnLst/>
                <a:rect r="r" b="b" t="t" l="l"/>
                <a:pathLst>
                  <a:path h="147066" w="152400">
                    <a:moveTo>
                      <a:pt x="152400" y="138049"/>
                    </a:moveTo>
                    <a:lnTo>
                      <a:pt x="152400" y="1778"/>
                    </a:lnTo>
                    <a:cubicBezTo>
                      <a:pt x="152400" y="762"/>
                      <a:pt x="151384" y="0"/>
                      <a:pt x="149987" y="0"/>
                    </a:cubicBezTo>
                    <a:lnTo>
                      <a:pt x="2413" y="0"/>
                    </a:lnTo>
                    <a:cubicBezTo>
                      <a:pt x="1143" y="0"/>
                      <a:pt x="0" y="762"/>
                      <a:pt x="0" y="1778"/>
                    </a:cubicBezTo>
                    <a:lnTo>
                      <a:pt x="0" y="138049"/>
                    </a:lnTo>
                    <a:cubicBezTo>
                      <a:pt x="0" y="143002"/>
                      <a:pt x="5207" y="147066"/>
                      <a:pt x="11684" y="147066"/>
                    </a:cubicBezTo>
                    <a:lnTo>
                      <a:pt x="140716" y="147066"/>
                    </a:lnTo>
                    <a:cubicBezTo>
                      <a:pt x="147193" y="147066"/>
                      <a:pt x="152400" y="143002"/>
                      <a:pt x="152400" y="138049"/>
                    </a:cubicBezTo>
                    <a:close/>
                    <a:moveTo>
                      <a:pt x="4826" y="50292"/>
                    </a:moveTo>
                    <a:lnTo>
                      <a:pt x="147574" y="50292"/>
                    </a:lnTo>
                    <a:lnTo>
                      <a:pt x="147574" y="65405"/>
                    </a:lnTo>
                    <a:lnTo>
                      <a:pt x="4826" y="65405"/>
                    </a:lnTo>
                    <a:lnTo>
                      <a:pt x="4826" y="50292"/>
                    </a:lnTo>
                    <a:close/>
                    <a:moveTo>
                      <a:pt x="147574" y="3683"/>
                    </a:moveTo>
                    <a:lnTo>
                      <a:pt x="147574" y="46609"/>
                    </a:lnTo>
                    <a:lnTo>
                      <a:pt x="4826" y="46609"/>
                    </a:lnTo>
                    <a:lnTo>
                      <a:pt x="4826" y="3683"/>
                    </a:lnTo>
                    <a:lnTo>
                      <a:pt x="147574" y="3683"/>
                    </a:lnTo>
                    <a:close/>
                    <a:moveTo>
                      <a:pt x="4826" y="138049"/>
                    </a:moveTo>
                    <a:lnTo>
                      <a:pt x="4826" y="69088"/>
                    </a:lnTo>
                    <a:lnTo>
                      <a:pt x="147574" y="69088"/>
                    </a:lnTo>
                    <a:lnTo>
                      <a:pt x="147574" y="138049"/>
                    </a:lnTo>
                    <a:cubicBezTo>
                      <a:pt x="147574" y="140970"/>
                      <a:pt x="144526" y="143383"/>
                      <a:pt x="140716" y="143383"/>
                    </a:cubicBezTo>
                    <a:lnTo>
                      <a:pt x="11684" y="143383"/>
                    </a:lnTo>
                    <a:cubicBezTo>
                      <a:pt x="7874" y="143383"/>
                      <a:pt x="4826" y="140970"/>
                      <a:pt x="4826" y="138049"/>
                    </a:cubicBezTo>
                    <a:close/>
                  </a:path>
                </a:pathLst>
              </a:custGeom>
              <a:solidFill>
                <a:srgbClr val="505050"/>
              </a:solidFill>
            </p:spPr>
          </p:sp>
          <p:sp>
            <p:nvSpPr>
              <p:cNvPr name="Freeform 65" id="65"/>
              <p:cNvSpPr/>
              <p:nvPr/>
            </p:nvSpPr>
            <p:spPr>
              <a:xfrm flipH="false" flipV="false" rot="0">
                <a:off x="81407" y="71374"/>
                <a:ext cx="53340" cy="34925"/>
              </a:xfrm>
              <a:custGeom>
                <a:avLst/>
                <a:gdLst/>
                <a:ahLst/>
                <a:cxnLst/>
                <a:rect r="r" b="b" t="t" l="l"/>
                <a:pathLst>
                  <a:path h="34925" w="53340">
                    <a:moveTo>
                      <a:pt x="12065" y="34925"/>
                    </a:moveTo>
                    <a:lnTo>
                      <a:pt x="41275" y="34925"/>
                    </a:lnTo>
                    <a:cubicBezTo>
                      <a:pt x="47879" y="34925"/>
                      <a:pt x="53340" y="29718"/>
                      <a:pt x="53340" y="23241"/>
                    </a:cubicBezTo>
                    <a:lnTo>
                      <a:pt x="53340" y="11684"/>
                    </a:lnTo>
                    <a:cubicBezTo>
                      <a:pt x="53340" y="5207"/>
                      <a:pt x="47879" y="0"/>
                      <a:pt x="41275" y="0"/>
                    </a:cubicBezTo>
                    <a:lnTo>
                      <a:pt x="12065" y="0"/>
                    </a:lnTo>
                    <a:cubicBezTo>
                      <a:pt x="5461" y="0"/>
                      <a:pt x="0" y="5207"/>
                      <a:pt x="0" y="11684"/>
                    </a:cubicBezTo>
                    <a:lnTo>
                      <a:pt x="0" y="23241"/>
                    </a:lnTo>
                    <a:cubicBezTo>
                      <a:pt x="0" y="29718"/>
                      <a:pt x="5461" y="34925"/>
                      <a:pt x="12065" y="34925"/>
                    </a:cubicBezTo>
                    <a:close/>
                    <a:moveTo>
                      <a:pt x="4826" y="11684"/>
                    </a:moveTo>
                    <a:cubicBezTo>
                      <a:pt x="4826" y="7747"/>
                      <a:pt x="8128" y="4699"/>
                      <a:pt x="12065" y="4699"/>
                    </a:cubicBezTo>
                    <a:lnTo>
                      <a:pt x="41275" y="4699"/>
                    </a:lnTo>
                    <a:cubicBezTo>
                      <a:pt x="45339" y="4699"/>
                      <a:pt x="48514" y="7874"/>
                      <a:pt x="48514" y="11684"/>
                    </a:cubicBezTo>
                    <a:lnTo>
                      <a:pt x="48514" y="23241"/>
                    </a:lnTo>
                    <a:cubicBezTo>
                      <a:pt x="48514" y="27178"/>
                      <a:pt x="45212" y="30226"/>
                      <a:pt x="41275" y="30226"/>
                    </a:cubicBezTo>
                    <a:lnTo>
                      <a:pt x="12065" y="30226"/>
                    </a:lnTo>
                    <a:cubicBezTo>
                      <a:pt x="8001" y="30226"/>
                      <a:pt x="4826" y="27051"/>
                      <a:pt x="4826" y="23241"/>
                    </a:cubicBezTo>
                    <a:lnTo>
                      <a:pt x="4826" y="11684"/>
                    </a:lnTo>
                    <a:close/>
                  </a:path>
                </a:pathLst>
              </a:custGeom>
              <a:solidFill>
                <a:srgbClr val="505050"/>
              </a:solidFill>
            </p:spPr>
          </p:sp>
          <p:sp>
            <p:nvSpPr>
              <p:cNvPr name="Freeform 66" id="66"/>
              <p:cNvSpPr/>
              <p:nvPr/>
            </p:nvSpPr>
            <p:spPr>
              <a:xfrm flipH="false" flipV="false" rot="0">
                <a:off x="144653" y="71374"/>
                <a:ext cx="53213" cy="34925"/>
              </a:xfrm>
              <a:custGeom>
                <a:avLst/>
                <a:gdLst/>
                <a:ahLst/>
                <a:cxnLst/>
                <a:rect r="r" b="b" t="t" l="l"/>
                <a:pathLst>
                  <a:path h="34925" w="53213">
                    <a:moveTo>
                      <a:pt x="12065" y="34925"/>
                    </a:moveTo>
                    <a:lnTo>
                      <a:pt x="41148" y="34925"/>
                    </a:lnTo>
                    <a:cubicBezTo>
                      <a:pt x="47752" y="34925"/>
                      <a:pt x="53213" y="29718"/>
                      <a:pt x="53213" y="23241"/>
                    </a:cubicBezTo>
                    <a:lnTo>
                      <a:pt x="53213" y="11684"/>
                    </a:lnTo>
                    <a:cubicBezTo>
                      <a:pt x="53213" y="5207"/>
                      <a:pt x="47752" y="0"/>
                      <a:pt x="41148" y="0"/>
                    </a:cubicBezTo>
                    <a:lnTo>
                      <a:pt x="12065" y="0"/>
                    </a:lnTo>
                    <a:cubicBezTo>
                      <a:pt x="5461" y="0"/>
                      <a:pt x="0" y="5207"/>
                      <a:pt x="0" y="11684"/>
                    </a:cubicBezTo>
                    <a:lnTo>
                      <a:pt x="0" y="23241"/>
                    </a:lnTo>
                    <a:cubicBezTo>
                      <a:pt x="0" y="29718"/>
                      <a:pt x="5461" y="34925"/>
                      <a:pt x="12065" y="34925"/>
                    </a:cubicBezTo>
                    <a:close/>
                    <a:moveTo>
                      <a:pt x="4826" y="11684"/>
                    </a:moveTo>
                    <a:cubicBezTo>
                      <a:pt x="4826" y="7747"/>
                      <a:pt x="8128" y="4699"/>
                      <a:pt x="12065" y="4699"/>
                    </a:cubicBezTo>
                    <a:lnTo>
                      <a:pt x="41148" y="4699"/>
                    </a:lnTo>
                    <a:cubicBezTo>
                      <a:pt x="45212" y="4699"/>
                      <a:pt x="48387" y="7874"/>
                      <a:pt x="48387" y="11684"/>
                    </a:cubicBezTo>
                    <a:lnTo>
                      <a:pt x="48387" y="23241"/>
                    </a:lnTo>
                    <a:cubicBezTo>
                      <a:pt x="48387" y="27178"/>
                      <a:pt x="45085" y="30226"/>
                      <a:pt x="41148" y="30226"/>
                    </a:cubicBezTo>
                    <a:lnTo>
                      <a:pt x="12065" y="30226"/>
                    </a:lnTo>
                    <a:cubicBezTo>
                      <a:pt x="8001" y="30226"/>
                      <a:pt x="4826" y="27051"/>
                      <a:pt x="4826" y="23241"/>
                    </a:cubicBezTo>
                    <a:lnTo>
                      <a:pt x="4826" y="11684"/>
                    </a:lnTo>
                    <a:close/>
                  </a:path>
                </a:pathLst>
              </a:custGeom>
              <a:solidFill>
                <a:srgbClr val="505050"/>
              </a:solidFill>
            </p:spPr>
          </p:sp>
        </p:grpSp>
        <p:sp>
          <p:nvSpPr>
            <p:cNvPr name="TextBox 67" id="67"/>
            <p:cNvSpPr txBox="true"/>
            <p:nvPr/>
          </p:nvSpPr>
          <p:spPr>
            <a:xfrm rot="0">
              <a:off x="2066107" y="125793"/>
              <a:ext cx="862539" cy="265043"/>
            </a:xfrm>
            <a:prstGeom prst="rect">
              <a:avLst/>
            </a:prstGeom>
          </p:spPr>
          <p:txBody>
            <a:bodyPr anchor="t" rtlCol="false" tIns="0" lIns="0" bIns="0" rIns="0">
              <a:spAutoFit/>
            </a:bodyPr>
            <a:lstStyle/>
            <a:p>
              <a:pPr algn="l">
                <a:lnSpc>
                  <a:spcPts val="1512"/>
                </a:lnSpc>
              </a:pPr>
              <a:r>
                <a:rPr lang="en-US" b="true" sz="1080">
                  <a:solidFill>
                    <a:srgbClr val="CC0000"/>
                  </a:solidFill>
                  <a:latin typeface="Avenir Ultra-Bold"/>
                  <a:ea typeface="Avenir Ultra-Bold"/>
                  <a:cs typeface="Avenir Ultra-Bold"/>
                  <a:sym typeface="Avenir Ultra-Bold"/>
                </a:rPr>
                <a:t>Size </a:t>
              </a:r>
              <a:r>
                <a:rPr lang="en-US" b="true" sz="1080">
                  <a:solidFill>
                    <a:srgbClr val="CC0000"/>
                  </a:solidFill>
                  <a:latin typeface="Avenir Ultra-Bold"/>
                  <a:ea typeface="Avenir Ultra-Bold"/>
                  <a:cs typeface="Avenir Ultra-Bold"/>
                  <a:sym typeface="Avenir Ultra-Bold"/>
                </a:rPr>
                <a:t>m²</a:t>
              </a:r>
            </a:p>
          </p:txBody>
        </p:sp>
        <p:sp>
          <p:nvSpPr>
            <p:cNvPr name="TextBox 68" id="68"/>
            <p:cNvSpPr txBox="true"/>
            <p:nvPr/>
          </p:nvSpPr>
          <p:spPr>
            <a:xfrm rot="0">
              <a:off x="3597601" y="125793"/>
              <a:ext cx="1369273" cy="265043"/>
            </a:xfrm>
            <a:prstGeom prst="rect">
              <a:avLst/>
            </a:prstGeom>
          </p:spPr>
          <p:txBody>
            <a:bodyPr anchor="t" rtlCol="false" tIns="0" lIns="0" bIns="0" rIns="0">
              <a:spAutoFit/>
            </a:bodyPr>
            <a:lstStyle/>
            <a:p>
              <a:pPr algn="l">
                <a:lnSpc>
                  <a:spcPts val="1512"/>
                </a:lnSpc>
              </a:pPr>
              <a:r>
                <a:rPr lang="en-US" b="true" sz="1080">
                  <a:solidFill>
                    <a:srgbClr val="CC0000"/>
                  </a:solidFill>
                  <a:latin typeface="Avenir Ultra-Bold"/>
                  <a:ea typeface="Avenir Ultra-Bold"/>
                  <a:cs typeface="Avenir Ultra-Bold"/>
                  <a:sym typeface="Avenir Ultra-Bold"/>
                </a:rPr>
                <a:t>King / Twin</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611498" y="7782647"/>
            <a:ext cx="9258300" cy="0"/>
          </a:xfrm>
          <a:prstGeom prst="line">
            <a:avLst/>
          </a:prstGeom>
          <a:ln cap="flat" w="38100">
            <a:solidFill>
              <a:srgbClr val="131F5B"/>
            </a:solidFill>
            <a:prstDash val="solid"/>
            <a:headEnd type="none" len="sm" w="sm"/>
            <a:tailEnd type="none" len="sm" w="sm"/>
          </a:ln>
        </p:spPr>
      </p:sp>
      <p:grpSp>
        <p:nvGrpSpPr>
          <p:cNvPr name="Group 3" id="3"/>
          <p:cNvGrpSpPr/>
          <p:nvPr/>
        </p:nvGrpSpPr>
        <p:grpSpPr>
          <a:xfrm rot="0">
            <a:off x="886480" y="2493717"/>
            <a:ext cx="8514040" cy="4145401"/>
            <a:chOff x="0" y="0"/>
            <a:chExt cx="24608481" cy="11981624"/>
          </a:xfrm>
        </p:grpSpPr>
        <p:sp>
          <p:nvSpPr>
            <p:cNvPr name="Freeform 4" id="4"/>
            <p:cNvSpPr/>
            <p:nvPr/>
          </p:nvSpPr>
          <p:spPr>
            <a:xfrm flipH="false" flipV="false" rot="0">
              <a:off x="0" y="0"/>
              <a:ext cx="24608481" cy="11981624"/>
            </a:xfrm>
            <a:custGeom>
              <a:avLst/>
              <a:gdLst/>
              <a:ahLst/>
              <a:cxnLst/>
              <a:rect r="r" b="b" t="t" l="l"/>
              <a:pathLst>
                <a:path h="11981624" w="24608481">
                  <a:moveTo>
                    <a:pt x="24608481" y="287329"/>
                  </a:moveTo>
                  <a:lnTo>
                    <a:pt x="24608481" y="11694295"/>
                  </a:lnTo>
                  <a:cubicBezTo>
                    <a:pt x="24608481" y="11853044"/>
                    <a:pt x="24424022" y="11981624"/>
                    <a:pt x="24196280" y="11981624"/>
                  </a:cubicBezTo>
                  <a:lnTo>
                    <a:pt x="412202" y="11981624"/>
                  </a:lnTo>
                  <a:cubicBezTo>
                    <a:pt x="184461" y="11981624"/>
                    <a:pt x="0" y="11853044"/>
                    <a:pt x="0" y="11694295"/>
                  </a:cubicBezTo>
                  <a:lnTo>
                    <a:pt x="0" y="287329"/>
                  </a:lnTo>
                  <a:cubicBezTo>
                    <a:pt x="0" y="128580"/>
                    <a:pt x="184461" y="0"/>
                    <a:pt x="412202" y="0"/>
                  </a:cubicBezTo>
                  <a:lnTo>
                    <a:pt x="24196280" y="0"/>
                  </a:lnTo>
                  <a:cubicBezTo>
                    <a:pt x="24424022" y="0"/>
                    <a:pt x="24608481" y="128580"/>
                    <a:pt x="24608481" y="287329"/>
                  </a:cubicBezTo>
                  <a:close/>
                </a:path>
              </a:pathLst>
            </a:custGeom>
            <a:blipFill>
              <a:blip r:embed="rId2"/>
              <a:stretch>
                <a:fillRect l="-24413" t="0" r="13966" b="11599"/>
              </a:stretch>
            </a:blipFill>
          </p:spPr>
        </p:sp>
      </p:grpSp>
      <p:sp>
        <p:nvSpPr>
          <p:cNvPr name="TextBox 5" id="5"/>
          <p:cNvSpPr txBox="true"/>
          <p:nvPr/>
        </p:nvSpPr>
        <p:spPr>
          <a:xfrm rot="0">
            <a:off x="1125848" y="8146395"/>
            <a:ext cx="8229600" cy="613283"/>
          </a:xfrm>
          <a:prstGeom prst="rect">
            <a:avLst/>
          </a:prstGeom>
        </p:spPr>
        <p:txBody>
          <a:bodyPr anchor="t" rtlCol="false" tIns="0" lIns="0" bIns="0" rIns="0">
            <a:spAutoFit/>
          </a:bodyPr>
          <a:lstStyle/>
          <a:p>
            <a:pPr algn="l">
              <a:lnSpc>
                <a:spcPts val="2701"/>
              </a:lnSpc>
            </a:pPr>
            <a:r>
              <a:rPr lang="en-US" sz="1929" spc="192" b="true">
                <a:solidFill>
                  <a:srgbClr val="CC0000"/>
                </a:solidFill>
                <a:latin typeface="Montserrat Bold"/>
                <a:ea typeface="Montserrat Bold"/>
                <a:cs typeface="Montserrat Bold"/>
                <a:sym typeface="Montserrat Bold"/>
              </a:rPr>
              <a:t>Accommodation Name</a:t>
            </a:r>
          </a:p>
          <a:p>
            <a:pPr algn="l">
              <a:lnSpc>
                <a:spcPts val="2142"/>
              </a:lnSpc>
              <a:spcBef>
                <a:spcPct val="0"/>
              </a:spcBef>
            </a:pPr>
            <a:r>
              <a:rPr lang="en-US" sz="1530" spc="153">
                <a:solidFill>
                  <a:srgbClr val="CC0000"/>
                </a:solidFill>
                <a:latin typeface="Montserrat"/>
                <a:ea typeface="Montserrat"/>
                <a:cs typeface="Montserrat"/>
                <a:sym typeface="Montserrat"/>
              </a:rPr>
              <a:t>Location</a:t>
            </a:r>
          </a:p>
        </p:txBody>
      </p:sp>
      <p:sp>
        <p:nvSpPr>
          <p:cNvPr name="TextBox 6" id="6"/>
          <p:cNvSpPr txBox="true"/>
          <p:nvPr/>
        </p:nvSpPr>
        <p:spPr>
          <a:xfrm rot="0">
            <a:off x="1125848" y="9113901"/>
            <a:ext cx="8229600" cy="2666347"/>
          </a:xfrm>
          <a:prstGeom prst="rect">
            <a:avLst/>
          </a:prstGeom>
        </p:spPr>
        <p:txBody>
          <a:bodyPr anchor="t" rtlCol="false" tIns="0" lIns="0" bIns="0" rIns="0">
            <a:spAutoFit/>
          </a:bodyPr>
          <a:lstStyle/>
          <a:p>
            <a:pPr algn="l">
              <a:lnSpc>
                <a:spcPts val="2136"/>
              </a:lnSpc>
            </a:pPr>
            <a:r>
              <a:rPr lang="en-US" b="true" sz="1525" spc="96">
                <a:solidFill>
                  <a:srgbClr val="131F5B"/>
                </a:solidFill>
                <a:latin typeface="Montserrat Bold"/>
                <a:ea typeface="Montserrat Bold"/>
                <a:cs typeface="Montserrat Bold"/>
                <a:sym typeface="Montserrat Bold"/>
              </a:rPr>
              <a:t>Area Overview</a:t>
            </a:r>
          </a:p>
          <a:p>
            <a:pPr algn="l">
              <a:lnSpc>
                <a:spcPts val="2136"/>
              </a:lnSpc>
            </a:pPr>
          </a:p>
          <a:p>
            <a:pPr algn="l">
              <a:lnSpc>
                <a:spcPts val="2136"/>
              </a:lnSpc>
            </a:pPr>
            <a:r>
              <a:rPr lang="en-US" sz="1525" spc="96">
                <a:solidFill>
                  <a:srgbClr val="CC0000"/>
                </a:solidFill>
                <a:latin typeface="Montserrat"/>
                <a:ea typeface="Montserrat"/>
                <a:cs typeface="Montserrat"/>
                <a:sym typeface="Montserrat"/>
              </a:rPr>
              <a:t>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 sample text</a:t>
            </a:r>
          </a:p>
          <a:p>
            <a:pPr algn="l">
              <a:lnSpc>
                <a:spcPts val="2136"/>
              </a:lnSpc>
            </a:pPr>
          </a:p>
          <a:p>
            <a:pPr algn="l">
              <a:lnSpc>
                <a:spcPts val="2136"/>
              </a:lnSpc>
            </a:pPr>
          </a:p>
        </p:txBody>
      </p:sp>
      <p:sp>
        <p:nvSpPr>
          <p:cNvPr name="TextBox 7" id="7"/>
          <p:cNvSpPr txBox="true"/>
          <p:nvPr/>
        </p:nvSpPr>
        <p:spPr>
          <a:xfrm rot="0">
            <a:off x="4606640" y="6982018"/>
            <a:ext cx="1268016" cy="389256"/>
          </a:xfrm>
          <a:prstGeom prst="rect">
            <a:avLst/>
          </a:prstGeom>
        </p:spPr>
        <p:txBody>
          <a:bodyPr anchor="t" rtlCol="false" tIns="0" lIns="0" bIns="0" rIns="0">
            <a:spAutoFit/>
          </a:bodyPr>
          <a:lstStyle/>
          <a:p>
            <a:pPr algn="ctr" marL="0" indent="0" lvl="1">
              <a:lnSpc>
                <a:spcPts val="3219"/>
              </a:lnSpc>
              <a:spcBef>
                <a:spcPct val="0"/>
              </a:spcBef>
            </a:pPr>
            <a:r>
              <a:rPr lang="en-US" b="true" sz="2299" spc="839">
                <a:solidFill>
                  <a:srgbClr val="131F5B"/>
                </a:solidFill>
                <a:latin typeface="Montserrat Bold"/>
                <a:ea typeface="Montserrat Bold"/>
                <a:cs typeface="Montserrat Bold"/>
                <a:sym typeface="Montserrat Bold"/>
              </a:rPr>
              <a:t>DATE</a:t>
            </a:r>
          </a:p>
        </p:txBody>
      </p:sp>
      <p:sp>
        <p:nvSpPr>
          <p:cNvPr name="TextBox 8" id="8"/>
          <p:cNvSpPr txBox="true"/>
          <p:nvPr/>
        </p:nvSpPr>
        <p:spPr>
          <a:xfrm rot="0">
            <a:off x="983096" y="868428"/>
            <a:ext cx="8229600" cy="546609"/>
          </a:xfrm>
          <a:prstGeom prst="rect">
            <a:avLst/>
          </a:prstGeom>
        </p:spPr>
        <p:txBody>
          <a:bodyPr anchor="t" rtlCol="false" tIns="0" lIns="0" bIns="0" rIns="0">
            <a:spAutoFit/>
          </a:bodyPr>
          <a:lstStyle/>
          <a:p>
            <a:pPr algn="ctr" marL="0" indent="0" lvl="1">
              <a:lnSpc>
                <a:spcPts val="4521"/>
              </a:lnSpc>
              <a:spcBef>
                <a:spcPct val="0"/>
              </a:spcBef>
            </a:pPr>
            <a:r>
              <a:rPr lang="en-US" b="true" sz="3229" spc="1178">
                <a:solidFill>
                  <a:srgbClr val="131F5B"/>
                </a:solidFill>
                <a:latin typeface="Montserrat Bold"/>
                <a:ea typeface="Montserrat Bold"/>
                <a:cs typeface="Montserrat Bold"/>
                <a:sym typeface="Montserrat Bold"/>
              </a:rPr>
              <a:t>YOUR ACCOMMODATION</a:t>
            </a:r>
          </a:p>
        </p:txBody>
      </p:sp>
      <p:sp>
        <p:nvSpPr>
          <p:cNvPr name="AutoShape 9" id="9"/>
          <p:cNvSpPr/>
          <p:nvPr/>
        </p:nvSpPr>
        <p:spPr>
          <a:xfrm flipH="true">
            <a:off x="568244" y="1536535"/>
            <a:ext cx="9258300" cy="0"/>
          </a:xfrm>
          <a:prstGeom prst="line">
            <a:avLst/>
          </a:prstGeom>
          <a:ln cap="flat" w="38100">
            <a:solidFill>
              <a:srgbClr val="131F5B"/>
            </a:solidFill>
            <a:prstDash val="solid"/>
            <a:headEnd type="none" len="sm" w="sm"/>
            <a:tailEnd type="none" len="sm" w="sm"/>
          </a:ln>
        </p:spPr>
      </p:sp>
      <p:sp>
        <p:nvSpPr>
          <p:cNvPr name="TextBox 10" id="10"/>
          <p:cNvSpPr txBox="true"/>
          <p:nvPr/>
        </p:nvSpPr>
        <p:spPr>
          <a:xfrm rot="0">
            <a:off x="3269869" y="1707985"/>
            <a:ext cx="3629025" cy="389256"/>
          </a:xfrm>
          <a:prstGeom prst="rect">
            <a:avLst/>
          </a:prstGeom>
        </p:spPr>
        <p:txBody>
          <a:bodyPr anchor="t" rtlCol="false" tIns="0" lIns="0" bIns="0" rIns="0">
            <a:spAutoFit/>
          </a:bodyPr>
          <a:lstStyle/>
          <a:p>
            <a:pPr algn="ctr">
              <a:lnSpc>
                <a:spcPts val="3219"/>
              </a:lnSpc>
              <a:spcBef>
                <a:spcPct val="0"/>
              </a:spcBef>
            </a:pPr>
            <a:r>
              <a:rPr lang="en-US" b="true" sz="2299" spc="839">
                <a:solidFill>
                  <a:srgbClr val="CC0000"/>
                </a:solidFill>
                <a:latin typeface="Montserrat Bold"/>
                <a:ea typeface="Montserrat Bold"/>
                <a:cs typeface="Montserrat Bold"/>
                <a:sym typeface="Montserrat Bold"/>
              </a:rPr>
              <a:t>HOTEL NAME C</a:t>
            </a:r>
          </a:p>
        </p:txBody>
      </p:sp>
      <p:sp>
        <p:nvSpPr>
          <p:cNvPr name="AutoShape 11" id="11"/>
          <p:cNvSpPr/>
          <p:nvPr/>
        </p:nvSpPr>
        <p:spPr>
          <a:xfrm flipH="true">
            <a:off x="617837" y="16944085"/>
            <a:ext cx="9258300" cy="0"/>
          </a:xfrm>
          <a:prstGeom prst="line">
            <a:avLst/>
          </a:prstGeom>
          <a:ln cap="flat" w="38100">
            <a:solidFill>
              <a:srgbClr val="131F5B"/>
            </a:solidFill>
            <a:prstDash val="solid"/>
            <a:headEnd type="none" len="sm" w="sm"/>
            <a:tailEnd type="none" len="sm" w="sm"/>
          </a:ln>
        </p:spPr>
      </p:sp>
      <p:sp>
        <p:nvSpPr>
          <p:cNvPr name="Freeform 12" id="12"/>
          <p:cNvSpPr/>
          <p:nvPr/>
        </p:nvSpPr>
        <p:spPr>
          <a:xfrm flipH="false" flipV="false" rot="0">
            <a:off x="4156808" y="16565541"/>
            <a:ext cx="1973384" cy="1973384"/>
          </a:xfrm>
          <a:custGeom>
            <a:avLst/>
            <a:gdLst/>
            <a:ahLst/>
            <a:cxnLst/>
            <a:rect r="r" b="b" t="t" l="l"/>
            <a:pathLst>
              <a:path h="1973384" w="1973384">
                <a:moveTo>
                  <a:pt x="0" y="0"/>
                </a:moveTo>
                <a:lnTo>
                  <a:pt x="1973384" y="0"/>
                </a:lnTo>
                <a:lnTo>
                  <a:pt x="1973384" y="1973383"/>
                </a:lnTo>
                <a:lnTo>
                  <a:pt x="0" y="1973383"/>
                </a:lnTo>
                <a:lnTo>
                  <a:pt x="0" y="0"/>
                </a:lnTo>
                <a:close/>
              </a:path>
            </a:pathLst>
          </a:custGeom>
          <a:blipFill>
            <a:blip r:embed="rId3"/>
            <a:stretch>
              <a:fillRect l="0" t="0" r="0" b="0"/>
            </a:stretch>
          </a:blipFill>
        </p:spPr>
      </p:sp>
      <p:grpSp>
        <p:nvGrpSpPr>
          <p:cNvPr name="Group 13" id="13"/>
          <p:cNvGrpSpPr/>
          <p:nvPr/>
        </p:nvGrpSpPr>
        <p:grpSpPr>
          <a:xfrm rot="0">
            <a:off x="1703178" y="12713698"/>
            <a:ext cx="6880644" cy="3186160"/>
            <a:chOff x="0" y="0"/>
            <a:chExt cx="9174192" cy="4248214"/>
          </a:xfrm>
        </p:grpSpPr>
        <p:sp>
          <p:nvSpPr>
            <p:cNvPr name="TextBox 14" id="14"/>
            <p:cNvSpPr txBox="true"/>
            <p:nvPr/>
          </p:nvSpPr>
          <p:spPr>
            <a:xfrm rot="0">
              <a:off x="1596456" y="-66675"/>
              <a:ext cx="5981280" cy="793782"/>
            </a:xfrm>
            <a:prstGeom prst="rect">
              <a:avLst/>
            </a:prstGeom>
          </p:spPr>
          <p:txBody>
            <a:bodyPr anchor="t" rtlCol="false" tIns="0" lIns="0" bIns="0" rIns="0">
              <a:spAutoFit/>
            </a:bodyPr>
            <a:lstStyle/>
            <a:p>
              <a:pPr algn="ctr">
                <a:lnSpc>
                  <a:spcPts val="2486"/>
                </a:lnSpc>
              </a:pPr>
              <a:r>
                <a:rPr lang="en-US" b="true" sz="1525" spc="96">
                  <a:solidFill>
                    <a:srgbClr val="131F5B"/>
                  </a:solidFill>
                  <a:latin typeface="Montserrat Bold"/>
                  <a:ea typeface="Montserrat Bold"/>
                  <a:cs typeface="Montserrat Bold"/>
                  <a:sym typeface="Montserrat Bold"/>
                </a:rPr>
                <a:t>ESTIMATED ROOM REQUIREMENT</a:t>
              </a:r>
            </a:p>
            <a:p>
              <a:pPr algn="ctr">
                <a:lnSpc>
                  <a:spcPts val="2486"/>
                </a:lnSpc>
              </a:pPr>
              <a:r>
                <a:rPr lang="en-US" sz="1525" spc="96">
                  <a:solidFill>
                    <a:srgbClr val="CC0000"/>
                  </a:solidFill>
                  <a:latin typeface="Montserrat"/>
                  <a:ea typeface="Montserrat"/>
                  <a:cs typeface="Montserrat"/>
                  <a:sym typeface="Montserrat"/>
                </a:rPr>
                <a:t>ROOM CATEGORY &amp; QUANTITY</a:t>
              </a:r>
            </a:p>
          </p:txBody>
        </p:sp>
        <p:sp>
          <p:nvSpPr>
            <p:cNvPr name="TextBox 15" id="15"/>
            <p:cNvSpPr txBox="true"/>
            <p:nvPr/>
          </p:nvSpPr>
          <p:spPr>
            <a:xfrm rot="0">
              <a:off x="2279364" y="1484328"/>
              <a:ext cx="4615464" cy="793782"/>
            </a:xfrm>
            <a:prstGeom prst="rect">
              <a:avLst/>
            </a:prstGeom>
          </p:spPr>
          <p:txBody>
            <a:bodyPr anchor="t" rtlCol="false" tIns="0" lIns="0" bIns="0" rIns="0">
              <a:spAutoFit/>
            </a:bodyPr>
            <a:lstStyle/>
            <a:p>
              <a:pPr algn="ctr">
                <a:lnSpc>
                  <a:spcPts val="2486"/>
                </a:lnSpc>
                <a:spcBef>
                  <a:spcPct val="0"/>
                </a:spcBef>
              </a:pPr>
              <a:r>
                <a:rPr lang="en-US" b="true" sz="1525" spc="96">
                  <a:solidFill>
                    <a:srgbClr val="131F5B"/>
                  </a:solidFill>
                  <a:latin typeface="Montserrat Bold"/>
                  <a:ea typeface="Montserrat Bold"/>
                  <a:cs typeface="Montserrat Bold"/>
                  <a:sym typeface="Montserrat Bold"/>
                </a:rPr>
                <a:t>HOTEL HIGHLIGHTS</a:t>
              </a:r>
            </a:p>
            <a:p>
              <a:pPr algn="ctr">
                <a:lnSpc>
                  <a:spcPts val="2486"/>
                </a:lnSpc>
                <a:spcBef>
                  <a:spcPct val="0"/>
                </a:spcBef>
              </a:pPr>
              <a:r>
                <a:rPr lang="en-US" sz="1525" spc="96" u="sng">
                  <a:solidFill>
                    <a:srgbClr val="CC0000"/>
                  </a:solidFill>
                  <a:latin typeface="Montserrat"/>
                  <a:ea typeface="Montserrat"/>
                  <a:cs typeface="Montserrat"/>
                  <a:sym typeface="Montserrat"/>
                  <a:hlinkClick r:id="rId4" tooltip="https://app.littleemperors.com/ile/travel"/>
                </a:rPr>
                <a:t>Details from Little Emperor</a:t>
              </a:r>
            </a:p>
          </p:txBody>
        </p:sp>
        <p:sp>
          <p:nvSpPr>
            <p:cNvPr name="TextBox 16" id="16"/>
            <p:cNvSpPr txBox="true"/>
            <p:nvPr/>
          </p:nvSpPr>
          <p:spPr>
            <a:xfrm rot="0">
              <a:off x="0" y="3035332"/>
              <a:ext cx="9174192" cy="1212882"/>
            </a:xfrm>
            <a:prstGeom prst="rect">
              <a:avLst/>
            </a:prstGeom>
          </p:spPr>
          <p:txBody>
            <a:bodyPr anchor="t" rtlCol="false" tIns="0" lIns="0" bIns="0" rIns="0">
              <a:spAutoFit/>
            </a:bodyPr>
            <a:lstStyle/>
            <a:p>
              <a:pPr algn="ctr" marL="0" indent="0" lvl="0">
                <a:lnSpc>
                  <a:spcPts val="2486"/>
                </a:lnSpc>
                <a:spcBef>
                  <a:spcPct val="0"/>
                </a:spcBef>
              </a:pPr>
              <a:r>
                <a:rPr lang="en-US" b="true" sz="1525" spc="96" strike="noStrike" u="none">
                  <a:solidFill>
                    <a:srgbClr val="131F5B"/>
                  </a:solidFill>
                  <a:latin typeface="Montserrat Bold"/>
                  <a:ea typeface="Montserrat Bold"/>
                  <a:cs typeface="Montserrat Bold"/>
                  <a:sym typeface="Montserrat Bold"/>
                </a:rPr>
                <a:t>HOTEL BENEFITS</a:t>
              </a:r>
            </a:p>
            <a:p>
              <a:pPr algn="ctr" marL="0" indent="0" lvl="0">
                <a:lnSpc>
                  <a:spcPts val="2486"/>
                </a:lnSpc>
                <a:spcBef>
                  <a:spcPct val="0"/>
                </a:spcBef>
              </a:pPr>
              <a:r>
                <a:rPr lang="en-US" sz="1525" spc="96" strike="noStrike" u="sng">
                  <a:solidFill>
                    <a:srgbClr val="CC0000"/>
                  </a:solidFill>
                  <a:latin typeface="Montserrat"/>
                  <a:ea typeface="Montserrat"/>
                  <a:cs typeface="Montserrat"/>
                  <a:sym typeface="Montserrat"/>
                  <a:hlinkClick r:id="rId5" tooltip="https://app.littleemperors.com/ile/travel"/>
                </a:rPr>
                <a:t>DETAILS FROM LITTLE EMPEROR</a:t>
              </a:r>
              <a:r>
                <a:rPr lang="en-US" sz="1525" spc="96" strike="noStrike" u="sng">
                  <a:solidFill>
                    <a:srgbClr val="CC0000"/>
                  </a:solidFill>
                  <a:latin typeface="Montserrat"/>
                  <a:ea typeface="Montserrat"/>
                  <a:cs typeface="Montserrat"/>
                  <a:sym typeface="Montserrat"/>
                  <a:hlinkClick r:id="rId6" tooltip="https://app.littleemperors.com/ile/travel"/>
                </a:rPr>
                <a:t> </a:t>
              </a:r>
            </a:p>
            <a:p>
              <a:pPr algn="ctr" marL="0" indent="0" lvl="0">
                <a:lnSpc>
                  <a:spcPts val="2486"/>
                </a:lnSpc>
                <a:spcBef>
                  <a:spcPct val="0"/>
                </a:spcBef>
              </a:pPr>
              <a:r>
                <a:rPr lang="en-US" sz="1525" spc="96" strike="noStrike" u="sng">
                  <a:solidFill>
                    <a:srgbClr val="CC0000"/>
                  </a:solidFill>
                  <a:latin typeface="Montserrat"/>
                  <a:ea typeface="Montserrat"/>
                  <a:cs typeface="Montserrat"/>
                  <a:sym typeface="Montserrat"/>
                </a:rPr>
                <a:t>upon choosing room category</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83096" y="868428"/>
            <a:ext cx="8229600" cy="546609"/>
          </a:xfrm>
          <a:prstGeom prst="rect">
            <a:avLst/>
          </a:prstGeom>
        </p:spPr>
        <p:txBody>
          <a:bodyPr anchor="t" rtlCol="false" tIns="0" lIns="0" bIns="0" rIns="0">
            <a:spAutoFit/>
          </a:bodyPr>
          <a:lstStyle/>
          <a:p>
            <a:pPr algn="ctr" marL="0" indent="0" lvl="1">
              <a:lnSpc>
                <a:spcPts val="4521"/>
              </a:lnSpc>
              <a:spcBef>
                <a:spcPct val="0"/>
              </a:spcBef>
            </a:pPr>
            <a:r>
              <a:rPr lang="en-US" b="true" sz="3229" spc="1178">
                <a:solidFill>
                  <a:srgbClr val="131F5B"/>
                </a:solidFill>
                <a:latin typeface="Montserrat Bold"/>
                <a:ea typeface="Montserrat Bold"/>
                <a:cs typeface="Montserrat Bold"/>
                <a:sym typeface="Montserrat Bold"/>
              </a:rPr>
              <a:t>YOUR ACCOMMODATION</a:t>
            </a:r>
          </a:p>
        </p:txBody>
      </p:sp>
      <p:sp>
        <p:nvSpPr>
          <p:cNvPr name="AutoShape 3" id="3"/>
          <p:cNvSpPr/>
          <p:nvPr/>
        </p:nvSpPr>
        <p:spPr>
          <a:xfrm flipH="true">
            <a:off x="568244" y="1536535"/>
            <a:ext cx="9258300" cy="0"/>
          </a:xfrm>
          <a:prstGeom prst="line">
            <a:avLst/>
          </a:prstGeom>
          <a:ln cap="flat" w="38100">
            <a:solidFill>
              <a:srgbClr val="131F5B"/>
            </a:solidFill>
            <a:prstDash val="solid"/>
            <a:headEnd type="none" len="sm" w="sm"/>
            <a:tailEnd type="none" len="sm" w="sm"/>
          </a:ln>
        </p:spPr>
      </p:sp>
      <p:sp>
        <p:nvSpPr>
          <p:cNvPr name="TextBox 4" id="4"/>
          <p:cNvSpPr txBox="true"/>
          <p:nvPr/>
        </p:nvSpPr>
        <p:spPr>
          <a:xfrm rot="0">
            <a:off x="3269869" y="1707985"/>
            <a:ext cx="3629025" cy="389256"/>
          </a:xfrm>
          <a:prstGeom prst="rect">
            <a:avLst/>
          </a:prstGeom>
        </p:spPr>
        <p:txBody>
          <a:bodyPr anchor="t" rtlCol="false" tIns="0" lIns="0" bIns="0" rIns="0">
            <a:spAutoFit/>
          </a:bodyPr>
          <a:lstStyle/>
          <a:p>
            <a:pPr algn="ctr">
              <a:lnSpc>
                <a:spcPts val="3219"/>
              </a:lnSpc>
              <a:spcBef>
                <a:spcPct val="0"/>
              </a:spcBef>
            </a:pPr>
            <a:r>
              <a:rPr lang="en-US" b="true" sz="2299" spc="839">
                <a:solidFill>
                  <a:srgbClr val="CC0000"/>
                </a:solidFill>
                <a:latin typeface="Montserrat Bold"/>
                <a:ea typeface="Montserrat Bold"/>
                <a:cs typeface="Montserrat Bold"/>
                <a:sym typeface="Montserrat Bold"/>
              </a:rPr>
              <a:t>HOTEL NAME C</a:t>
            </a:r>
          </a:p>
        </p:txBody>
      </p:sp>
      <p:sp>
        <p:nvSpPr>
          <p:cNvPr name="Freeform 5" id="5"/>
          <p:cNvSpPr/>
          <p:nvPr/>
        </p:nvSpPr>
        <p:spPr>
          <a:xfrm flipH="false" flipV="false" rot="0">
            <a:off x="8809372" y="2775213"/>
            <a:ext cx="756397" cy="756397"/>
          </a:xfrm>
          <a:custGeom>
            <a:avLst/>
            <a:gdLst/>
            <a:ahLst/>
            <a:cxnLst/>
            <a:rect r="r" b="b" t="t" l="l"/>
            <a:pathLst>
              <a:path h="756397" w="756397">
                <a:moveTo>
                  <a:pt x="0" y="0"/>
                </a:moveTo>
                <a:lnTo>
                  <a:pt x="756397" y="0"/>
                </a:lnTo>
                <a:lnTo>
                  <a:pt x="756397" y="756397"/>
                </a:lnTo>
                <a:lnTo>
                  <a:pt x="0" y="756397"/>
                </a:lnTo>
                <a:lnTo>
                  <a:pt x="0" y="0"/>
                </a:lnTo>
                <a:close/>
              </a:path>
            </a:pathLst>
          </a:custGeom>
          <a:blipFill>
            <a:blip r:embed="rId2"/>
            <a:stretch>
              <a:fillRect l="0" t="0" r="0" b="0"/>
            </a:stretch>
          </a:blipFill>
        </p:spPr>
      </p:sp>
      <p:grpSp>
        <p:nvGrpSpPr>
          <p:cNvPr name="Group 6" id="6"/>
          <p:cNvGrpSpPr>
            <a:grpSpLocks noChangeAspect="true"/>
          </p:cNvGrpSpPr>
          <p:nvPr/>
        </p:nvGrpSpPr>
        <p:grpSpPr>
          <a:xfrm rot="0">
            <a:off x="6" y="3790045"/>
            <a:ext cx="10287000" cy="6303"/>
            <a:chOff x="0" y="0"/>
            <a:chExt cx="7772400" cy="4762"/>
          </a:xfrm>
        </p:grpSpPr>
        <p:sp>
          <p:nvSpPr>
            <p:cNvPr name="Freeform 7" id="7"/>
            <p:cNvSpPr/>
            <p:nvPr/>
          </p:nvSpPr>
          <p:spPr>
            <a:xfrm flipH="false" flipV="false" rot="0">
              <a:off x="0" y="0"/>
              <a:ext cx="7772400" cy="4826"/>
            </a:xfrm>
            <a:custGeom>
              <a:avLst/>
              <a:gdLst/>
              <a:ahLst/>
              <a:cxnLst/>
              <a:rect r="r" b="b" t="t" l="l"/>
              <a:pathLst>
                <a:path h="4826" w="7772400">
                  <a:moveTo>
                    <a:pt x="0" y="0"/>
                  </a:moveTo>
                  <a:lnTo>
                    <a:pt x="7772400" y="0"/>
                  </a:lnTo>
                  <a:lnTo>
                    <a:pt x="7772400" y="4826"/>
                  </a:lnTo>
                  <a:lnTo>
                    <a:pt x="0" y="4826"/>
                  </a:lnTo>
                </a:path>
              </a:pathLst>
            </a:custGeom>
            <a:solidFill>
              <a:srgbClr val="191919"/>
            </a:solidFill>
          </p:spPr>
        </p:sp>
      </p:grpSp>
      <p:sp>
        <p:nvSpPr>
          <p:cNvPr name="TextBox 8" id="8"/>
          <p:cNvSpPr txBox="true"/>
          <p:nvPr/>
        </p:nvSpPr>
        <p:spPr>
          <a:xfrm rot="0">
            <a:off x="385769" y="2777294"/>
            <a:ext cx="933944" cy="213332"/>
          </a:xfrm>
          <a:prstGeom prst="rect">
            <a:avLst/>
          </a:prstGeom>
        </p:spPr>
        <p:txBody>
          <a:bodyPr anchor="t" rtlCol="false" tIns="0" lIns="0" bIns="0" rIns="0">
            <a:spAutoFit/>
          </a:bodyPr>
          <a:lstStyle/>
          <a:p>
            <a:pPr algn="l">
              <a:lnSpc>
                <a:spcPts val="1836"/>
              </a:lnSpc>
            </a:pPr>
            <a:r>
              <a:rPr lang="en-US" b="true" sz="992" i="true">
                <a:solidFill>
                  <a:srgbClr val="000000"/>
                </a:solidFill>
                <a:latin typeface="Montserrat Medium Italics"/>
                <a:ea typeface="Montserrat Medium Italics"/>
                <a:cs typeface="Montserrat Medium Italics"/>
                <a:sym typeface="Montserrat Medium Italics"/>
              </a:rPr>
              <a:t>Check in</a:t>
            </a:r>
          </a:p>
        </p:txBody>
      </p:sp>
      <p:sp>
        <p:nvSpPr>
          <p:cNvPr name="TextBox 9" id="9"/>
          <p:cNvSpPr txBox="true"/>
          <p:nvPr/>
        </p:nvSpPr>
        <p:spPr>
          <a:xfrm rot="0">
            <a:off x="532006" y="3013177"/>
            <a:ext cx="32147" cy="213332"/>
          </a:xfrm>
          <a:prstGeom prst="rect">
            <a:avLst/>
          </a:prstGeom>
        </p:spPr>
        <p:txBody>
          <a:bodyPr anchor="t" rtlCol="false" tIns="0" lIns="0" bIns="0" rIns="0">
            <a:spAutoFit/>
          </a:bodyPr>
          <a:lstStyle/>
          <a:p>
            <a:pPr algn="l">
              <a:lnSpc>
                <a:spcPts val="1836"/>
              </a:lnSpc>
            </a:pPr>
            <a:r>
              <a:rPr lang="en-US" b="true" sz="992">
                <a:solidFill>
                  <a:srgbClr val="505050"/>
                </a:solidFill>
                <a:latin typeface="Montserrat Ultra-Bold"/>
                <a:ea typeface="Montserrat Ultra-Bold"/>
                <a:cs typeface="Montserrat Ultra-Bold"/>
                <a:sym typeface="Montserrat Ultra-Bold"/>
              </a:rPr>
              <a:t> </a:t>
            </a:r>
          </a:p>
        </p:txBody>
      </p:sp>
      <p:sp>
        <p:nvSpPr>
          <p:cNvPr name="TextBox 10" id="10"/>
          <p:cNvSpPr txBox="true"/>
          <p:nvPr/>
        </p:nvSpPr>
        <p:spPr>
          <a:xfrm rot="0">
            <a:off x="2234113" y="2777294"/>
            <a:ext cx="930331" cy="213332"/>
          </a:xfrm>
          <a:prstGeom prst="rect">
            <a:avLst/>
          </a:prstGeom>
        </p:spPr>
        <p:txBody>
          <a:bodyPr anchor="t" rtlCol="false" tIns="0" lIns="0" bIns="0" rIns="0">
            <a:spAutoFit/>
          </a:bodyPr>
          <a:lstStyle/>
          <a:p>
            <a:pPr algn="l">
              <a:lnSpc>
                <a:spcPts val="1836"/>
              </a:lnSpc>
            </a:pPr>
            <a:r>
              <a:rPr lang="en-US" b="true" sz="992" i="true">
                <a:solidFill>
                  <a:srgbClr val="000000"/>
                </a:solidFill>
                <a:latin typeface="Montserrat Medium Italics"/>
                <a:ea typeface="Montserrat Medium Italics"/>
                <a:cs typeface="Montserrat Medium Italics"/>
                <a:sym typeface="Montserrat Medium Italics"/>
              </a:rPr>
              <a:t>Check out</a:t>
            </a:r>
          </a:p>
        </p:txBody>
      </p:sp>
      <p:sp>
        <p:nvSpPr>
          <p:cNvPr name="TextBox 11" id="11"/>
          <p:cNvSpPr txBox="true"/>
          <p:nvPr/>
        </p:nvSpPr>
        <p:spPr>
          <a:xfrm rot="0">
            <a:off x="2380350" y="3013177"/>
            <a:ext cx="32147" cy="213332"/>
          </a:xfrm>
          <a:prstGeom prst="rect">
            <a:avLst/>
          </a:prstGeom>
        </p:spPr>
        <p:txBody>
          <a:bodyPr anchor="t" rtlCol="false" tIns="0" lIns="0" bIns="0" rIns="0">
            <a:spAutoFit/>
          </a:bodyPr>
          <a:lstStyle/>
          <a:p>
            <a:pPr algn="l">
              <a:lnSpc>
                <a:spcPts val="1836"/>
              </a:lnSpc>
            </a:pPr>
            <a:r>
              <a:rPr lang="en-US" b="true" sz="992">
                <a:solidFill>
                  <a:srgbClr val="505050"/>
                </a:solidFill>
                <a:latin typeface="Montserrat Ultra-Bold"/>
                <a:ea typeface="Montserrat Ultra-Bold"/>
                <a:cs typeface="Montserrat Ultra-Bold"/>
                <a:sym typeface="Montserrat Ultra-Bold"/>
              </a:rPr>
              <a:t> </a:t>
            </a:r>
          </a:p>
        </p:txBody>
      </p:sp>
      <p:sp>
        <p:nvSpPr>
          <p:cNvPr name="TextBox 12" id="12"/>
          <p:cNvSpPr txBox="true"/>
          <p:nvPr/>
        </p:nvSpPr>
        <p:spPr>
          <a:xfrm rot="0">
            <a:off x="4082483" y="2777294"/>
            <a:ext cx="685711" cy="213332"/>
          </a:xfrm>
          <a:prstGeom prst="rect">
            <a:avLst/>
          </a:prstGeom>
        </p:spPr>
        <p:txBody>
          <a:bodyPr anchor="t" rtlCol="false" tIns="0" lIns="0" bIns="0" rIns="0">
            <a:spAutoFit/>
          </a:bodyPr>
          <a:lstStyle/>
          <a:p>
            <a:pPr algn="l">
              <a:lnSpc>
                <a:spcPts val="1836"/>
              </a:lnSpc>
            </a:pPr>
            <a:r>
              <a:rPr lang="en-US" sz="992">
                <a:solidFill>
                  <a:srgbClr val="000000"/>
                </a:solidFill>
                <a:latin typeface="Montserrat"/>
                <a:ea typeface="Montserrat"/>
                <a:cs typeface="Montserrat"/>
                <a:sym typeface="Montserrat"/>
              </a:rPr>
              <a:t>Nights </a:t>
            </a:r>
          </a:p>
        </p:txBody>
      </p:sp>
      <p:sp>
        <p:nvSpPr>
          <p:cNvPr name="TextBox 13" id="13"/>
          <p:cNvSpPr txBox="true"/>
          <p:nvPr/>
        </p:nvSpPr>
        <p:spPr>
          <a:xfrm rot="0">
            <a:off x="385769" y="3060802"/>
            <a:ext cx="1178504" cy="165287"/>
          </a:xfrm>
          <a:prstGeom prst="rect">
            <a:avLst/>
          </a:prstGeom>
        </p:spPr>
        <p:txBody>
          <a:bodyPr anchor="t" rtlCol="false" tIns="0" lIns="0" bIns="0" rIns="0">
            <a:spAutoFit/>
          </a:bodyPr>
          <a:lstStyle/>
          <a:p>
            <a:pPr algn="l">
              <a:lnSpc>
                <a:spcPts val="1389"/>
              </a:lnSpc>
            </a:pPr>
            <a:r>
              <a:rPr lang="en-US" sz="992">
                <a:solidFill>
                  <a:srgbClr val="CC0000"/>
                </a:solidFill>
                <a:latin typeface="Montserrat"/>
                <a:ea typeface="Montserrat"/>
                <a:cs typeface="Montserrat"/>
                <a:sym typeface="Montserrat"/>
              </a:rPr>
              <a:t>Date</a:t>
            </a:r>
            <a:r>
              <a:rPr lang="en-US" sz="992">
                <a:solidFill>
                  <a:srgbClr val="CC0000"/>
                </a:solidFill>
                <a:latin typeface="Montserrat"/>
                <a:ea typeface="Montserrat"/>
                <a:cs typeface="Montserrat"/>
                <a:sym typeface="Montserrat"/>
              </a:rPr>
              <a:t> Month Year</a:t>
            </a:r>
          </a:p>
        </p:txBody>
      </p:sp>
      <p:sp>
        <p:nvSpPr>
          <p:cNvPr name="TextBox 14" id="14"/>
          <p:cNvSpPr txBox="true"/>
          <p:nvPr/>
        </p:nvSpPr>
        <p:spPr>
          <a:xfrm rot="0">
            <a:off x="2234113" y="3060802"/>
            <a:ext cx="1158851" cy="165287"/>
          </a:xfrm>
          <a:prstGeom prst="rect">
            <a:avLst/>
          </a:prstGeom>
        </p:spPr>
        <p:txBody>
          <a:bodyPr anchor="t" rtlCol="false" tIns="0" lIns="0" bIns="0" rIns="0">
            <a:spAutoFit/>
          </a:bodyPr>
          <a:lstStyle/>
          <a:p>
            <a:pPr algn="l">
              <a:lnSpc>
                <a:spcPts val="1389"/>
              </a:lnSpc>
            </a:pPr>
            <a:r>
              <a:rPr lang="en-US" sz="992">
                <a:solidFill>
                  <a:srgbClr val="CC0000"/>
                </a:solidFill>
                <a:latin typeface="Montserrat"/>
                <a:ea typeface="Montserrat"/>
                <a:cs typeface="Montserrat"/>
                <a:sym typeface="Montserrat"/>
              </a:rPr>
              <a:t>Date Month Year </a:t>
            </a:r>
          </a:p>
        </p:txBody>
      </p:sp>
      <p:sp>
        <p:nvSpPr>
          <p:cNvPr name="TextBox 15" id="15"/>
          <p:cNvSpPr txBox="true"/>
          <p:nvPr/>
        </p:nvSpPr>
        <p:spPr>
          <a:xfrm rot="0">
            <a:off x="5221302" y="6656095"/>
            <a:ext cx="40291" cy="293736"/>
          </a:xfrm>
          <a:prstGeom prst="rect">
            <a:avLst/>
          </a:prstGeom>
        </p:spPr>
        <p:txBody>
          <a:bodyPr anchor="t" rtlCol="false" tIns="0" lIns="0" bIns="0" rIns="0">
            <a:spAutoFit/>
          </a:bodyPr>
          <a:lstStyle/>
          <a:p>
            <a:pPr algn="l">
              <a:lnSpc>
                <a:spcPts val="2630"/>
              </a:lnSpc>
            </a:pPr>
            <a:r>
              <a:rPr lang="en-US" b="true" sz="1244">
                <a:solidFill>
                  <a:srgbClr val="FFFFFF"/>
                </a:solidFill>
                <a:latin typeface="Montserrat Medium"/>
                <a:ea typeface="Montserrat Medium"/>
                <a:cs typeface="Montserrat Medium"/>
                <a:sym typeface="Montserrat Medium"/>
              </a:rPr>
              <a:t> </a:t>
            </a:r>
          </a:p>
        </p:txBody>
      </p:sp>
      <p:grpSp>
        <p:nvGrpSpPr>
          <p:cNvPr name="Group 16" id="16"/>
          <p:cNvGrpSpPr/>
          <p:nvPr/>
        </p:nvGrpSpPr>
        <p:grpSpPr>
          <a:xfrm rot="0">
            <a:off x="3532346" y="8108016"/>
            <a:ext cx="3222321" cy="1565522"/>
            <a:chOff x="0" y="0"/>
            <a:chExt cx="4296429" cy="2087363"/>
          </a:xfrm>
        </p:grpSpPr>
        <p:sp>
          <p:nvSpPr>
            <p:cNvPr name="TextBox 17" id="17"/>
            <p:cNvSpPr txBox="true"/>
            <p:nvPr/>
          </p:nvSpPr>
          <p:spPr>
            <a:xfrm rot="0">
              <a:off x="470647" y="262380"/>
              <a:ext cx="3050096" cy="1401482"/>
            </a:xfrm>
            <a:prstGeom prst="rect">
              <a:avLst/>
            </a:prstGeom>
          </p:spPr>
          <p:txBody>
            <a:bodyPr anchor="t" rtlCol="false" tIns="0" lIns="0" bIns="0" rIns="0">
              <a:spAutoFit/>
            </a:bodyPr>
            <a:lstStyle/>
            <a:p>
              <a:pPr algn="l">
                <a:lnSpc>
                  <a:spcPts val="2233"/>
                </a:lnSpc>
              </a:pPr>
              <a:r>
                <a:rPr lang="en-US" sz="992">
                  <a:solidFill>
                    <a:srgbClr val="505050"/>
                  </a:solidFill>
                  <a:latin typeface="Montserrat"/>
                  <a:ea typeface="Montserrat"/>
                  <a:cs typeface="Montserrat"/>
                  <a:sym typeface="Montserrat"/>
                </a:rPr>
                <a:t>Complimentary breakfast $100 hotel credit per stay Priority upgrade at check-in* </a:t>
              </a:r>
            </a:p>
            <a:p>
              <a:pPr algn="l">
                <a:lnSpc>
                  <a:spcPts val="2233"/>
                </a:lnSpc>
              </a:pPr>
              <a:r>
                <a:rPr lang="en-US" sz="992">
                  <a:solidFill>
                    <a:srgbClr val="505050"/>
                  </a:solidFill>
                  <a:latin typeface="Montserrat"/>
                  <a:ea typeface="Montserrat"/>
                  <a:cs typeface="Montserrat"/>
                  <a:sym typeface="Montserrat"/>
                </a:rPr>
                <a:t>Early check in/late check out*</a:t>
              </a:r>
            </a:p>
          </p:txBody>
        </p:sp>
        <p:sp>
          <p:nvSpPr>
            <p:cNvPr name="TextBox 18" id="18"/>
            <p:cNvSpPr txBox="true"/>
            <p:nvPr/>
          </p:nvSpPr>
          <p:spPr>
            <a:xfrm rot="0">
              <a:off x="0" y="-19050"/>
              <a:ext cx="4296429" cy="224939"/>
            </a:xfrm>
            <a:prstGeom prst="rect">
              <a:avLst/>
            </a:prstGeom>
          </p:spPr>
          <p:txBody>
            <a:bodyPr anchor="t" rtlCol="false" tIns="0" lIns="0" bIns="0" rIns="0">
              <a:spAutoFit/>
            </a:bodyPr>
            <a:lstStyle/>
            <a:p>
              <a:pPr algn="l">
                <a:lnSpc>
                  <a:spcPts val="1463"/>
                </a:lnSpc>
              </a:pPr>
              <a:r>
                <a:rPr lang="en-US" b="true" sz="1045" i="true">
                  <a:solidFill>
                    <a:srgbClr val="191919"/>
                  </a:solidFill>
                  <a:latin typeface="Montserrat Medium Italics"/>
                  <a:ea typeface="Montserrat Medium Italics"/>
                  <a:cs typeface="Montserrat Medium Italics"/>
                  <a:sym typeface="Montserrat Medium Italics"/>
                </a:rPr>
                <a:t>All rates below include the following Benefits:</a:t>
              </a:r>
            </a:p>
          </p:txBody>
        </p:sp>
        <p:sp>
          <p:nvSpPr>
            <p:cNvPr name="TextBox 19" id="19"/>
            <p:cNvSpPr txBox="true"/>
            <p:nvPr/>
          </p:nvSpPr>
          <p:spPr>
            <a:xfrm rot="0">
              <a:off x="0" y="1895593"/>
              <a:ext cx="3916608" cy="191770"/>
            </a:xfrm>
            <a:prstGeom prst="rect">
              <a:avLst/>
            </a:prstGeom>
          </p:spPr>
          <p:txBody>
            <a:bodyPr anchor="t" rtlCol="false" tIns="0" lIns="0" bIns="0" rIns="0">
              <a:spAutoFit/>
            </a:bodyPr>
            <a:lstStyle/>
            <a:p>
              <a:pPr algn="l">
                <a:lnSpc>
                  <a:spcPts val="1260"/>
                </a:lnSpc>
              </a:pPr>
              <a:r>
                <a:rPr lang="en-US" sz="900">
                  <a:solidFill>
                    <a:srgbClr val="505050"/>
                  </a:solidFill>
                  <a:latin typeface="Montserrat"/>
                  <a:ea typeface="Montserrat"/>
                  <a:cs typeface="Montserrat"/>
                  <a:sym typeface="Montserrat"/>
                </a:rPr>
                <a:t>*subject to availability (excluding speciality suites)</a:t>
              </a:r>
            </a:p>
          </p:txBody>
        </p:sp>
      </p:grpSp>
      <p:sp>
        <p:nvSpPr>
          <p:cNvPr name="TextBox 20" id="20"/>
          <p:cNvSpPr txBox="true"/>
          <p:nvPr/>
        </p:nvSpPr>
        <p:spPr>
          <a:xfrm rot="0">
            <a:off x="4082483" y="3076351"/>
            <a:ext cx="1158851" cy="165287"/>
          </a:xfrm>
          <a:prstGeom prst="rect">
            <a:avLst/>
          </a:prstGeom>
        </p:spPr>
        <p:txBody>
          <a:bodyPr anchor="t" rtlCol="false" tIns="0" lIns="0" bIns="0" rIns="0">
            <a:spAutoFit/>
          </a:bodyPr>
          <a:lstStyle/>
          <a:p>
            <a:pPr algn="l">
              <a:lnSpc>
                <a:spcPts val="1389"/>
              </a:lnSpc>
            </a:pPr>
            <a:r>
              <a:rPr lang="en-US" sz="992">
                <a:solidFill>
                  <a:srgbClr val="CC0000"/>
                </a:solidFill>
                <a:latin typeface="Montserrat"/>
                <a:ea typeface="Montserrat"/>
                <a:cs typeface="Montserrat"/>
                <a:sym typeface="Montserrat"/>
              </a:rPr>
              <a:t>Number </a:t>
            </a:r>
          </a:p>
        </p:txBody>
      </p:sp>
      <p:sp>
        <p:nvSpPr>
          <p:cNvPr name="Freeform 21" id="21"/>
          <p:cNvSpPr/>
          <p:nvPr/>
        </p:nvSpPr>
        <p:spPr>
          <a:xfrm flipH="false" flipV="false" rot="0">
            <a:off x="4156808" y="16565541"/>
            <a:ext cx="1973384" cy="1973384"/>
          </a:xfrm>
          <a:custGeom>
            <a:avLst/>
            <a:gdLst/>
            <a:ahLst/>
            <a:cxnLst/>
            <a:rect r="r" b="b" t="t" l="l"/>
            <a:pathLst>
              <a:path h="1973384" w="1973384">
                <a:moveTo>
                  <a:pt x="0" y="0"/>
                </a:moveTo>
                <a:lnTo>
                  <a:pt x="1973384" y="0"/>
                </a:lnTo>
                <a:lnTo>
                  <a:pt x="1973384" y="1973383"/>
                </a:lnTo>
                <a:lnTo>
                  <a:pt x="0" y="1973383"/>
                </a:lnTo>
                <a:lnTo>
                  <a:pt x="0" y="0"/>
                </a:lnTo>
                <a:close/>
              </a:path>
            </a:pathLst>
          </a:custGeom>
          <a:blipFill>
            <a:blip r:embed="rId3"/>
            <a:stretch>
              <a:fillRect l="0" t="0" r="0" b="0"/>
            </a:stretch>
          </a:blipFill>
        </p:spPr>
      </p:sp>
      <p:grpSp>
        <p:nvGrpSpPr>
          <p:cNvPr name="Group 22" id="22"/>
          <p:cNvGrpSpPr/>
          <p:nvPr/>
        </p:nvGrpSpPr>
        <p:grpSpPr>
          <a:xfrm rot="0">
            <a:off x="1531612" y="10219532"/>
            <a:ext cx="7223764" cy="4719318"/>
            <a:chOff x="0" y="0"/>
            <a:chExt cx="9631685" cy="6292424"/>
          </a:xfrm>
        </p:grpSpPr>
        <p:sp>
          <p:nvSpPr>
            <p:cNvPr name="Freeform 23" id="23"/>
            <p:cNvSpPr/>
            <p:nvPr/>
          </p:nvSpPr>
          <p:spPr>
            <a:xfrm flipH="false" flipV="false" rot="0">
              <a:off x="36532" y="4934675"/>
              <a:ext cx="1751578" cy="353525"/>
            </a:xfrm>
            <a:custGeom>
              <a:avLst/>
              <a:gdLst/>
              <a:ahLst/>
              <a:cxnLst/>
              <a:rect r="r" b="b" t="t" l="l"/>
              <a:pathLst>
                <a:path h="353525" w="1751578">
                  <a:moveTo>
                    <a:pt x="0" y="0"/>
                  </a:moveTo>
                  <a:lnTo>
                    <a:pt x="1751578" y="0"/>
                  </a:lnTo>
                  <a:lnTo>
                    <a:pt x="1751578" y="353524"/>
                  </a:lnTo>
                  <a:lnTo>
                    <a:pt x="0" y="3535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24" id="24"/>
            <p:cNvGrpSpPr/>
            <p:nvPr/>
          </p:nvGrpSpPr>
          <p:grpSpPr>
            <a:xfrm rot="0">
              <a:off x="0" y="4272714"/>
              <a:ext cx="559015" cy="455079"/>
              <a:chOff x="0" y="0"/>
              <a:chExt cx="279400" cy="227457"/>
            </a:xfrm>
          </p:grpSpPr>
          <p:sp>
            <p:nvSpPr>
              <p:cNvPr name="Freeform 25" id="25"/>
              <p:cNvSpPr/>
              <p:nvPr/>
            </p:nvSpPr>
            <p:spPr>
              <a:xfrm flipH="false" flipV="false" rot="0">
                <a:off x="63500" y="63473"/>
                <a:ext cx="152272" cy="100481"/>
              </a:xfrm>
              <a:custGeom>
                <a:avLst/>
                <a:gdLst/>
                <a:ahLst/>
                <a:cxnLst/>
                <a:rect r="r" b="b" t="t" l="l"/>
                <a:pathLst>
                  <a:path h="100481" w="152272">
                    <a:moveTo>
                      <a:pt x="75056" y="100482"/>
                    </a:moveTo>
                    <a:cubicBezTo>
                      <a:pt x="48894" y="100482"/>
                      <a:pt x="23875" y="84099"/>
                      <a:pt x="635" y="51841"/>
                    </a:cubicBezTo>
                    <a:cubicBezTo>
                      <a:pt x="254" y="51333"/>
                      <a:pt x="0" y="50571"/>
                      <a:pt x="0" y="49936"/>
                    </a:cubicBezTo>
                    <a:cubicBezTo>
                      <a:pt x="0" y="49301"/>
                      <a:pt x="127" y="48539"/>
                      <a:pt x="508" y="48031"/>
                    </a:cubicBezTo>
                    <a:cubicBezTo>
                      <a:pt x="1778" y="46126"/>
                      <a:pt x="32003" y="1042"/>
                      <a:pt x="75691" y="26"/>
                    </a:cubicBezTo>
                    <a:cubicBezTo>
                      <a:pt x="102488" y="-736"/>
                      <a:pt x="128015" y="15520"/>
                      <a:pt x="151637" y="47904"/>
                    </a:cubicBezTo>
                    <a:cubicBezTo>
                      <a:pt x="152018" y="48412"/>
                      <a:pt x="152272" y="49047"/>
                      <a:pt x="152272" y="49809"/>
                    </a:cubicBezTo>
                    <a:cubicBezTo>
                      <a:pt x="152272" y="50571"/>
                      <a:pt x="152145" y="51206"/>
                      <a:pt x="151764" y="51714"/>
                    </a:cubicBezTo>
                    <a:cubicBezTo>
                      <a:pt x="150494" y="53619"/>
                      <a:pt x="120141" y="99466"/>
                      <a:pt x="76453" y="100482"/>
                    </a:cubicBezTo>
                    <a:cubicBezTo>
                      <a:pt x="75945" y="100482"/>
                      <a:pt x="75437" y="100482"/>
                      <a:pt x="74929" y="100482"/>
                    </a:cubicBezTo>
                    <a:close/>
                    <a:moveTo>
                      <a:pt x="7366" y="49809"/>
                    </a:moveTo>
                    <a:cubicBezTo>
                      <a:pt x="29336" y="79527"/>
                      <a:pt x="52577" y="94259"/>
                      <a:pt x="76326" y="93751"/>
                    </a:cubicBezTo>
                    <a:cubicBezTo>
                      <a:pt x="111759" y="92989"/>
                      <a:pt x="138810" y="58445"/>
                      <a:pt x="144906" y="49936"/>
                    </a:cubicBezTo>
                    <a:cubicBezTo>
                      <a:pt x="123062" y="20727"/>
                      <a:pt x="99694" y="6249"/>
                      <a:pt x="75818" y="6757"/>
                    </a:cubicBezTo>
                    <a:cubicBezTo>
                      <a:pt x="40385" y="7519"/>
                      <a:pt x="13461" y="41427"/>
                      <a:pt x="7239" y="49936"/>
                    </a:cubicBezTo>
                    <a:close/>
                  </a:path>
                </a:pathLst>
              </a:custGeom>
              <a:solidFill>
                <a:srgbClr val="505050"/>
              </a:solidFill>
            </p:spPr>
          </p:sp>
          <p:sp>
            <p:nvSpPr>
              <p:cNvPr name="Freeform 26" id="26"/>
              <p:cNvSpPr/>
              <p:nvPr/>
            </p:nvSpPr>
            <p:spPr>
              <a:xfrm flipH="false" flipV="false" rot="0">
                <a:off x="112521" y="86359"/>
                <a:ext cx="54483" cy="54736"/>
              </a:xfrm>
              <a:custGeom>
                <a:avLst/>
                <a:gdLst/>
                <a:ahLst/>
                <a:cxnLst/>
                <a:rect r="r" b="b" t="t" l="l"/>
                <a:pathLst>
                  <a:path h="54736" w="54483">
                    <a:moveTo>
                      <a:pt x="27178" y="54736"/>
                    </a:moveTo>
                    <a:cubicBezTo>
                      <a:pt x="21844" y="54736"/>
                      <a:pt x="16510" y="53085"/>
                      <a:pt x="12065" y="50164"/>
                    </a:cubicBezTo>
                    <a:cubicBezTo>
                      <a:pt x="7620" y="47243"/>
                      <a:pt x="4064" y="42925"/>
                      <a:pt x="2032" y="37845"/>
                    </a:cubicBezTo>
                    <a:cubicBezTo>
                      <a:pt x="0" y="32765"/>
                      <a:pt x="-508" y="27304"/>
                      <a:pt x="508" y="21970"/>
                    </a:cubicBezTo>
                    <a:cubicBezTo>
                      <a:pt x="1524" y="16636"/>
                      <a:pt x="4191" y="11811"/>
                      <a:pt x="8001" y="8001"/>
                    </a:cubicBezTo>
                    <a:cubicBezTo>
                      <a:pt x="11811" y="4191"/>
                      <a:pt x="16637" y="1524"/>
                      <a:pt x="21971" y="508"/>
                    </a:cubicBezTo>
                    <a:cubicBezTo>
                      <a:pt x="27305" y="-508"/>
                      <a:pt x="32766" y="0"/>
                      <a:pt x="37719" y="2032"/>
                    </a:cubicBezTo>
                    <a:cubicBezTo>
                      <a:pt x="42672" y="4064"/>
                      <a:pt x="46990" y="7620"/>
                      <a:pt x="49911" y="12065"/>
                    </a:cubicBezTo>
                    <a:cubicBezTo>
                      <a:pt x="52832" y="16509"/>
                      <a:pt x="54483" y="21843"/>
                      <a:pt x="54483" y="27304"/>
                    </a:cubicBezTo>
                    <a:cubicBezTo>
                      <a:pt x="54483" y="34543"/>
                      <a:pt x="51562" y="41528"/>
                      <a:pt x="46482" y="46608"/>
                    </a:cubicBezTo>
                    <a:cubicBezTo>
                      <a:pt x="41402" y="51688"/>
                      <a:pt x="34417" y="54609"/>
                      <a:pt x="27178" y="54609"/>
                    </a:cubicBezTo>
                    <a:close/>
                    <a:moveTo>
                      <a:pt x="27178" y="6477"/>
                    </a:moveTo>
                    <a:cubicBezTo>
                      <a:pt x="23114" y="6477"/>
                      <a:pt x="19177" y="7747"/>
                      <a:pt x="15748" y="10033"/>
                    </a:cubicBezTo>
                    <a:cubicBezTo>
                      <a:pt x="12319" y="12319"/>
                      <a:pt x="9652" y="15493"/>
                      <a:pt x="8128" y="19303"/>
                    </a:cubicBezTo>
                    <a:cubicBezTo>
                      <a:pt x="6604" y="23113"/>
                      <a:pt x="6223" y="27304"/>
                      <a:pt x="6985" y="31241"/>
                    </a:cubicBezTo>
                    <a:cubicBezTo>
                      <a:pt x="7747" y="35178"/>
                      <a:pt x="9779" y="38988"/>
                      <a:pt x="12573" y="41782"/>
                    </a:cubicBezTo>
                    <a:cubicBezTo>
                      <a:pt x="15367" y="44576"/>
                      <a:pt x="19177" y="46608"/>
                      <a:pt x="23114" y="47497"/>
                    </a:cubicBezTo>
                    <a:cubicBezTo>
                      <a:pt x="27051" y="48386"/>
                      <a:pt x="31242" y="47878"/>
                      <a:pt x="35052" y="46354"/>
                    </a:cubicBezTo>
                    <a:cubicBezTo>
                      <a:pt x="38862" y="44830"/>
                      <a:pt x="42037" y="42163"/>
                      <a:pt x="44323" y="38734"/>
                    </a:cubicBezTo>
                    <a:cubicBezTo>
                      <a:pt x="46609" y="35305"/>
                      <a:pt x="47752" y="31368"/>
                      <a:pt x="47752" y="27177"/>
                    </a:cubicBezTo>
                    <a:cubicBezTo>
                      <a:pt x="47752" y="21716"/>
                      <a:pt x="45593" y="16382"/>
                      <a:pt x="41656" y="12573"/>
                    </a:cubicBezTo>
                    <a:cubicBezTo>
                      <a:pt x="37719" y="8763"/>
                      <a:pt x="32512" y="6477"/>
                      <a:pt x="27051" y="6477"/>
                    </a:cubicBezTo>
                    <a:close/>
                  </a:path>
                </a:pathLst>
              </a:custGeom>
              <a:solidFill>
                <a:srgbClr val="505050"/>
              </a:solidFill>
            </p:spPr>
          </p:sp>
        </p:grpSp>
        <p:grpSp>
          <p:nvGrpSpPr>
            <p:cNvPr name="Group 27" id="27"/>
            <p:cNvGrpSpPr/>
            <p:nvPr/>
          </p:nvGrpSpPr>
          <p:grpSpPr>
            <a:xfrm rot="0">
              <a:off x="2658763" y="4351914"/>
              <a:ext cx="304911" cy="294239"/>
              <a:chOff x="0" y="0"/>
              <a:chExt cx="152400" cy="147066"/>
            </a:xfrm>
          </p:grpSpPr>
          <p:sp>
            <p:nvSpPr>
              <p:cNvPr name="Freeform 28" id="28"/>
              <p:cNvSpPr/>
              <p:nvPr/>
            </p:nvSpPr>
            <p:spPr>
              <a:xfrm flipH="false" flipV="false" rot="0">
                <a:off x="0" y="0"/>
                <a:ext cx="152400" cy="147066"/>
              </a:xfrm>
              <a:custGeom>
                <a:avLst/>
                <a:gdLst/>
                <a:ahLst/>
                <a:cxnLst/>
                <a:rect r="r" b="b" t="t" l="l"/>
                <a:pathLst>
                  <a:path h="147066" w="152400">
                    <a:moveTo>
                      <a:pt x="0" y="0"/>
                    </a:moveTo>
                    <a:lnTo>
                      <a:pt x="0" y="147066"/>
                    </a:lnTo>
                    <a:lnTo>
                      <a:pt x="152400" y="147066"/>
                    </a:lnTo>
                    <a:lnTo>
                      <a:pt x="152400" y="0"/>
                    </a:lnTo>
                    <a:lnTo>
                      <a:pt x="130175" y="0"/>
                    </a:lnTo>
                    <a:lnTo>
                      <a:pt x="129540" y="508"/>
                    </a:lnTo>
                    <a:lnTo>
                      <a:pt x="93726" y="27813"/>
                    </a:lnTo>
                    <a:lnTo>
                      <a:pt x="96647" y="31496"/>
                    </a:lnTo>
                    <a:lnTo>
                      <a:pt x="131826" y="4572"/>
                    </a:lnTo>
                    <a:lnTo>
                      <a:pt x="147701" y="4572"/>
                    </a:lnTo>
                    <a:lnTo>
                      <a:pt x="147701" y="78105"/>
                    </a:lnTo>
                    <a:lnTo>
                      <a:pt x="81026" y="78105"/>
                    </a:lnTo>
                    <a:lnTo>
                      <a:pt x="81026" y="110363"/>
                    </a:lnTo>
                    <a:lnTo>
                      <a:pt x="4826" y="110363"/>
                    </a:lnTo>
                    <a:lnTo>
                      <a:pt x="4826" y="68961"/>
                    </a:lnTo>
                    <a:lnTo>
                      <a:pt x="71374" y="68961"/>
                    </a:lnTo>
                    <a:lnTo>
                      <a:pt x="71374" y="4572"/>
                    </a:lnTo>
                    <a:lnTo>
                      <a:pt x="95250" y="4572"/>
                    </a:lnTo>
                    <a:lnTo>
                      <a:pt x="95250" y="0"/>
                    </a:lnTo>
                    <a:lnTo>
                      <a:pt x="0" y="0"/>
                    </a:lnTo>
                    <a:close/>
                    <a:moveTo>
                      <a:pt x="4826" y="4572"/>
                    </a:moveTo>
                    <a:lnTo>
                      <a:pt x="66675" y="4572"/>
                    </a:lnTo>
                    <a:lnTo>
                      <a:pt x="66675" y="64262"/>
                    </a:lnTo>
                    <a:lnTo>
                      <a:pt x="4826" y="64262"/>
                    </a:lnTo>
                    <a:lnTo>
                      <a:pt x="4826" y="4572"/>
                    </a:lnTo>
                    <a:close/>
                    <a:moveTo>
                      <a:pt x="85725" y="82677"/>
                    </a:moveTo>
                    <a:lnTo>
                      <a:pt x="147701" y="82677"/>
                    </a:lnTo>
                    <a:lnTo>
                      <a:pt x="147701" y="142367"/>
                    </a:lnTo>
                    <a:lnTo>
                      <a:pt x="85725" y="142367"/>
                    </a:lnTo>
                    <a:lnTo>
                      <a:pt x="85725" y="82677"/>
                    </a:lnTo>
                    <a:close/>
                    <a:moveTo>
                      <a:pt x="4826" y="114935"/>
                    </a:moveTo>
                    <a:lnTo>
                      <a:pt x="81026" y="114935"/>
                    </a:lnTo>
                    <a:lnTo>
                      <a:pt x="81026" y="142494"/>
                    </a:lnTo>
                    <a:lnTo>
                      <a:pt x="4826" y="142494"/>
                    </a:lnTo>
                    <a:lnTo>
                      <a:pt x="4826" y="114935"/>
                    </a:lnTo>
                    <a:close/>
                  </a:path>
                </a:pathLst>
              </a:custGeom>
              <a:solidFill>
                <a:srgbClr val="505050"/>
              </a:solidFill>
            </p:spPr>
          </p:sp>
        </p:grpSp>
        <p:grpSp>
          <p:nvGrpSpPr>
            <p:cNvPr name="Group 29" id="29"/>
            <p:cNvGrpSpPr/>
            <p:nvPr/>
          </p:nvGrpSpPr>
          <p:grpSpPr>
            <a:xfrm rot="0">
              <a:off x="4127364" y="4221241"/>
              <a:ext cx="558996" cy="548324"/>
              <a:chOff x="0" y="0"/>
              <a:chExt cx="279400" cy="274066"/>
            </a:xfrm>
          </p:grpSpPr>
          <p:sp>
            <p:nvSpPr>
              <p:cNvPr name="Freeform 30" id="30"/>
              <p:cNvSpPr/>
              <p:nvPr/>
            </p:nvSpPr>
            <p:spPr>
              <a:xfrm flipH="false" flipV="false" rot="0">
                <a:off x="63500" y="63500"/>
                <a:ext cx="152400" cy="147066"/>
              </a:xfrm>
              <a:custGeom>
                <a:avLst/>
                <a:gdLst/>
                <a:ahLst/>
                <a:cxnLst/>
                <a:rect r="r" b="b" t="t" l="l"/>
                <a:pathLst>
                  <a:path h="147066" w="152400">
                    <a:moveTo>
                      <a:pt x="152400" y="138049"/>
                    </a:moveTo>
                    <a:lnTo>
                      <a:pt x="152400" y="1778"/>
                    </a:lnTo>
                    <a:cubicBezTo>
                      <a:pt x="152400" y="762"/>
                      <a:pt x="151384" y="0"/>
                      <a:pt x="149987" y="0"/>
                    </a:cubicBezTo>
                    <a:lnTo>
                      <a:pt x="2413" y="0"/>
                    </a:lnTo>
                    <a:cubicBezTo>
                      <a:pt x="1143" y="0"/>
                      <a:pt x="0" y="762"/>
                      <a:pt x="0" y="1778"/>
                    </a:cubicBezTo>
                    <a:lnTo>
                      <a:pt x="0" y="138049"/>
                    </a:lnTo>
                    <a:cubicBezTo>
                      <a:pt x="0" y="143002"/>
                      <a:pt x="5207" y="147066"/>
                      <a:pt x="11684" y="147066"/>
                    </a:cubicBezTo>
                    <a:lnTo>
                      <a:pt x="140716" y="147066"/>
                    </a:lnTo>
                    <a:cubicBezTo>
                      <a:pt x="147193" y="147066"/>
                      <a:pt x="152400" y="143002"/>
                      <a:pt x="152400" y="138049"/>
                    </a:cubicBezTo>
                    <a:close/>
                    <a:moveTo>
                      <a:pt x="4826" y="50292"/>
                    </a:moveTo>
                    <a:lnTo>
                      <a:pt x="147574" y="50292"/>
                    </a:lnTo>
                    <a:lnTo>
                      <a:pt x="147574" y="65405"/>
                    </a:lnTo>
                    <a:lnTo>
                      <a:pt x="4826" y="65405"/>
                    </a:lnTo>
                    <a:lnTo>
                      <a:pt x="4826" y="50292"/>
                    </a:lnTo>
                    <a:close/>
                    <a:moveTo>
                      <a:pt x="147574" y="3683"/>
                    </a:moveTo>
                    <a:lnTo>
                      <a:pt x="147574" y="46609"/>
                    </a:lnTo>
                    <a:lnTo>
                      <a:pt x="4826" y="46609"/>
                    </a:lnTo>
                    <a:lnTo>
                      <a:pt x="4826" y="3683"/>
                    </a:lnTo>
                    <a:lnTo>
                      <a:pt x="147574" y="3683"/>
                    </a:lnTo>
                    <a:close/>
                    <a:moveTo>
                      <a:pt x="4826" y="138049"/>
                    </a:moveTo>
                    <a:lnTo>
                      <a:pt x="4826" y="69088"/>
                    </a:lnTo>
                    <a:lnTo>
                      <a:pt x="147574" y="69088"/>
                    </a:lnTo>
                    <a:lnTo>
                      <a:pt x="147574" y="138049"/>
                    </a:lnTo>
                    <a:cubicBezTo>
                      <a:pt x="147574" y="140970"/>
                      <a:pt x="144526" y="143383"/>
                      <a:pt x="140716" y="143383"/>
                    </a:cubicBezTo>
                    <a:lnTo>
                      <a:pt x="11684" y="143383"/>
                    </a:lnTo>
                    <a:cubicBezTo>
                      <a:pt x="7874" y="143383"/>
                      <a:pt x="4826" y="140970"/>
                      <a:pt x="4826" y="138049"/>
                    </a:cubicBezTo>
                    <a:close/>
                  </a:path>
                </a:pathLst>
              </a:custGeom>
              <a:solidFill>
                <a:srgbClr val="505050"/>
              </a:solidFill>
            </p:spPr>
          </p:sp>
          <p:sp>
            <p:nvSpPr>
              <p:cNvPr name="Freeform 31" id="31"/>
              <p:cNvSpPr/>
              <p:nvPr/>
            </p:nvSpPr>
            <p:spPr>
              <a:xfrm flipH="false" flipV="false" rot="0">
                <a:off x="81407" y="71374"/>
                <a:ext cx="53340" cy="34925"/>
              </a:xfrm>
              <a:custGeom>
                <a:avLst/>
                <a:gdLst/>
                <a:ahLst/>
                <a:cxnLst/>
                <a:rect r="r" b="b" t="t" l="l"/>
                <a:pathLst>
                  <a:path h="34925" w="53340">
                    <a:moveTo>
                      <a:pt x="12065" y="34925"/>
                    </a:moveTo>
                    <a:lnTo>
                      <a:pt x="41275" y="34925"/>
                    </a:lnTo>
                    <a:cubicBezTo>
                      <a:pt x="47879" y="34925"/>
                      <a:pt x="53340" y="29718"/>
                      <a:pt x="53340" y="23241"/>
                    </a:cubicBezTo>
                    <a:lnTo>
                      <a:pt x="53340" y="11684"/>
                    </a:lnTo>
                    <a:cubicBezTo>
                      <a:pt x="53340" y="5207"/>
                      <a:pt x="47879" y="0"/>
                      <a:pt x="41275" y="0"/>
                    </a:cubicBezTo>
                    <a:lnTo>
                      <a:pt x="12065" y="0"/>
                    </a:lnTo>
                    <a:cubicBezTo>
                      <a:pt x="5461" y="0"/>
                      <a:pt x="0" y="5207"/>
                      <a:pt x="0" y="11684"/>
                    </a:cubicBezTo>
                    <a:lnTo>
                      <a:pt x="0" y="23241"/>
                    </a:lnTo>
                    <a:cubicBezTo>
                      <a:pt x="0" y="29718"/>
                      <a:pt x="5461" y="34925"/>
                      <a:pt x="12065" y="34925"/>
                    </a:cubicBezTo>
                    <a:close/>
                    <a:moveTo>
                      <a:pt x="4826" y="11684"/>
                    </a:moveTo>
                    <a:cubicBezTo>
                      <a:pt x="4826" y="7747"/>
                      <a:pt x="8128" y="4699"/>
                      <a:pt x="12065" y="4699"/>
                    </a:cubicBezTo>
                    <a:lnTo>
                      <a:pt x="41275" y="4699"/>
                    </a:lnTo>
                    <a:cubicBezTo>
                      <a:pt x="45339" y="4699"/>
                      <a:pt x="48514" y="7874"/>
                      <a:pt x="48514" y="11684"/>
                    </a:cubicBezTo>
                    <a:lnTo>
                      <a:pt x="48514" y="23241"/>
                    </a:lnTo>
                    <a:cubicBezTo>
                      <a:pt x="48514" y="27178"/>
                      <a:pt x="45212" y="30226"/>
                      <a:pt x="41275" y="30226"/>
                    </a:cubicBezTo>
                    <a:lnTo>
                      <a:pt x="12065" y="30226"/>
                    </a:lnTo>
                    <a:cubicBezTo>
                      <a:pt x="8001" y="30226"/>
                      <a:pt x="4826" y="27051"/>
                      <a:pt x="4826" y="23241"/>
                    </a:cubicBezTo>
                    <a:lnTo>
                      <a:pt x="4826" y="11684"/>
                    </a:lnTo>
                    <a:close/>
                  </a:path>
                </a:pathLst>
              </a:custGeom>
              <a:solidFill>
                <a:srgbClr val="505050"/>
              </a:solidFill>
            </p:spPr>
          </p:sp>
          <p:sp>
            <p:nvSpPr>
              <p:cNvPr name="Freeform 32" id="32"/>
              <p:cNvSpPr/>
              <p:nvPr/>
            </p:nvSpPr>
            <p:spPr>
              <a:xfrm flipH="false" flipV="false" rot="0">
                <a:off x="144653" y="71374"/>
                <a:ext cx="53213" cy="34925"/>
              </a:xfrm>
              <a:custGeom>
                <a:avLst/>
                <a:gdLst/>
                <a:ahLst/>
                <a:cxnLst/>
                <a:rect r="r" b="b" t="t" l="l"/>
                <a:pathLst>
                  <a:path h="34925" w="53213">
                    <a:moveTo>
                      <a:pt x="12065" y="34925"/>
                    </a:moveTo>
                    <a:lnTo>
                      <a:pt x="41148" y="34925"/>
                    </a:lnTo>
                    <a:cubicBezTo>
                      <a:pt x="47752" y="34925"/>
                      <a:pt x="53213" y="29718"/>
                      <a:pt x="53213" y="23241"/>
                    </a:cubicBezTo>
                    <a:lnTo>
                      <a:pt x="53213" y="11684"/>
                    </a:lnTo>
                    <a:cubicBezTo>
                      <a:pt x="53213" y="5207"/>
                      <a:pt x="47752" y="0"/>
                      <a:pt x="41148" y="0"/>
                    </a:cubicBezTo>
                    <a:lnTo>
                      <a:pt x="12065" y="0"/>
                    </a:lnTo>
                    <a:cubicBezTo>
                      <a:pt x="5461" y="0"/>
                      <a:pt x="0" y="5207"/>
                      <a:pt x="0" y="11684"/>
                    </a:cubicBezTo>
                    <a:lnTo>
                      <a:pt x="0" y="23241"/>
                    </a:lnTo>
                    <a:cubicBezTo>
                      <a:pt x="0" y="29718"/>
                      <a:pt x="5461" y="34925"/>
                      <a:pt x="12065" y="34925"/>
                    </a:cubicBezTo>
                    <a:close/>
                    <a:moveTo>
                      <a:pt x="4826" y="11684"/>
                    </a:moveTo>
                    <a:cubicBezTo>
                      <a:pt x="4826" y="7747"/>
                      <a:pt x="8128" y="4699"/>
                      <a:pt x="12065" y="4699"/>
                    </a:cubicBezTo>
                    <a:lnTo>
                      <a:pt x="41148" y="4699"/>
                    </a:lnTo>
                    <a:cubicBezTo>
                      <a:pt x="45212" y="4699"/>
                      <a:pt x="48387" y="7874"/>
                      <a:pt x="48387" y="11684"/>
                    </a:cubicBezTo>
                    <a:lnTo>
                      <a:pt x="48387" y="23241"/>
                    </a:lnTo>
                    <a:cubicBezTo>
                      <a:pt x="48387" y="27178"/>
                      <a:pt x="45085" y="30226"/>
                      <a:pt x="41148" y="30226"/>
                    </a:cubicBezTo>
                    <a:lnTo>
                      <a:pt x="12065" y="30226"/>
                    </a:lnTo>
                    <a:cubicBezTo>
                      <a:pt x="8001" y="30226"/>
                      <a:pt x="4826" y="27051"/>
                      <a:pt x="4826" y="23241"/>
                    </a:cubicBezTo>
                    <a:lnTo>
                      <a:pt x="4826" y="11684"/>
                    </a:lnTo>
                    <a:close/>
                  </a:path>
                </a:pathLst>
              </a:custGeom>
              <a:solidFill>
                <a:srgbClr val="505050"/>
              </a:solidFill>
            </p:spPr>
          </p:sp>
        </p:grpSp>
        <p:grpSp>
          <p:nvGrpSpPr>
            <p:cNvPr name="Group 33" id="33"/>
            <p:cNvGrpSpPr/>
            <p:nvPr/>
          </p:nvGrpSpPr>
          <p:grpSpPr>
            <a:xfrm rot="0">
              <a:off x="7632711" y="5726299"/>
              <a:ext cx="1998974" cy="9528"/>
              <a:chOff x="0" y="0"/>
              <a:chExt cx="999122" cy="4762"/>
            </a:xfrm>
          </p:grpSpPr>
          <p:sp>
            <p:nvSpPr>
              <p:cNvPr name="Freeform 34" id="34"/>
              <p:cNvSpPr/>
              <p:nvPr/>
            </p:nvSpPr>
            <p:spPr>
              <a:xfrm flipH="false" flipV="false" rot="0">
                <a:off x="0" y="0"/>
                <a:ext cx="999109" cy="4826"/>
              </a:xfrm>
              <a:custGeom>
                <a:avLst/>
                <a:gdLst/>
                <a:ahLst/>
                <a:cxnLst/>
                <a:rect r="r" b="b" t="t" l="l"/>
                <a:pathLst>
                  <a:path h="4826" w="999109">
                    <a:moveTo>
                      <a:pt x="0" y="0"/>
                    </a:moveTo>
                    <a:lnTo>
                      <a:pt x="999109" y="0"/>
                    </a:lnTo>
                    <a:lnTo>
                      <a:pt x="999109" y="4826"/>
                    </a:lnTo>
                    <a:lnTo>
                      <a:pt x="0" y="4826"/>
                    </a:lnTo>
                  </a:path>
                </a:pathLst>
              </a:custGeom>
              <a:solidFill>
                <a:srgbClr val="505050"/>
              </a:solidFill>
            </p:spPr>
          </p:sp>
        </p:grpSp>
        <p:sp>
          <p:nvSpPr>
            <p:cNvPr name="TextBox 35" id="35"/>
            <p:cNvSpPr txBox="true"/>
            <p:nvPr/>
          </p:nvSpPr>
          <p:spPr>
            <a:xfrm rot="0">
              <a:off x="36532" y="5430449"/>
              <a:ext cx="1803012" cy="318490"/>
            </a:xfrm>
            <a:prstGeom prst="rect">
              <a:avLst/>
            </a:prstGeom>
          </p:spPr>
          <p:txBody>
            <a:bodyPr anchor="t" rtlCol="false" tIns="0" lIns="0" bIns="0" rIns="0">
              <a:spAutoFit/>
            </a:bodyPr>
            <a:lstStyle/>
            <a:p>
              <a:pPr algn="l">
                <a:lnSpc>
                  <a:spcPts val="1862"/>
                </a:lnSpc>
              </a:pPr>
              <a:r>
                <a:rPr lang="en-US" b="true" sz="1185" i="true">
                  <a:solidFill>
                    <a:srgbClr val="191919"/>
                  </a:solidFill>
                  <a:latin typeface="Avenir Medium Italics"/>
                  <a:ea typeface="Avenir Medium Italics"/>
                  <a:cs typeface="Avenir Medium Italics"/>
                  <a:sym typeface="Avenir Medium Italics"/>
                </a:rPr>
                <a:t>Cancellation policy</a:t>
              </a:r>
            </a:p>
          </p:txBody>
        </p:sp>
        <p:sp>
          <p:nvSpPr>
            <p:cNvPr name="TextBox 36" id="36"/>
            <p:cNvSpPr txBox="true"/>
            <p:nvPr/>
          </p:nvSpPr>
          <p:spPr>
            <a:xfrm rot="0">
              <a:off x="430248" y="5755861"/>
              <a:ext cx="48595" cy="295129"/>
            </a:xfrm>
            <a:prstGeom prst="rect">
              <a:avLst/>
            </a:prstGeom>
          </p:spPr>
          <p:txBody>
            <a:bodyPr anchor="t" rtlCol="false" tIns="0" lIns="0" bIns="0" rIns="0">
              <a:spAutoFit/>
            </a:bodyPr>
            <a:lstStyle/>
            <a:p>
              <a:pPr algn="l">
                <a:lnSpc>
                  <a:spcPts val="1768"/>
                </a:lnSpc>
              </a:pPr>
              <a:r>
                <a:rPr lang="en-US" b="true" sz="1125">
                  <a:solidFill>
                    <a:srgbClr val="505050"/>
                  </a:solidFill>
                  <a:latin typeface="Avenir Ultra-Bold"/>
                  <a:ea typeface="Avenir Ultra-Bold"/>
                  <a:cs typeface="Avenir Ultra-Bold"/>
                  <a:sym typeface="Avenir Ultra-Bold"/>
                </a:rPr>
                <a:t> </a:t>
              </a:r>
            </a:p>
          </p:txBody>
        </p:sp>
        <p:sp>
          <p:nvSpPr>
            <p:cNvPr name="TextBox 37" id="37"/>
            <p:cNvSpPr txBox="true"/>
            <p:nvPr/>
          </p:nvSpPr>
          <p:spPr>
            <a:xfrm rot="0">
              <a:off x="541540" y="4354257"/>
              <a:ext cx="2117222" cy="276211"/>
            </a:xfrm>
            <a:prstGeom prst="rect">
              <a:avLst/>
            </a:prstGeom>
          </p:spPr>
          <p:txBody>
            <a:bodyPr anchor="t" rtlCol="false" tIns="0" lIns="0" bIns="0" rIns="0">
              <a:spAutoFit/>
            </a:bodyPr>
            <a:lstStyle/>
            <a:p>
              <a:pPr algn="l">
                <a:lnSpc>
                  <a:spcPts val="1575"/>
                </a:lnSpc>
              </a:pPr>
              <a:r>
                <a:rPr lang="en-US" b="true" sz="1125">
                  <a:solidFill>
                    <a:srgbClr val="CC0000"/>
                  </a:solidFill>
                  <a:latin typeface="Avenir Ultra-Bold"/>
                  <a:ea typeface="Avenir Ultra-Bold"/>
                  <a:cs typeface="Avenir Ultra-Bold"/>
                  <a:sym typeface="Avenir Ultra-Bold"/>
                </a:rPr>
                <a:t>Room View</a:t>
              </a:r>
            </a:p>
          </p:txBody>
        </p:sp>
        <p:sp>
          <p:nvSpPr>
            <p:cNvPr name="TextBox 38" id="38"/>
            <p:cNvSpPr txBox="true"/>
            <p:nvPr/>
          </p:nvSpPr>
          <p:spPr>
            <a:xfrm rot="0">
              <a:off x="3073231" y="4354257"/>
              <a:ext cx="974126" cy="276211"/>
            </a:xfrm>
            <a:prstGeom prst="rect">
              <a:avLst/>
            </a:prstGeom>
          </p:spPr>
          <p:txBody>
            <a:bodyPr anchor="t" rtlCol="false" tIns="0" lIns="0" bIns="0" rIns="0">
              <a:spAutoFit/>
            </a:bodyPr>
            <a:lstStyle/>
            <a:p>
              <a:pPr algn="l">
                <a:lnSpc>
                  <a:spcPts val="1575"/>
                </a:lnSpc>
              </a:pPr>
              <a:r>
                <a:rPr lang="en-US" b="true" sz="1125">
                  <a:solidFill>
                    <a:srgbClr val="CC0000"/>
                  </a:solidFill>
                  <a:latin typeface="Avenir Ultra-Bold"/>
                  <a:ea typeface="Avenir Ultra-Bold"/>
                  <a:cs typeface="Avenir Ultra-Bold"/>
                  <a:sym typeface="Avenir Ultra-Bold"/>
                </a:rPr>
                <a:t>Size m²</a:t>
              </a:r>
            </a:p>
          </p:txBody>
        </p:sp>
        <p:sp>
          <p:nvSpPr>
            <p:cNvPr name="TextBox 39" id="39"/>
            <p:cNvSpPr txBox="true"/>
            <p:nvPr/>
          </p:nvSpPr>
          <p:spPr>
            <a:xfrm rot="0">
              <a:off x="36532" y="5784436"/>
              <a:ext cx="6468806" cy="257485"/>
            </a:xfrm>
            <a:prstGeom prst="rect">
              <a:avLst/>
            </a:prstGeom>
          </p:spPr>
          <p:txBody>
            <a:bodyPr anchor="t" rtlCol="false" tIns="0" lIns="0" bIns="0" rIns="0">
              <a:spAutoFit/>
            </a:bodyPr>
            <a:lstStyle/>
            <a:p>
              <a:pPr algn="l">
                <a:lnSpc>
                  <a:spcPts val="1479"/>
                </a:lnSpc>
              </a:pPr>
              <a:r>
                <a:rPr lang="en-US" b="true" sz="1125">
                  <a:solidFill>
                    <a:srgbClr val="505050"/>
                  </a:solidFill>
                  <a:latin typeface="Avenir Ultra-Bold"/>
                  <a:ea typeface="Avenir Ultra-Bold"/>
                  <a:cs typeface="Avenir Ultra-Bold"/>
                  <a:sym typeface="Avenir Ultra-Bold"/>
                </a:rPr>
                <a:t>Free cancellation before </a:t>
              </a:r>
              <a:r>
                <a:rPr lang="en-US" b="true" sz="1125">
                  <a:solidFill>
                    <a:srgbClr val="CC0000"/>
                  </a:solidFill>
                  <a:latin typeface="Avenir Ultra-Bold"/>
                  <a:ea typeface="Avenir Ultra-Bold"/>
                  <a:cs typeface="Avenir Ultra-Bold"/>
                  <a:sym typeface="Avenir Ultra-Bold"/>
                </a:rPr>
                <a:t>time</a:t>
              </a:r>
              <a:r>
                <a:rPr lang="en-US" b="true" sz="1125">
                  <a:solidFill>
                    <a:srgbClr val="505050"/>
                  </a:solidFill>
                  <a:latin typeface="Avenir Ultra-Bold"/>
                  <a:ea typeface="Avenir Ultra-Bold"/>
                  <a:cs typeface="Avenir Ultra-Bold"/>
                  <a:sym typeface="Avenir Ultra-Bold"/>
                </a:rPr>
                <a:t> on</a:t>
              </a:r>
              <a:r>
                <a:rPr lang="en-US" b="true" sz="1125">
                  <a:solidFill>
                    <a:srgbClr val="CC0000"/>
                  </a:solidFill>
                  <a:latin typeface="Avenir Ultra-Bold"/>
                  <a:ea typeface="Avenir Ultra-Bold"/>
                  <a:cs typeface="Avenir Ultra-Bold"/>
                  <a:sym typeface="Avenir Ultra-Bold"/>
                </a:rPr>
                <a:t> Date Month Year </a:t>
              </a:r>
              <a:r>
                <a:rPr lang="en-US" b="true" sz="1125">
                  <a:solidFill>
                    <a:srgbClr val="505050"/>
                  </a:solidFill>
                  <a:latin typeface="Avenir Ultra-Bold"/>
                  <a:ea typeface="Avenir Ultra-Bold"/>
                  <a:cs typeface="Avenir Ultra-Bold"/>
                  <a:sym typeface="Avenir Ultra-Bold"/>
                </a:rPr>
                <a:t>after which a</a:t>
              </a:r>
            </a:p>
          </p:txBody>
        </p:sp>
        <p:sp>
          <p:nvSpPr>
            <p:cNvPr name="TextBox 40" id="40"/>
            <p:cNvSpPr txBox="true"/>
            <p:nvPr/>
          </p:nvSpPr>
          <p:spPr>
            <a:xfrm rot="0">
              <a:off x="36532" y="6034939"/>
              <a:ext cx="4010825" cy="257485"/>
            </a:xfrm>
            <a:prstGeom prst="rect">
              <a:avLst/>
            </a:prstGeom>
          </p:spPr>
          <p:txBody>
            <a:bodyPr anchor="t" rtlCol="false" tIns="0" lIns="0" bIns="0" rIns="0">
              <a:spAutoFit/>
            </a:bodyPr>
            <a:lstStyle/>
            <a:p>
              <a:pPr algn="l">
                <a:lnSpc>
                  <a:spcPts val="1479"/>
                </a:lnSpc>
              </a:pPr>
              <a:r>
                <a:rPr lang="en-US" b="true" sz="1125">
                  <a:solidFill>
                    <a:srgbClr val="505050"/>
                  </a:solidFill>
                  <a:latin typeface="Avenir Ultra-Bold"/>
                  <a:ea typeface="Avenir Ultra-Bold"/>
                  <a:cs typeface="Avenir Ultra-Bold"/>
                  <a:sym typeface="Avenir Ultra-Bold"/>
                </a:rPr>
                <a:t>charge of EUR </a:t>
              </a:r>
              <a:r>
                <a:rPr lang="en-US" b="true" sz="1125">
                  <a:solidFill>
                    <a:srgbClr val="CC0000"/>
                  </a:solidFill>
                  <a:latin typeface="Avenir Ultra-Bold"/>
                  <a:ea typeface="Avenir Ultra-Bold"/>
                  <a:cs typeface="Avenir Ultra-Bold"/>
                  <a:sym typeface="Avenir Ultra-Bold"/>
                </a:rPr>
                <a:t>price</a:t>
              </a:r>
              <a:r>
                <a:rPr lang="en-US" b="true" sz="1125">
                  <a:solidFill>
                    <a:srgbClr val="505050"/>
                  </a:solidFill>
                  <a:latin typeface="Avenir Ultra-Bold"/>
                  <a:ea typeface="Avenir Ultra-Bold"/>
                  <a:cs typeface="Avenir Ultra-Bold"/>
                  <a:sym typeface="Avenir Ultra-Bold"/>
                </a:rPr>
                <a:t> will be incurred.</a:t>
              </a:r>
            </a:p>
          </p:txBody>
        </p:sp>
        <p:sp>
          <p:nvSpPr>
            <p:cNvPr name="TextBox 41" id="41"/>
            <p:cNvSpPr txBox="true"/>
            <p:nvPr/>
          </p:nvSpPr>
          <p:spPr>
            <a:xfrm rot="0">
              <a:off x="4668885" y="4354257"/>
              <a:ext cx="1490085" cy="276211"/>
            </a:xfrm>
            <a:prstGeom prst="rect">
              <a:avLst/>
            </a:prstGeom>
          </p:spPr>
          <p:txBody>
            <a:bodyPr anchor="t" rtlCol="false" tIns="0" lIns="0" bIns="0" rIns="0">
              <a:spAutoFit/>
            </a:bodyPr>
            <a:lstStyle/>
            <a:p>
              <a:pPr algn="l">
                <a:lnSpc>
                  <a:spcPts val="1575"/>
                </a:lnSpc>
              </a:pPr>
              <a:r>
                <a:rPr lang="en-US" b="true" sz="1125">
                  <a:solidFill>
                    <a:srgbClr val="CC0000"/>
                  </a:solidFill>
                  <a:latin typeface="Avenir Ultra-Bold"/>
                  <a:ea typeface="Avenir Ultra-Bold"/>
                  <a:cs typeface="Avenir Ultra-Bold"/>
                  <a:sym typeface="Avenir Ultra-Bold"/>
                </a:rPr>
                <a:t>King / Twin</a:t>
              </a:r>
            </a:p>
          </p:txBody>
        </p:sp>
        <p:sp>
          <p:nvSpPr>
            <p:cNvPr name="TextBox 42" id="42"/>
            <p:cNvSpPr txBox="true"/>
            <p:nvPr/>
          </p:nvSpPr>
          <p:spPr>
            <a:xfrm rot="0">
              <a:off x="36532" y="3762007"/>
              <a:ext cx="1767261" cy="350248"/>
            </a:xfrm>
            <a:prstGeom prst="rect">
              <a:avLst/>
            </a:prstGeom>
          </p:spPr>
          <p:txBody>
            <a:bodyPr anchor="t" rtlCol="false" tIns="0" lIns="0" bIns="0" rIns="0">
              <a:spAutoFit/>
            </a:bodyPr>
            <a:lstStyle/>
            <a:p>
              <a:pPr algn="l">
                <a:lnSpc>
                  <a:spcPts val="2058"/>
                </a:lnSpc>
              </a:pPr>
              <a:r>
                <a:rPr lang="en-US" b="true" sz="1470" i="true">
                  <a:solidFill>
                    <a:srgbClr val="CC0000"/>
                  </a:solidFill>
                  <a:latin typeface="Avenir Medium Italics"/>
                  <a:ea typeface="Avenir Medium Italics"/>
                  <a:cs typeface="Avenir Medium Italics"/>
                  <a:sym typeface="Avenir Medium Italics"/>
                </a:rPr>
                <a:t>Room Type</a:t>
              </a:r>
            </a:p>
          </p:txBody>
        </p:sp>
        <p:sp>
          <p:nvSpPr>
            <p:cNvPr name="TextBox 43" id="43"/>
            <p:cNvSpPr txBox="true"/>
            <p:nvPr/>
          </p:nvSpPr>
          <p:spPr>
            <a:xfrm rot="0">
              <a:off x="112760" y="4973584"/>
              <a:ext cx="1625383" cy="254625"/>
            </a:xfrm>
            <a:prstGeom prst="rect">
              <a:avLst/>
            </a:prstGeom>
          </p:spPr>
          <p:txBody>
            <a:bodyPr anchor="t" rtlCol="false" tIns="0" lIns="0" bIns="0" rIns="0">
              <a:spAutoFit/>
            </a:bodyPr>
            <a:lstStyle/>
            <a:p>
              <a:pPr algn="l">
                <a:lnSpc>
                  <a:spcPts val="1491"/>
                </a:lnSpc>
              </a:pPr>
              <a:r>
                <a:rPr lang="en-US" b="true" sz="1065">
                  <a:solidFill>
                    <a:srgbClr val="000000"/>
                  </a:solidFill>
                  <a:latin typeface="Avenir Medium"/>
                  <a:ea typeface="Avenir Medium"/>
                  <a:cs typeface="Avenir Medium"/>
                  <a:sym typeface="Avenir Medium"/>
                </a:rPr>
                <a:t>Best Available Rate</a:t>
              </a:r>
            </a:p>
          </p:txBody>
        </p:sp>
        <p:sp>
          <p:nvSpPr>
            <p:cNvPr name="TextBox 44" id="44"/>
            <p:cNvSpPr txBox="true"/>
            <p:nvPr/>
          </p:nvSpPr>
          <p:spPr>
            <a:xfrm rot="0">
              <a:off x="6991604" y="4939230"/>
              <a:ext cx="2640082" cy="1087213"/>
            </a:xfrm>
            <a:prstGeom prst="rect">
              <a:avLst/>
            </a:prstGeom>
          </p:spPr>
          <p:txBody>
            <a:bodyPr anchor="t" rtlCol="false" tIns="0" lIns="0" bIns="0" rIns="0">
              <a:spAutoFit/>
            </a:bodyPr>
            <a:lstStyle/>
            <a:p>
              <a:pPr algn="r">
                <a:lnSpc>
                  <a:spcPts val="1428"/>
                </a:lnSpc>
              </a:pPr>
              <a:r>
                <a:rPr lang="en-US" b="true" sz="1020" i="true">
                  <a:solidFill>
                    <a:srgbClr val="505050"/>
                  </a:solidFill>
                  <a:latin typeface="Avenir Medium Italics"/>
                  <a:ea typeface="Avenir Medium Italics"/>
                  <a:cs typeface="Avenir Medium Italics"/>
                  <a:sym typeface="Avenir Medium Italics"/>
                </a:rPr>
                <a:t>Total for </a:t>
              </a:r>
              <a:r>
                <a:rPr lang="en-US" b="true" sz="1020" i="true">
                  <a:solidFill>
                    <a:srgbClr val="CC0000"/>
                  </a:solidFill>
                  <a:latin typeface="Avenir Medium Italics"/>
                  <a:ea typeface="Avenir Medium Italics"/>
                  <a:cs typeface="Avenir Medium Italics"/>
                  <a:sym typeface="Avenir Medium Italics"/>
                </a:rPr>
                <a:t>x</a:t>
              </a:r>
              <a:r>
                <a:rPr lang="en-US" b="true" sz="1020" i="true">
                  <a:solidFill>
                    <a:srgbClr val="505050"/>
                  </a:solidFill>
                  <a:latin typeface="Avenir Medium Italics"/>
                  <a:ea typeface="Avenir Medium Italics"/>
                  <a:cs typeface="Avenir Medium Italics"/>
                  <a:sym typeface="Avenir Medium Italics"/>
                </a:rPr>
                <a:t> nights inc tax</a:t>
              </a:r>
            </a:p>
            <a:p>
              <a:pPr algn="r">
                <a:lnSpc>
                  <a:spcPts val="1890"/>
                </a:lnSpc>
              </a:pPr>
              <a:r>
                <a:rPr lang="en-US" b="true" sz="1350" i="true">
                  <a:solidFill>
                    <a:srgbClr val="505050"/>
                  </a:solidFill>
                  <a:latin typeface="Avenir Medium Italics"/>
                  <a:ea typeface="Avenir Medium Italics"/>
                  <a:cs typeface="Avenir Medium Italics"/>
                  <a:sym typeface="Avenir Medium Italics"/>
                </a:rPr>
                <a:t>€ </a:t>
              </a:r>
              <a:r>
                <a:rPr lang="en-US" b="true" sz="1350" i="true">
                  <a:solidFill>
                    <a:srgbClr val="CC0000"/>
                  </a:solidFill>
                  <a:latin typeface="Avenir Medium Italics"/>
                  <a:ea typeface="Avenir Medium Italics"/>
                  <a:cs typeface="Avenir Medium Italics"/>
                  <a:sym typeface="Avenir Medium Italics"/>
                </a:rPr>
                <a:t>price</a:t>
              </a:r>
            </a:p>
            <a:p>
              <a:pPr algn="r">
                <a:lnSpc>
                  <a:spcPts val="1641"/>
                </a:lnSpc>
              </a:pPr>
              <a:r>
                <a:rPr lang="en-US" b="true" sz="1020" i="true">
                  <a:solidFill>
                    <a:srgbClr val="505050"/>
                  </a:solidFill>
                  <a:latin typeface="Avenir Medium Italics"/>
                  <a:ea typeface="Avenir Medium Italics"/>
                  <a:cs typeface="Avenir Medium Italics"/>
                  <a:sym typeface="Avenir Medium Italics"/>
                </a:rPr>
                <a:t>Average per night inc tax</a:t>
              </a:r>
            </a:p>
            <a:p>
              <a:pPr algn="r">
                <a:lnSpc>
                  <a:spcPts val="1641"/>
                </a:lnSpc>
              </a:pPr>
              <a:r>
                <a:rPr lang="en-US" b="true" sz="1020" i="true">
                  <a:solidFill>
                    <a:srgbClr val="505050"/>
                  </a:solidFill>
                  <a:latin typeface="Avenir Medium Italics"/>
                  <a:ea typeface="Avenir Medium Italics"/>
                  <a:cs typeface="Avenir Medium Italics"/>
                  <a:sym typeface="Avenir Medium Italics"/>
                </a:rPr>
                <a:t>€ </a:t>
              </a:r>
              <a:r>
                <a:rPr lang="en-US" b="true" sz="1020" i="true">
                  <a:solidFill>
                    <a:srgbClr val="CC0000"/>
                  </a:solidFill>
                  <a:latin typeface="Avenir Medium Italics"/>
                  <a:ea typeface="Avenir Medium Italics"/>
                  <a:cs typeface="Avenir Medium Italics"/>
                  <a:sym typeface="Avenir Medium Italics"/>
                </a:rPr>
                <a:t>price</a:t>
              </a:r>
            </a:p>
          </p:txBody>
        </p:sp>
        <p:grpSp>
          <p:nvGrpSpPr>
            <p:cNvPr name="Group 45" id="45"/>
            <p:cNvGrpSpPr/>
            <p:nvPr/>
          </p:nvGrpSpPr>
          <p:grpSpPr>
            <a:xfrm rot="0">
              <a:off x="46061" y="0"/>
              <a:ext cx="9585625" cy="3620813"/>
              <a:chOff x="0" y="0"/>
              <a:chExt cx="6388100" cy="2413000"/>
            </a:xfrm>
          </p:grpSpPr>
          <p:sp>
            <p:nvSpPr>
              <p:cNvPr name="Freeform 46" id="46"/>
              <p:cNvSpPr/>
              <p:nvPr/>
            </p:nvSpPr>
            <p:spPr>
              <a:xfrm flipH="false" flipV="false" rot="0">
                <a:off x="0" y="0"/>
                <a:ext cx="6388100" cy="2413000"/>
              </a:xfrm>
              <a:custGeom>
                <a:avLst/>
                <a:gdLst/>
                <a:ahLst/>
                <a:cxnLst/>
                <a:rect r="r" b="b" t="t" l="l"/>
                <a:pathLst>
                  <a:path h="2413000" w="6388100">
                    <a:moveTo>
                      <a:pt x="0" y="0"/>
                    </a:moveTo>
                    <a:lnTo>
                      <a:pt x="6388100" y="0"/>
                    </a:lnTo>
                    <a:lnTo>
                      <a:pt x="6388100" y="2413000"/>
                    </a:lnTo>
                    <a:lnTo>
                      <a:pt x="0" y="2413000"/>
                    </a:lnTo>
                    <a:lnTo>
                      <a:pt x="0" y="0"/>
                    </a:lnTo>
                    <a:close/>
                  </a:path>
                </a:pathLst>
              </a:custGeom>
              <a:blipFill>
                <a:blip r:embed="rId6"/>
                <a:stretch>
                  <a:fillRect l="0" t="-1584" r="0" b="-1584"/>
                </a:stretch>
              </a:blipFill>
            </p:spPr>
          </p:sp>
        </p:grpSp>
      </p:grpSp>
      <p:grpSp>
        <p:nvGrpSpPr>
          <p:cNvPr name="Group 47" id="47"/>
          <p:cNvGrpSpPr/>
          <p:nvPr/>
        </p:nvGrpSpPr>
        <p:grpSpPr>
          <a:xfrm rot="0">
            <a:off x="-84048" y="15237194"/>
            <a:ext cx="10455084" cy="647136"/>
            <a:chOff x="0" y="0"/>
            <a:chExt cx="7899400" cy="488950"/>
          </a:xfrm>
        </p:grpSpPr>
        <p:sp>
          <p:nvSpPr>
            <p:cNvPr name="Freeform 48" id="48"/>
            <p:cNvSpPr/>
            <p:nvPr/>
          </p:nvSpPr>
          <p:spPr>
            <a:xfrm flipH="false" flipV="false" rot="0">
              <a:off x="63500" y="63500"/>
              <a:ext cx="7772400" cy="361950"/>
            </a:xfrm>
            <a:custGeom>
              <a:avLst/>
              <a:gdLst/>
              <a:ahLst/>
              <a:cxnLst/>
              <a:rect r="r" b="b" t="t" l="l"/>
              <a:pathLst>
                <a:path h="361950" w="7772400">
                  <a:moveTo>
                    <a:pt x="0" y="361950"/>
                  </a:moveTo>
                  <a:lnTo>
                    <a:pt x="7772400" y="361950"/>
                  </a:lnTo>
                  <a:lnTo>
                    <a:pt x="7772400" y="0"/>
                  </a:lnTo>
                  <a:lnTo>
                    <a:pt x="0" y="0"/>
                  </a:lnTo>
                  <a:close/>
                </a:path>
              </a:pathLst>
            </a:custGeom>
            <a:solidFill>
              <a:srgbClr val="FFFFFF"/>
            </a:solidFill>
          </p:spPr>
        </p:sp>
        <p:sp>
          <p:nvSpPr>
            <p:cNvPr name="Freeform 49" id="49"/>
            <p:cNvSpPr/>
            <p:nvPr/>
          </p:nvSpPr>
          <p:spPr>
            <a:xfrm flipH="false" flipV="false" rot="0">
              <a:off x="63500" y="63500"/>
              <a:ext cx="7772400" cy="4826"/>
            </a:xfrm>
            <a:custGeom>
              <a:avLst/>
              <a:gdLst/>
              <a:ahLst/>
              <a:cxnLst/>
              <a:rect r="r" b="b" t="t" l="l"/>
              <a:pathLst>
                <a:path h="4826" w="7772400">
                  <a:moveTo>
                    <a:pt x="0" y="0"/>
                  </a:moveTo>
                  <a:lnTo>
                    <a:pt x="7772400" y="0"/>
                  </a:lnTo>
                  <a:lnTo>
                    <a:pt x="7772400" y="4826"/>
                  </a:lnTo>
                  <a:lnTo>
                    <a:pt x="0" y="4826"/>
                  </a:lnTo>
                </a:path>
              </a:pathLst>
            </a:custGeom>
            <a:solidFill>
              <a:srgbClr val="191919"/>
            </a:solidFill>
          </p:spPr>
        </p:sp>
      </p:grpSp>
      <p:sp>
        <p:nvSpPr>
          <p:cNvPr name="TextBox 50" id="50"/>
          <p:cNvSpPr txBox="true"/>
          <p:nvPr/>
        </p:nvSpPr>
        <p:spPr>
          <a:xfrm rot="0">
            <a:off x="276085" y="15458677"/>
            <a:ext cx="3809909" cy="175121"/>
          </a:xfrm>
          <a:prstGeom prst="rect">
            <a:avLst/>
          </a:prstGeom>
        </p:spPr>
        <p:txBody>
          <a:bodyPr anchor="t" rtlCol="false" tIns="0" lIns="0" bIns="0" rIns="0">
            <a:spAutoFit/>
          </a:bodyPr>
          <a:lstStyle/>
          <a:p>
            <a:pPr algn="l">
              <a:lnSpc>
                <a:spcPts val="1260"/>
              </a:lnSpc>
            </a:pPr>
            <a:r>
              <a:rPr lang="en-US" b="true" sz="900">
                <a:solidFill>
                  <a:srgbClr val="505050"/>
                </a:solidFill>
                <a:latin typeface="Avenir Ultra-Bold"/>
                <a:ea typeface="Avenir Ultra-Bold"/>
                <a:cs typeface="Avenir Ultra-Bold"/>
                <a:sym typeface="Avenir Ultra-Bold"/>
              </a:rPr>
              <a:t>All prices listed are subject to availability and change, none are on hold.</a:t>
            </a:r>
          </a:p>
        </p:txBody>
      </p:sp>
      <p:grpSp>
        <p:nvGrpSpPr>
          <p:cNvPr name="Group 51" id="51"/>
          <p:cNvGrpSpPr/>
          <p:nvPr/>
        </p:nvGrpSpPr>
        <p:grpSpPr>
          <a:xfrm rot="0">
            <a:off x="0" y="3628605"/>
            <a:ext cx="10287000" cy="3926961"/>
            <a:chOff x="0" y="0"/>
            <a:chExt cx="10363200" cy="3956050"/>
          </a:xfrm>
        </p:grpSpPr>
        <p:sp>
          <p:nvSpPr>
            <p:cNvPr name="Freeform 52" id="52"/>
            <p:cNvSpPr/>
            <p:nvPr/>
          </p:nvSpPr>
          <p:spPr>
            <a:xfrm flipH="false" flipV="false" rot="0">
              <a:off x="0" y="0"/>
              <a:ext cx="10363200" cy="3956050"/>
            </a:xfrm>
            <a:custGeom>
              <a:avLst/>
              <a:gdLst/>
              <a:ahLst/>
              <a:cxnLst/>
              <a:rect r="r" b="b" t="t" l="l"/>
              <a:pathLst>
                <a:path h="3956050" w="10363200">
                  <a:moveTo>
                    <a:pt x="0" y="0"/>
                  </a:moveTo>
                  <a:lnTo>
                    <a:pt x="10363200" y="0"/>
                  </a:lnTo>
                  <a:lnTo>
                    <a:pt x="10363200" y="3956050"/>
                  </a:lnTo>
                  <a:lnTo>
                    <a:pt x="0" y="3956050"/>
                  </a:lnTo>
                  <a:lnTo>
                    <a:pt x="0" y="0"/>
                  </a:lnTo>
                  <a:close/>
                </a:path>
              </a:pathLst>
            </a:custGeom>
            <a:blipFill>
              <a:blip r:embed="rId6"/>
              <a:stretch>
                <a:fillRect l="0" t="-1042" r="0" b="-1042"/>
              </a:stretch>
            </a:blipFill>
          </p:spPr>
        </p:sp>
      </p:grpSp>
      <p:grpSp>
        <p:nvGrpSpPr>
          <p:cNvPr name="Group 53" id="53"/>
          <p:cNvGrpSpPr/>
          <p:nvPr/>
        </p:nvGrpSpPr>
        <p:grpSpPr>
          <a:xfrm rot="0">
            <a:off x="2571750" y="5616051"/>
            <a:ext cx="5143500" cy="1293023"/>
            <a:chOff x="0" y="0"/>
            <a:chExt cx="3886200" cy="976948"/>
          </a:xfrm>
        </p:grpSpPr>
        <p:sp>
          <p:nvSpPr>
            <p:cNvPr name="Freeform 54" id="54"/>
            <p:cNvSpPr/>
            <p:nvPr/>
          </p:nvSpPr>
          <p:spPr>
            <a:xfrm flipH="false" flipV="false" rot="0">
              <a:off x="0" y="0"/>
              <a:ext cx="3886200" cy="976884"/>
            </a:xfrm>
            <a:custGeom>
              <a:avLst/>
              <a:gdLst/>
              <a:ahLst/>
              <a:cxnLst/>
              <a:rect r="r" b="b" t="t" l="l"/>
              <a:pathLst>
                <a:path h="976884" w="3886200">
                  <a:moveTo>
                    <a:pt x="0" y="976884"/>
                  </a:moveTo>
                  <a:lnTo>
                    <a:pt x="3886200" y="976884"/>
                  </a:lnTo>
                  <a:lnTo>
                    <a:pt x="3886200" y="0"/>
                  </a:lnTo>
                  <a:lnTo>
                    <a:pt x="0" y="0"/>
                  </a:lnTo>
                  <a:close/>
                </a:path>
              </a:pathLst>
            </a:custGeom>
            <a:solidFill>
              <a:srgbClr val="191919">
                <a:alpha val="35686"/>
              </a:srgbClr>
            </a:solidFill>
          </p:spPr>
        </p:sp>
      </p:grpSp>
      <p:sp>
        <p:nvSpPr>
          <p:cNvPr name="TextBox 55" id="55"/>
          <p:cNvSpPr txBox="true"/>
          <p:nvPr/>
        </p:nvSpPr>
        <p:spPr>
          <a:xfrm rot="0">
            <a:off x="3246488" y="5943291"/>
            <a:ext cx="3866967" cy="337432"/>
          </a:xfrm>
          <a:prstGeom prst="rect">
            <a:avLst/>
          </a:prstGeom>
        </p:spPr>
        <p:txBody>
          <a:bodyPr anchor="t" rtlCol="false" tIns="0" lIns="0" bIns="0" rIns="0">
            <a:spAutoFit/>
          </a:bodyPr>
          <a:lstStyle/>
          <a:p>
            <a:pPr algn="ctr">
              <a:lnSpc>
                <a:spcPts val="2487"/>
              </a:lnSpc>
            </a:pPr>
            <a:r>
              <a:rPr lang="en-US" b="true" sz="1786" i="true">
                <a:solidFill>
                  <a:srgbClr val="CC0000"/>
                </a:solidFill>
                <a:latin typeface="Avenir Medium Italics"/>
                <a:ea typeface="Avenir Medium Italics"/>
                <a:cs typeface="Avenir Medium Italics"/>
                <a:sym typeface="Avenir Medium Italics"/>
              </a:rPr>
              <a:t>HOTEL NAME</a:t>
            </a:r>
          </a:p>
        </p:txBody>
      </p:sp>
      <p:sp>
        <p:nvSpPr>
          <p:cNvPr name="TextBox 56" id="56"/>
          <p:cNvSpPr txBox="true"/>
          <p:nvPr/>
        </p:nvSpPr>
        <p:spPr>
          <a:xfrm rot="0">
            <a:off x="5179971" y="6293784"/>
            <a:ext cx="40291" cy="342041"/>
          </a:xfrm>
          <a:prstGeom prst="rect">
            <a:avLst/>
          </a:prstGeom>
        </p:spPr>
        <p:txBody>
          <a:bodyPr anchor="t" rtlCol="false" tIns="0" lIns="0" bIns="0" rIns="0">
            <a:spAutoFit/>
          </a:bodyPr>
          <a:lstStyle/>
          <a:p>
            <a:pPr algn="l">
              <a:lnSpc>
                <a:spcPts val="2871"/>
              </a:lnSpc>
            </a:pPr>
            <a:r>
              <a:rPr lang="en-US" b="true" sz="1244">
                <a:solidFill>
                  <a:srgbClr val="FFFFFF"/>
                </a:solidFill>
                <a:latin typeface="Avenir Medium"/>
                <a:ea typeface="Avenir Medium"/>
                <a:cs typeface="Avenir Medium"/>
                <a:sym typeface="Avenir Medium"/>
              </a:rPr>
              <a:t> </a:t>
            </a:r>
          </a:p>
        </p:txBody>
      </p:sp>
      <p:sp>
        <p:nvSpPr>
          <p:cNvPr name="TextBox 57" id="57"/>
          <p:cNvSpPr txBox="true"/>
          <p:nvPr/>
        </p:nvSpPr>
        <p:spPr>
          <a:xfrm rot="0">
            <a:off x="4546482" y="6304822"/>
            <a:ext cx="1194048" cy="235099"/>
          </a:xfrm>
          <a:prstGeom prst="rect">
            <a:avLst/>
          </a:prstGeom>
        </p:spPr>
        <p:txBody>
          <a:bodyPr anchor="t" rtlCol="false" tIns="0" lIns="0" bIns="0" rIns="0">
            <a:spAutoFit/>
          </a:bodyPr>
          <a:lstStyle/>
          <a:p>
            <a:pPr algn="ctr">
              <a:lnSpc>
                <a:spcPts val="1741"/>
              </a:lnSpc>
            </a:pPr>
            <a:r>
              <a:rPr lang="en-US" b="true" sz="1244">
                <a:solidFill>
                  <a:srgbClr val="CC0000"/>
                </a:solidFill>
                <a:latin typeface="Avenir Medium"/>
                <a:ea typeface="Avenir Medium"/>
                <a:cs typeface="Avenir Medium"/>
                <a:sym typeface="Avenir Medium"/>
              </a:rPr>
              <a:t>CITY, COUNTRY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83096" y="868428"/>
            <a:ext cx="8229600" cy="546609"/>
          </a:xfrm>
          <a:prstGeom prst="rect">
            <a:avLst/>
          </a:prstGeom>
        </p:spPr>
        <p:txBody>
          <a:bodyPr anchor="t" rtlCol="false" tIns="0" lIns="0" bIns="0" rIns="0">
            <a:spAutoFit/>
          </a:bodyPr>
          <a:lstStyle/>
          <a:p>
            <a:pPr algn="ctr" marL="0" indent="0" lvl="1">
              <a:lnSpc>
                <a:spcPts val="4521"/>
              </a:lnSpc>
              <a:spcBef>
                <a:spcPct val="0"/>
              </a:spcBef>
            </a:pPr>
            <a:r>
              <a:rPr lang="en-US" b="true" sz="3229" spc="1178">
                <a:solidFill>
                  <a:srgbClr val="131F5B"/>
                </a:solidFill>
                <a:latin typeface="Montserrat Bold"/>
                <a:ea typeface="Montserrat Bold"/>
                <a:cs typeface="Montserrat Bold"/>
                <a:sym typeface="Montserrat Bold"/>
              </a:rPr>
              <a:t>YOUR ACCOMMODATION</a:t>
            </a:r>
          </a:p>
        </p:txBody>
      </p:sp>
      <p:sp>
        <p:nvSpPr>
          <p:cNvPr name="AutoShape 3" id="3"/>
          <p:cNvSpPr/>
          <p:nvPr/>
        </p:nvSpPr>
        <p:spPr>
          <a:xfrm flipH="true">
            <a:off x="568244" y="1536535"/>
            <a:ext cx="9258300" cy="0"/>
          </a:xfrm>
          <a:prstGeom prst="line">
            <a:avLst/>
          </a:prstGeom>
          <a:ln cap="flat" w="38100">
            <a:solidFill>
              <a:srgbClr val="131F5B"/>
            </a:solidFill>
            <a:prstDash val="solid"/>
            <a:headEnd type="none" len="sm" w="sm"/>
            <a:tailEnd type="none" len="sm" w="sm"/>
          </a:ln>
        </p:spPr>
      </p:sp>
      <p:sp>
        <p:nvSpPr>
          <p:cNvPr name="TextBox 4" id="4"/>
          <p:cNvSpPr txBox="true"/>
          <p:nvPr/>
        </p:nvSpPr>
        <p:spPr>
          <a:xfrm rot="0">
            <a:off x="3269869" y="1707985"/>
            <a:ext cx="3629025" cy="389256"/>
          </a:xfrm>
          <a:prstGeom prst="rect">
            <a:avLst/>
          </a:prstGeom>
        </p:spPr>
        <p:txBody>
          <a:bodyPr anchor="t" rtlCol="false" tIns="0" lIns="0" bIns="0" rIns="0">
            <a:spAutoFit/>
          </a:bodyPr>
          <a:lstStyle/>
          <a:p>
            <a:pPr algn="ctr">
              <a:lnSpc>
                <a:spcPts val="3219"/>
              </a:lnSpc>
              <a:spcBef>
                <a:spcPct val="0"/>
              </a:spcBef>
            </a:pPr>
            <a:r>
              <a:rPr lang="en-US" b="true" sz="2299" spc="839">
                <a:solidFill>
                  <a:srgbClr val="CC0000"/>
                </a:solidFill>
                <a:latin typeface="Montserrat Bold"/>
                <a:ea typeface="Montserrat Bold"/>
                <a:cs typeface="Montserrat Bold"/>
                <a:sym typeface="Montserrat Bold"/>
              </a:rPr>
              <a:t>HOTEL NAME C</a:t>
            </a:r>
          </a:p>
        </p:txBody>
      </p:sp>
      <p:sp>
        <p:nvSpPr>
          <p:cNvPr name="TextBox 5" id="5"/>
          <p:cNvSpPr txBox="true"/>
          <p:nvPr/>
        </p:nvSpPr>
        <p:spPr>
          <a:xfrm rot="0">
            <a:off x="385769" y="2777294"/>
            <a:ext cx="933944" cy="213332"/>
          </a:xfrm>
          <a:prstGeom prst="rect">
            <a:avLst/>
          </a:prstGeom>
        </p:spPr>
        <p:txBody>
          <a:bodyPr anchor="t" rtlCol="false" tIns="0" lIns="0" bIns="0" rIns="0">
            <a:spAutoFit/>
          </a:bodyPr>
          <a:lstStyle/>
          <a:p>
            <a:pPr algn="l">
              <a:lnSpc>
                <a:spcPts val="1836"/>
              </a:lnSpc>
            </a:pPr>
            <a:r>
              <a:rPr lang="en-US" b="true" sz="992" i="true">
                <a:solidFill>
                  <a:srgbClr val="000000"/>
                </a:solidFill>
                <a:latin typeface="Montserrat Medium Italics"/>
                <a:ea typeface="Montserrat Medium Italics"/>
                <a:cs typeface="Montserrat Medium Italics"/>
                <a:sym typeface="Montserrat Medium Italics"/>
              </a:rPr>
              <a:t>Check in</a:t>
            </a:r>
          </a:p>
        </p:txBody>
      </p:sp>
      <p:sp>
        <p:nvSpPr>
          <p:cNvPr name="TextBox 6" id="6"/>
          <p:cNvSpPr txBox="true"/>
          <p:nvPr/>
        </p:nvSpPr>
        <p:spPr>
          <a:xfrm rot="0">
            <a:off x="532006" y="3013177"/>
            <a:ext cx="32147" cy="213332"/>
          </a:xfrm>
          <a:prstGeom prst="rect">
            <a:avLst/>
          </a:prstGeom>
        </p:spPr>
        <p:txBody>
          <a:bodyPr anchor="t" rtlCol="false" tIns="0" lIns="0" bIns="0" rIns="0">
            <a:spAutoFit/>
          </a:bodyPr>
          <a:lstStyle/>
          <a:p>
            <a:pPr algn="l">
              <a:lnSpc>
                <a:spcPts val="1836"/>
              </a:lnSpc>
            </a:pPr>
            <a:r>
              <a:rPr lang="en-US" b="true" sz="992">
                <a:solidFill>
                  <a:srgbClr val="505050"/>
                </a:solidFill>
                <a:latin typeface="Montserrat Ultra-Bold"/>
                <a:ea typeface="Montserrat Ultra-Bold"/>
                <a:cs typeface="Montserrat Ultra-Bold"/>
                <a:sym typeface="Montserrat Ultra-Bold"/>
              </a:rPr>
              <a:t> </a:t>
            </a:r>
          </a:p>
        </p:txBody>
      </p:sp>
      <p:sp>
        <p:nvSpPr>
          <p:cNvPr name="TextBox 7" id="7"/>
          <p:cNvSpPr txBox="true"/>
          <p:nvPr/>
        </p:nvSpPr>
        <p:spPr>
          <a:xfrm rot="0">
            <a:off x="2234113" y="2777294"/>
            <a:ext cx="930331" cy="213332"/>
          </a:xfrm>
          <a:prstGeom prst="rect">
            <a:avLst/>
          </a:prstGeom>
        </p:spPr>
        <p:txBody>
          <a:bodyPr anchor="t" rtlCol="false" tIns="0" lIns="0" bIns="0" rIns="0">
            <a:spAutoFit/>
          </a:bodyPr>
          <a:lstStyle/>
          <a:p>
            <a:pPr algn="l">
              <a:lnSpc>
                <a:spcPts val="1836"/>
              </a:lnSpc>
            </a:pPr>
            <a:r>
              <a:rPr lang="en-US" b="true" sz="992" i="true">
                <a:solidFill>
                  <a:srgbClr val="000000"/>
                </a:solidFill>
                <a:latin typeface="Montserrat Medium Italics"/>
                <a:ea typeface="Montserrat Medium Italics"/>
                <a:cs typeface="Montserrat Medium Italics"/>
                <a:sym typeface="Montserrat Medium Italics"/>
              </a:rPr>
              <a:t>Check out</a:t>
            </a:r>
          </a:p>
        </p:txBody>
      </p:sp>
      <p:sp>
        <p:nvSpPr>
          <p:cNvPr name="TextBox 8" id="8"/>
          <p:cNvSpPr txBox="true"/>
          <p:nvPr/>
        </p:nvSpPr>
        <p:spPr>
          <a:xfrm rot="0">
            <a:off x="2380350" y="3013177"/>
            <a:ext cx="32147" cy="213332"/>
          </a:xfrm>
          <a:prstGeom prst="rect">
            <a:avLst/>
          </a:prstGeom>
        </p:spPr>
        <p:txBody>
          <a:bodyPr anchor="t" rtlCol="false" tIns="0" lIns="0" bIns="0" rIns="0">
            <a:spAutoFit/>
          </a:bodyPr>
          <a:lstStyle/>
          <a:p>
            <a:pPr algn="l">
              <a:lnSpc>
                <a:spcPts val="1836"/>
              </a:lnSpc>
            </a:pPr>
            <a:r>
              <a:rPr lang="en-US" b="true" sz="992">
                <a:solidFill>
                  <a:srgbClr val="505050"/>
                </a:solidFill>
                <a:latin typeface="Montserrat Ultra-Bold"/>
                <a:ea typeface="Montserrat Ultra-Bold"/>
                <a:cs typeface="Montserrat Ultra-Bold"/>
                <a:sym typeface="Montserrat Ultra-Bold"/>
              </a:rPr>
              <a:t> </a:t>
            </a:r>
          </a:p>
        </p:txBody>
      </p:sp>
      <p:sp>
        <p:nvSpPr>
          <p:cNvPr name="TextBox 9" id="9"/>
          <p:cNvSpPr txBox="true"/>
          <p:nvPr/>
        </p:nvSpPr>
        <p:spPr>
          <a:xfrm rot="0">
            <a:off x="4082483" y="2777294"/>
            <a:ext cx="685711" cy="213332"/>
          </a:xfrm>
          <a:prstGeom prst="rect">
            <a:avLst/>
          </a:prstGeom>
        </p:spPr>
        <p:txBody>
          <a:bodyPr anchor="t" rtlCol="false" tIns="0" lIns="0" bIns="0" rIns="0">
            <a:spAutoFit/>
          </a:bodyPr>
          <a:lstStyle/>
          <a:p>
            <a:pPr algn="l">
              <a:lnSpc>
                <a:spcPts val="1836"/>
              </a:lnSpc>
            </a:pPr>
            <a:r>
              <a:rPr lang="en-US" sz="992">
                <a:solidFill>
                  <a:srgbClr val="000000"/>
                </a:solidFill>
                <a:latin typeface="Montserrat"/>
                <a:ea typeface="Montserrat"/>
                <a:cs typeface="Montserrat"/>
                <a:sym typeface="Montserrat"/>
              </a:rPr>
              <a:t>Nights </a:t>
            </a:r>
          </a:p>
        </p:txBody>
      </p:sp>
      <p:sp>
        <p:nvSpPr>
          <p:cNvPr name="TextBox 10" id="10"/>
          <p:cNvSpPr txBox="true"/>
          <p:nvPr/>
        </p:nvSpPr>
        <p:spPr>
          <a:xfrm rot="0">
            <a:off x="385769" y="3060802"/>
            <a:ext cx="1178504" cy="165287"/>
          </a:xfrm>
          <a:prstGeom prst="rect">
            <a:avLst/>
          </a:prstGeom>
        </p:spPr>
        <p:txBody>
          <a:bodyPr anchor="t" rtlCol="false" tIns="0" lIns="0" bIns="0" rIns="0">
            <a:spAutoFit/>
          </a:bodyPr>
          <a:lstStyle/>
          <a:p>
            <a:pPr algn="l">
              <a:lnSpc>
                <a:spcPts val="1389"/>
              </a:lnSpc>
            </a:pPr>
            <a:r>
              <a:rPr lang="en-US" sz="992">
                <a:solidFill>
                  <a:srgbClr val="CC0000"/>
                </a:solidFill>
                <a:latin typeface="Montserrat"/>
                <a:ea typeface="Montserrat"/>
                <a:cs typeface="Montserrat"/>
                <a:sym typeface="Montserrat"/>
              </a:rPr>
              <a:t>Date</a:t>
            </a:r>
            <a:r>
              <a:rPr lang="en-US" sz="992">
                <a:solidFill>
                  <a:srgbClr val="CC0000"/>
                </a:solidFill>
                <a:latin typeface="Montserrat"/>
                <a:ea typeface="Montserrat"/>
                <a:cs typeface="Montserrat"/>
                <a:sym typeface="Montserrat"/>
              </a:rPr>
              <a:t> Month Year</a:t>
            </a:r>
          </a:p>
        </p:txBody>
      </p:sp>
      <p:sp>
        <p:nvSpPr>
          <p:cNvPr name="TextBox 11" id="11"/>
          <p:cNvSpPr txBox="true"/>
          <p:nvPr/>
        </p:nvSpPr>
        <p:spPr>
          <a:xfrm rot="0">
            <a:off x="2234113" y="3060802"/>
            <a:ext cx="1158851" cy="165287"/>
          </a:xfrm>
          <a:prstGeom prst="rect">
            <a:avLst/>
          </a:prstGeom>
        </p:spPr>
        <p:txBody>
          <a:bodyPr anchor="t" rtlCol="false" tIns="0" lIns="0" bIns="0" rIns="0">
            <a:spAutoFit/>
          </a:bodyPr>
          <a:lstStyle/>
          <a:p>
            <a:pPr algn="l">
              <a:lnSpc>
                <a:spcPts val="1389"/>
              </a:lnSpc>
            </a:pPr>
            <a:r>
              <a:rPr lang="en-US" sz="992">
                <a:solidFill>
                  <a:srgbClr val="CC0000"/>
                </a:solidFill>
                <a:latin typeface="Montserrat"/>
                <a:ea typeface="Montserrat"/>
                <a:cs typeface="Montserrat"/>
                <a:sym typeface="Montserrat"/>
              </a:rPr>
              <a:t>Date Month Year </a:t>
            </a:r>
          </a:p>
        </p:txBody>
      </p:sp>
      <p:sp>
        <p:nvSpPr>
          <p:cNvPr name="TextBox 12" id="12"/>
          <p:cNvSpPr txBox="true"/>
          <p:nvPr/>
        </p:nvSpPr>
        <p:spPr>
          <a:xfrm rot="0">
            <a:off x="4082483" y="3076351"/>
            <a:ext cx="1158851" cy="165287"/>
          </a:xfrm>
          <a:prstGeom prst="rect">
            <a:avLst/>
          </a:prstGeom>
        </p:spPr>
        <p:txBody>
          <a:bodyPr anchor="t" rtlCol="false" tIns="0" lIns="0" bIns="0" rIns="0">
            <a:spAutoFit/>
          </a:bodyPr>
          <a:lstStyle/>
          <a:p>
            <a:pPr algn="l">
              <a:lnSpc>
                <a:spcPts val="1389"/>
              </a:lnSpc>
            </a:pPr>
            <a:r>
              <a:rPr lang="en-US" sz="992">
                <a:solidFill>
                  <a:srgbClr val="CC0000"/>
                </a:solidFill>
                <a:latin typeface="Montserrat"/>
                <a:ea typeface="Montserrat"/>
                <a:cs typeface="Montserrat"/>
                <a:sym typeface="Montserrat"/>
              </a:rPr>
              <a:t>Number </a:t>
            </a:r>
          </a:p>
        </p:txBody>
      </p:sp>
      <p:sp>
        <p:nvSpPr>
          <p:cNvPr name="Freeform 13" id="13"/>
          <p:cNvSpPr/>
          <p:nvPr/>
        </p:nvSpPr>
        <p:spPr>
          <a:xfrm flipH="false" flipV="false" rot="0">
            <a:off x="1644460" y="7799403"/>
            <a:ext cx="1260892" cy="254489"/>
          </a:xfrm>
          <a:custGeom>
            <a:avLst/>
            <a:gdLst/>
            <a:ahLst/>
            <a:cxnLst/>
            <a:rect r="r" b="b" t="t" l="l"/>
            <a:pathLst>
              <a:path h="254489" w="1260892">
                <a:moveTo>
                  <a:pt x="0" y="0"/>
                </a:moveTo>
                <a:lnTo>
                  <a:pt x="1260891" y="0"/>
                </a:lnTo>
                <a:lnTo>
                  <a:pt x="1260891" y="254488"/>
                </a:lnTo>
                <a:lnTo>
                  <a:pt x="0" y="2544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4" id="14"/>
          <p:cNvGrpSpPr/>
          <p:nvPr/>
        </p:nvGrpSpPr>
        <p:grpSpPr>
          <a:xfrm rot="0">
            <a:off x="-84048" y="9037028"/>
            <a:ext cx="10371048" cy="34296"/>
            <a:chOff x="0" y="0"/>
            <a:chExt cx="7200900" cy="23812"/>
          </a:xfrm>
        </p:grpSpPr>
        <p:sp>
          <p:nvSpPr>
            <p:cNvPr name="Freeform 15" id="15"/>
            <p:cNvSpPr/>
            <p:nvPr/>
          </p:nvSpPr>
          <p:spPr>
            <a:xfrm flipH="false" flipV="false" rot="0">
              <a:off x="0" y="0"/>
              <a:ext cx="7200900" cy="23876"/>
            </a:xfrm>
            <a:custGeom>
              <a:avLst/>
              <a:gdLst/>
              <a:ahLst/>
              <a:cxnLst/>
              <a:rect r="r" b="b" t="t" l="l"/>
              <a:pathLst>
                <a:path h="23876" w="7200900">
                  <a:moveTo>
                    <a:pt x="0" y="0"/>
                  </a:moveTo>
                  <a:lnTo>
                    <a:pt x="7200900" y="0"/>
                  </a:lnTo>
                  <a:lnTo>
                    <a:pt x="7200900" y="23876"/>
                  </a:lnTo>
                  <a:lnTo>
                    <a:pt x="0" y="23876"/>
                  </a:lnTo>
                </a:path>
              </a:pathLst>
            </a:custGeom>
            <a:solidFill>
              <a:srgbClr val="FFFFFF"/>
            </a:solidFill>
          </p:spPr>
        </p:sp>
      </p:grpSp>
      <p:grpSp>
        <p:nvGrpSpPr>
          <p:cNvPr name="Group 16" id="16"/>
          <p:cNvGrpSpPr/>
          <p:nvPr/>
        </p:nvGrpSpPr>
        <p:grpSpPr>
          <a:xfrm rot="0">
            <a:off x="7112650" y="8369262"/>
            <a:ext cx="1438983" cy="6859"/>
            <a:chOff x="0" y="0"/>
            <a:chExt cx="999122" cy="4762"/>
          </a:xfrm>
        </p:grpSpPr>
        <p:sp>
          <p:nvSpPr>
            <p:cNvPr name="Freeform 17" id="17"/>
            <p:cNvSpPr/>
            <p:nvPr/>
          </p:nvSpPr>
          <p:spPr>
            <a:xfrm flipH="false" flipV="false" rot="0">
              <a:off x="0" y="0"/>
              <a:ext cx="999109" cy="4826"/>
            </a:xfrm>
            <a:custGeom>
              <a:avLst/>
              <a:gdLst/>
              <a:ahLst/>
              <a:cxnLst/>
              <a:rect r="r" b="b" t="t" l="l"/>
              <a:pathLst>
                <a:path h="4826" w="999109">
                  <a:moveTo>
                    <a:pt x="0" y="0"/>
                  </a:moveTo>
                  <a:lnTo>
                    <a:pt x="999109" y="0"/>
                  </a:lnTo>
                  <a:lnTo>
                    <a:pt x="999109" y="4826"/>
                  </a:lnTo>
                  <a:lnTo>
                    <a:pt x="0" y="4826"/>
                  </a:lnTo>
                </a:path>
              </a:pathLst>
            </a:custGeom>
            <a:solidFill>
              <a:srgbClr val="505050"/>
            </a:solidFill>
          </p:spPr>
        </p:sp>
      </p:grpSp>
      <p:grpSp>
        <p:nvGrpSpPr>
          <p:cNvPr name="Group 18" id="18"/>
          <p:cNvGrpSpPr/>
          <p:nvPr/>
        </p:nvGrpSpPr>
        <p:grpSpPr>
          <a:xfrm rot="0">
            <a:off x="1651319" y="4241763"/>
            <a:ext cx="6900314" cy="2606480"/>
            <a:chOff x="0" y="0"/>
            <a:chExt cx="6388100" cy="2413000"/>
          </a:xfrm>
        </p:grpSpPr>
        <p:sp>
          <p:nvSpPr>
            <p:cNvPr name="Freeform 19" id="19"/>
            <p:cNvSpPr/>
            <p:nvPr/>
          </p:nvSpPr>
          <p:spPr>
            <a:xfrm flipH="false" flipV="false" rot="0">
              <a:off x="0" y="0"/>
              <a:ext cx="6388100" cy="2413000"/>
            </a:xfrm>
            <a:custGeom>
              <a:avLst/>
              <a:gdLst/>
              <a:ahLst/>
              <a:cxnLst/>
              <a:rect r="r" b="b" t="t" l="l"/>
              <a:pathLst>
                <a:path h="2413000" w="6388100">
                  <a:moveTo>
                    <a:pt x="0" y="0"/>
                  </a:moveTo>
                  <a:lnTo>
                    <a:pt x="6388100" y="0"/>
                  </a:lnTo>
                  <a:lnTo>
                    <a:pt x="6388100" y="2413000"/>
                  </a:lnTo>
                  <a:lnTo>
                    <a:pt x="0" y="2413000"/>
                  </a:lnTo>
                  <a:lnTo>
                    <a:pt x="0" y="0"/>
                  </a:lnTo>
                  <a:close/>
                </a:path>
              </a:pathLst>
            </a:custGeom>
            <a:blipFill>
              <a:blip r:embed="rId4"/>
              <a:stretch>
                <a:fillRect l="0" t="-1584" r="0" b="-1584"/>
              </a:stretch>
            </a:blipFill>
          </p:spPr>
        </p:sp>
      </p:grpSp>
      <p:grpSp>
        <p:nvGrpSpPr>
          <p:cNvPr name="Group 20" id="20"/>
          <p:cNvGrpSpPr/>
          <p:nvPr/>
        </p:nvGrpSpPr>
        <p:grpSpPr>
          <a:xfrm rot="0">
            <a:off x="1651319" y="9263380"/>
            <a:ext cx="6900314" cy="2606480"/>
            <a:chOff x="0" y="0"/>
            <a:chExt cx="6388100" cy="2413000"/>
          </a:xfrm>
        </p:grpSpPr>
        <p:sp>
          <p:nvSpPr>
            <p:cNvPr name="Freeform 21" id="21"/>
            <p:cNvSpPr/>
            <p:nvPr/>
          </p:nvSpPr>
          <p:spPr>
            <a:xfrm flipH="false" flipV="false" rot="0">
              <a:off x="0" y="0"/>
              <a:ext cx="6388100" cy="2413000"/>
            </a:xfrm>
            <a:custGeom>
              <a:avLst/>
              <a:gdLst/>
              <a:ahLst/>
              <a:cxnLst/>
              <a:rect r="r" b="b" t="t" l="l"/>
              <a:pathLst>
                <a:path h="2413000" w="6388100">
                  <a:moveTo>
                    <a:pt x="0" y="0"/>
                  </a:moveTo>
                  <a:lnTo>
                    <a:pt x="6388100" y="0"/>
                  </a:lnTo>
                  <a:lnTo>
                    <a:pt x="6388100" y="2413000"/>
                  </a:lnTo>
                  <a:lnTo>
                    <a:pt x="0" y="2413000"/>
                  </a:lnTo>
                  <a:lnTo>
                    <a:pt x="0" y="0"/>
                  </a:lnTo>
                  <a:close/>
                </a:path>
              </a:pathLst>
            </a:custGeom>
            <a:blipFill>
              <a:blip r:embed="rId4"/>
              <a:stretch>
                <a:fillRect l="0" t="-1584" r="0" b="-1584"/>
              </a:stretch>
            </a:blipFill>
          </p:spPr>
        </p:sp>
      </p:grpSp>
      <p:sp>
        <p:nvSpPr>
          <p:cNvPr name="Freeform 22" id="22"/>
          <p:cNvSpPr/>
          <p:nvPr/>
        </p:nvSpPr>
        <p:spPr>
          <a:xfrm flipH="false" flipV="false" rot="0">
            <a:off x="1644460" y="12821020"/>
            <a:ext cx="1260892" cy="254489"/>
          </a:xfrm>
          <a:custGeom>
            <a:avLst/>
            <a:gdLst/>
            <a:ahLst/>
            <a:cxnLst/>
            <a:rect r="r" b="b" t="t" l="l"/>
            <a:pathLst>
              <a:path h="254489" w="1260892">
                <a:moveTo>
                  <a:pt x="0" y="0"/>
                </a:moveTo>
                <a:lnTo>
                  <a:pt x="1260891" y="0"/>
                </a:lnTo>
                <a:lnTo>
                  <a:pt x="1260891" y="254489"/>
                </a:lnTo>
                <a:lnTo>
                  <a:pt x="0" y="254489"/>
                </a:lnTo>
                <a:lnTo>
                  <a:pt x="0" y="0"/>
                </a:lnTo>
                <a:close/>
              </a:path>
            </a:pathLst>
          </a:custGeom>
          <a:blipFill>
            <a:blip r:embed="rId2">
              <a:extLst>
                <a:ext uri="{96DAC541-7B7A-43D3-8B79-37D633B846F1}">
                  <asvg:svgBlip xmlns:asvg="http://schemas.microsoft.com/office/drawing/2016/SVG/main" r:embed="rId5"/>
                </a:ext>
              </a:extLst>
            </a:blip>
            <a:stretch>
              <a:fillRect l="0" t="0" r="0" b="0"/>
            </a:stretch>
          </a:blipFill>
        </p:spPr>
      </p:sp>
      <p:grpSp>
        <p:nvGrpSpPr>
          <p:cNvPr name="Group 23" id="23"/>
          <p:cNvGrpSpPr/>
          <p:nvPr/>
        </p:nvGrpSpPr>
        <p:grpSpPr>
          <a:xfrm rot="0">
            <a:off x="7112650" y="13390879"/>
            <a:ext cx="1438983" cy="6859"/>
            <a:chOff x="0" y="0"/>
            <a:chExt cx="999122" cy="4762"/>
          </a:xfrm>
        </p:grpSpPr>
        <p:sp>
          <p:nvSpPr>
            <p:cNvPr name="Freeform 24" id="24"/>
            <p:cNvSpPr/>
            <p:nvPr/>
          </p:nvSpPr>
          <p:spPr>
            <a:xfrm flipH="false" flipV="false" rot="0">
              <a:off x="0" y="0"/>
              <a:ext cx="999109" cy="4826"/>
            </a:xfrm>
            <a:custGeom>
              <a:avLst/>
              <a:gdLst/>
              <a:ahLst/>
              <a:cxnLst/>
              <a:rect r="r" b="b" t="t" l="l"/>
              <a:pathLst>
                <a:path h="4826" w="999109">
                  <a:moveTo>
                    <a:pt x="0" y="0"/>
                  </a:moveTo>
                  <a:lnTo>
                    <a:pt x="999109" y="0"/>
                  </a:lnTo>
                  <a:lnTo>
                    <a:pt x="999109" y="4826"/>
                  </a:lnTo>
                  <a:lnTo>
                    <a:pt x="0" y="4826"/>
                  </a:lnTo>
                </a:path>
              </a:pathLst>
            </a:custGeom>
            <a:solidFill>
              <a:srgbClr val="505050"/>
            </a:solidFill>
          </p:spPr>
        </p:sp>
      </p:grpSp>
      <p:sp>
        <p:nvSpPr>
          <p:cNvPr name="TextBox 25" id="25"/>
          <p:cNvSpPr txBox="true"/>
          <p:nvPr/>
        </p:nvSpPr>
        <p:spPr>
          <a:xfrm rot="0">
            <a:off x="1644460" y="6933846"/>
            <a:ext cx="926753" cy="268949"/>
          </a:xfrm>
          <a:prstGeom prst="rect">
            <a:avLst/>
          </a:prstGeom>
        </p:spPr>
        <p:txBody>
          <a:bodyPr anchor="t" rtlCol="false" tIns="0" lIns="0" bIns="0" rIns="0">
            <a:spAutoFit/>
          </a:bodyPr>
          <a:lstStyle/>
          <a:p>
            <a:pPr algn="l">
              <a:lnSpc>
                <a:spcPts val="1976"/>
              </a:lnSpc>
            </a:pPr>
            <a:r>
              <a:rPr lang="en-US" b="true" sz="1411" i="true">
                <a:solidFill>
                  <a:srgbClr val="CC0000"/>
                </a:solidFill>
                <a:latin typeface="Avenir Medium Italics"/>
                <a:ea typeface="Avenir Medium Italics"/>
                <a:cs typeface="Avenir Medium Italics"/>
                <a:sym typeface="Avenir Medium Italics"/>
              </a:rPr>
              <a:t>Room Type</a:t>
            </a:r>
          </a:p>
        </p:txBody>
      </p:sp>
      <p:sp>
        <p:nvSpPr>
          <p:cNvPr name="TextBox 26" id="26"/>
          <p:cNvSpPr txBox="true"/>
          <p:nvPr/>
        </p:nvSpPr>
        <p:spPr>
          <a:xfrm rot="0">
            <a:off x="1644460" y="11955464"/>
            <a:ext cx="926753" cy="268949"/>
          </a:xfrm>
          <a:prstGeom prst="rect">
            <a:avLst/>
          </a:prstGeom>
        </p:spPr>
        <p:txBody>
          <a:bodyPr anchor="t" rtlCol="false" tIns="0" lIns="0" bIns="0" rIns="0">
            <a:spAutoFit/>
          </a:bodyPr>
          <a:lstStyle/>
          <a:p>
            <a:pPr algn="l">
              <a:lnSpc>
                <a:spcPts val="1976"/>
              </a:lnSpc>
            </a:pPr>
            <a:r>
              <a:rPr lang="en-US" b="true" sz="1411" i="true">
                <a:solidFill>
                  <a:srgbClr val="CC0000"/>
                </a:solidFill>
                <a:latin typeface="Avenir Medium Italics"/>
                <a:ea typeface="Avenir Medium Italics"/>
                <a:cs typeface="Avenir Medium Italics"/>
                <a:sym typeface="Avenir Medium Italics"/>
              </a:rPr>
              <a:t>Room Type</a:t>
            </a:r>
          </a:p>
        </p:txBody>
      </p:sp>
      <p:grpSp>
        <p:nvGrpSpPr>
          <p:cNvPr name="Group 27" id="27"/>
          <p:cNvGrpSpPr/>
          <p:nvPr/>
        </p:nvGrpSpPr>
        <p:grpSpPr>
          <a:xfrm rot="0">
            <a:off x="1618162" y="7289308"/>
            <a:ext cx="3725156" cy="394717"/>
            <a:chOff x="0" y="0"/>
            <a:chExt cx="4966875" cy="526290"/>
          </a:xfrm>
        </p:grpSpPr>
        <p:grpSp>
          <p:nvGrpSpPr>
            <p:cNvPr name="Group 28" id="28"/>
            <p:cNvGrpSpPr/>
            <p:nvPr/>
          </p:nvGrpSpPr>
          <p:grpSpPr>
            <a:xfrm rot="0">
              <a:off x="0" y="44749"/>
              <a:ext cx="536551" cy="436791"/>
              <a:chOff x="0" y="0"/>
              <a:chExt cx="279400" cy="227457"/>
            </a:xfrm>
          </p:grpSpPr>
          <p:sp>
            <p:nvSpPr>
              <p:cNvPr name="Freeform 29" id="29"/>
              <p:cNvSpPr/>
              <p:nvPr/>
            </p:nvSpPr>
            <p:spPr>
              <a:xfrm flipH="false" flipV="false" rot="0">
                <a:off x="63500" y="63474"/>
                <a:ext cx="152272" cy="100481"/>
              </a:xfrm>
              <a:custGeom>
                <a:avLst/>
                <a:gdLst/>
                <a:ahLst/>
                <a:cxnLst/>
                <a:rect r="r" b="b" t="t" l="l"/>
                <a:pathLst>
                  <a:path h="100481" w="152272">
                    <a:moveTo>
                      <a:pt x="75056" y="100481"/>
                    </a:moveTo>
                    <a:cubicBezTo>
                      <a:pt x="48894" y="100481"/>
                      <a:pt x="23875" y="84098"/>
                      <a:pt x="635" y="51841"/>
                    </a:cubicBezTo>
                    <a:cubicBezTo>
                      <a:pt x="254" y="51333"/>
                      <a:pt x="0" y="50571"/>
                      <a:pt x="0" y="49936"/>
                    </a:cubicBezTo>
                    <a:cubicBezTo>
                      <a:pt x="0" y="49301"/>
                      <a:pt x="127" y="48539"/>
                      <a:pt x="508" y="48031"/>
                    </a:cubicBezTo>
                    <a:cubicBezTo>
                      <a:pt x="1778" y="46126"/>
                      <a:pt x="32003" y="1041"/>
                      <a:pt x="75691" y="25"/>
                    </a:cubicBezTo>
                    <a:cubicBezTo>
                      <a:pt x="102488" y="-737"/>
                      <a:pt x="128015" y="15519"/>
                      <a:pt x="151637" y="47904"/>
                    </a:cubicBezTo>
                    <a:cubicBezTo>
                      <a:pt x="152018" y="48412"/>
                      <a:pt x="152272" y="49047"/>
                      <a:pt x="152272" y="49809"/>
                    </a:cubicBezTo>
                    <a:cubicBezTo>
                      <a:pt x="152272" y="50571"/>
                      <a:pt x="152145" y="51206"/>
                      <a:pt x="151764" y="51714"/>
                    </a:cubicBezTo>
                    <a:cubicBezTo>
                      <a:pt x="150494" y="53619"/>
                      <a:pt x="120141" y="99465"/>
                      <a:pt x="76453" y="100481"/>
                    </a:cubicBezTo>
                    <a:cubicBezTo>
                      <a:pt x="75945" y="100481"/>
                      <a:pt x="75437" y="100481"/>
                      <a:pt x="74929" y="100481"/>
                    </a:cubicBezTo>
                    <a:close/>
                    <a:moveTo>
                      <a:pt x="7366" y="49809"/>
                    </a:moveTo>
                    <a:cubicBezTo>
                      <a:pt x="29336" y="79526"/>
                      <a:pt x="52577" y="94385"/>
                      <a:pt x="76326" y="93750"/>
                    </a:cubicBezTo>
                    <a:cubicBezTo>
                      <a:pt x="111759" y="92988"/>
                      <a:pt x="138810" y="58445"/>
                      <a:pt x="144906" y="49936"/>
                    </a:cubicBezTo>
                    <a:cubicBezTo>
                      <a:pt x="123062" y="20726"/>
                      <a:pt x="99694" y="6248"/>
                      <a:pt x="75818" y="6756"/>
                    </a:cubicBezTo>
                    <a:cubicBezTo>
                      <a:pt x="40385" y="7518"/>
                      <a:pt x="13461" y="41427"/>
                      <a:pt x="7239" y="49936"/>
                    </a:cubicBezTo>
                    <a:close/>
                  </a:path>
                </a:pathLst>
              </a:custGeom>
              <a:solidFill>
                <a:srgbClr val="505050"/>
              </a:solidFill>
            </p:spPr>
          </p:sp>
          <p:sp>
            <p:nvSpPr>
              <p:cNvPr name="Freeform 30" id="30"/>
              <p:cNvSpPr/>
              <p:nvPr/>
            </p:nvSpPr>
            <p:spPr>
              <a:xfrm flipH="false" flipV="false" rot="0">
                <a:off x="112521" y="86359"/>
                <a:ext cx="54483" cy="54736"/>
              </a:xfrm>
              <a:custGeom>
                <a:avLst/>
                <a:gdLst/>
                <a:ahLst/>
                <a:cxnLst/>
                <a:rect r="r" b="b" t="t" l="l"/>
                <a:pathLst>
                  <a:path h="54736" w="54483">
                    <a:moveTo>
                      <a:pt x="27178" y="54736"/>
                    </a:moveTo>
                    <a:cubicBezTo>
                      <a:pt x="21844" y="54736"/>
                      <a:pt x="16510" y="53085"/>
                      <a:pt x="12065" y="50164"/>
                    </a:cubicBezTo>
                    <a:cubicBezTo>
                      <a:pt x="7620" y="47243"/>
                      <a:pt x="4064" y="42925"/>
                      <a:pt x="2032" y="37845"/>
                    </a:cubicBezTo>
                    <a:cubicBezTo>
                      <a:pt x="0" y="32766"/>
                      <a:pt x="-508" y="27305"/>
                      <a:pt x="508" y="21971"/>
                    </a:cubicBezTo>
                    <a:cubicBezTo>
                      <a:pt x="1524" y="16637"/>
                      <a:pt x="4191" y="11811"/>
                      <a:pt x="8001" y="8001"/>
                    </a:cubicBezTo>
                    <a:cubicBezTo>
                      <a:pt x="11811" y="4191"/>
                      <a:pt x="16637" y="1524"/>
                      <a:pt x="21971" y="508"/>
                    </a:cubicBezTo>
                    <a:cubicBezTo>
                      <a:pt x="27305" y="-508"/>
                      <a:pt x="32766" y="0"/>
                      <a:pt x="37719" y="2032"/>
                    </a:cubicBezTo>
                    <a:cubicBezTo>
                      <a:pt x="42672" y="4064"/>
                      <a:pt x="46990" y="7620"/>
                      <a:pt x="49911" y="12065"/>
                    </a:cubicBezTo>
                    <a:cubicBezTo>
                      <a:pt x="52832" y="16510"/>
                      <a:pt x="54483" y="21844"/>
                      <a:pt x="54483" y="27305"/>
                    </a:cubicBezTo>
                    <a:cubicBezTo>
                      <a:pt x="54483" y="34544"/>
                      <a:pt x="51562" y="41528"/>
                      <a:pt x="46482" y="46608"/>
                    </a:cubicBezTo>
                    <a:cubicBezTo>
                      <a:pt x="41402" y="51688"/>
                      <a:pt x="34417" y="54609"/>
                      <a:pt x="27178" y="54609"/>
                    </a:cubicBezTo>
                    <a:close/>
                    <a:moveTo>
                      <a:pt x="27178" y="6477"/>
                    </a:moveTo>
                    <a:cubicBezTo>
                      <a:pt x="23114" y="6477"/>
                      <a:pt x="19177" y="7747"/>
                      <a:pt x="15748" y="10033"/>
                    </a:cubicBezTo>
                    <a:cubicBezTo>
                      <a:pt x="12319" y="12319"/>
                      <a:pt x="9652" y="15494"/>
                      <a:pt x="8128" y="19304"/>
                    </a:cubicBezTo>
                    <a:cubicBezTo>
                      <a:pt x="6604" y="23114"/>
                      <a:pt x="6223" y="27305"/>
                      <a:pt x="6985" y="31242"/>
                    </a:cubicBezTo>
                    <a:cubicBezTo>
                      <a:pt x="7747" y="35179"/>
                      <a:pt x="9779" y="38988"/>
                      <a:pt x="12573" y="41782"/>
                    </a:cubicBezTo>
                    <a:cubicBezTo>
                      <a:pt x="15367" y="44576"/>
                      <a:pt x="19177" y="46608"/>
                      <a:pt x="23114" y="47497"/>
                    </a:cubicBezTo>
                    <a:cubicBezTo>
                      <a:pt x="27051" y="48386"/>
                      <a:pt x="31242" y="47878"/>
                      <a:pt x="35052" y="46354"/>
                    </a:cubicBezTo>
                    <a:cubicBezTo>
                      <a:pt x="38862" y="44830"/>
                      <a:pt x="42037" y="42163"/>
                      <a:pt x="44323" y="38734"/>
                    </a:cubicBezTo>
                    <a:cubicBezTo>
                      <a:pt x="46609" y="35306"/>
                      <a:pt x="47752" y="31369"/>
                      <a:pt x="47752" y="27178"/>
                    </a:cubicBezTo>
                    <a:cubicBezTo>
                      <a:pt x="47752" y="21717"/>
                      <a:pt x="45593" y="16383"/>
                      <a:pt x="41656" y="12573"/>
                    </a:cubicBezTo>
                    <a:cubicBezTo>
                      <a:pt x="37719" y="8763"/>
                      <a:pt x="32512" y="6477"/>
                      <a:pt x="27051" y="6477"/>
                    </a:cubicBezTo>
                    <a:close/>
                  </a:path>
                </a:pathLst>
              </a:custGeom>
              <a:solidFill>
                <a:srgbClr val="505050"/>
              </a:solidFill>
            </p:spPr>
          </p:sp>
        </p:grpSp>
        <p:sp>
          <p:nvSpPr>
            <p:cNvPr name="TextBox 31" id="31"/>
            <p:cNvSpPr txBox="true"/>
            <p:nvPr/>
          </p:nvSpPr>
          <p:spPr>
            <a:xfrm rot="0">
              <a:off x="519778" y="121119"/>
              <a:ext cx="1042789" cy="265043"/>
            </a:xfrm>
            <a:prstGeom prst="rect">
              <a:avLst/>
            </a:prstGeom>
          </p:spPr>
          <p:txBody>
            <a:bodyPr anchor="t" rtlCol="false" tIns="0" lIns="0" bIns="0" rIns="0">
              <a:spAutoFit/>
            </a:bodyPr>
            <a:lstStyle/>
            <a:p>
              <a:pPr algn="l">
                <a:lnSpc>
                  <a:spcPts val="1512"/>
                </a:lnSpc>
              </a:pPr>
              <a:r>
                <a:rPr lang="en-US" b="true" sz="1080">
                  <a:solidFill>
                    <a:srgbClr val="CC0000"/>
                  </a:solidFill>
                  <a:latin typeface="Avenir Ultra-Bold"/>
                  <a:ea typeface="Avenir Ultra-Bold"/>
                  <a:cs typeface="Avenir Ultra-Bold"/>
                  <a:sym typeface="Avenir Ultra-Bold"/>
                </a:rPr>
                <a:t>Room View </a:t>
              </a:r>
            </a:p>
          </p:txBody>
        </p:sp>
        <p:grpSp>
          <p:nvGrpSpPr>
            <p:cNvPr name="Group 32" id="32"/>
            <p:cNvGrpSpPr/>
            <p:nvPr/>
          </p:nvGrpSpPr>
          <p:grpSpPr>
            <a:xfrm rot="0">
              <a:off x="1668294" y="125422"/>
              <a:ext cx="292657" cy="282414"/>
              <a:chOff x="0" y="0"/>
              <a:chExt cx="152400" cy="147066"/>
            </a:xfrm>
          </p:grpSpPr>
          <p:sp>
            <p:nvSpPr>
              <p:cNvPr name="Freeform 33" id="33"/>
              <p:cNvSpPr/>
              <p:nvPr/>
            </p:nvSpPr>
            <p:spPr>
              <a:xfrm flipH="false" flipV="false" rot="0">
                <a:off x="0" y="0"/>
                <a:ext cx="152400" cy="147066"/>
              </a:xfrm>
              <a:custGeom>
                <a:avLst/>
                <a:gdLst/>
                <a:ahLst/>
                <a:cxnLst/>
                <a:rect r="r" b="b" t="t" l="l"/>
                <a:pathLst>
                  <a:path h="147066" w="152400">
                    <a:moveTo>
                      <a:pt x="0" y="0"/>
                    </a:moveTo>
                    <a:lnTo>
                      <a:pt x="0" y="147066"/>
                    </a:lnTo>
                    <a:lnTo>
                      <a:pt x="152400" y="147066"/>
                    </a:lnTo>
                    <a:lnTo>
                      <a:pt x="152400" y="0"/>
                    </a:lnTo>
                    <a:lnTo>
                      <a:pt x="130175" y="0"/>
                    </a:lnTo>
                    <a:lnTo>
                      <a:pt x="129540" y="508"/>
                    </a:lnTo>
                    <a:lnTo>
                      <a:pt x="93726" y="27813"/>
                    </a:lnTo>
                    <a:lnTo>
                      <a:pt x="96647" y="31496"/>
                    </a:lnTo>
                    <a:lnTo>
                      <a:pt x="131826" y="4572"/>
                    </a:lnTo>
                    <a:lnTo>
                      <a:pt x="147701" y="4572"/>
                    </a:lnTo>
                    <a:lnTo>
                      <a:pt x="147701" y="78105"/>
                    </a:lnTo>
                    <a:lnTo>
                      <a:pt x="81026" y="78105"/>
                    </a:lnTo>
                    <a:lnTo>
                      <a:pt x="81026" y="110363"/>
                    </a:lnTo>
                    <a:lnTo>
                      <a:pt x="4826" y="110363"/>
                    </a:lnTo>
                    <a:lnTo>
                      <a:pt x="4826" y="68961"/>
                    </a:lnTo>
                    <a:lnTo>
                      <a:pt x="71374" y="68961"/>
                    </a:lnTo>
                    <a:lnTo>
                      <a:pt x="71374" y="4572"/>
                    </a:lnTo>
                    <a:lnTo>
                      <a:pt x="95250" y="4572"/>
                    </a:lnTo>
                    <a:lnTo>
                      <a:pt x="95250" y="0"/>
                    </a:lnTo>
                    <a:lnTo>
                      <a:pt x="0" y="0"/>
                    </a:lnTo>
                    <a:close/>
                    <a:moveTo>
                      <a:pt x="4826" y="4572"/>
                    </a:moveTo>
                    <a:lnTo>
                      <a:pt x="66675" y="4572"/>
                    </a:lnTo>
                    <a:lnTo>
                      <a:pt x="66675" y="64262"/>
                    </a:lnTo>
                    <a:lnTo>
                      <a:pt x="4826" y="64262"/>
                    </a:lnTo>
                    <a:lnTo>
                      <a:pt x="4826" y="4572"/>
                    </a:lnTo>
                    <a:close/>
                    <a:moveTo>
                      <a:pt x="85725" y="82677"/>
                    </a:moveTo>
                    <a:lnTo>
                      <a:pt x="147701" y="82677"/>
                    </a:lnTo>
                    <a:lnTo>
                      <a:pt x="147701" y="142367"/>
                    </a:lnTo>
                    <a:lnTo>
                      <a:pt x="85725" y="142367"/>
                    </a:lnTo>
                    <a:lnTo>
                      <a:pt x="85725" y="82677"/>
                    </a:lnTo>
                    <a:close/>
                    <a:moveTo>
                      <a:pt x="4826" y="114935"/>
                    </a:moveTo>
                    <a:lnTo>
                      <a:pt x="81026" y="114935"/>
                    </a:lnTo>
                    <a:lnTo>
                      <a:pt x="81026" y="142494"/>
                    </a:lnTo>
                    <a:lnTo>
                      <a:pt x="4826" y="142494"/>
                    </a:lnTo>
                    <a:lnTo>
                      <a:pt x="4826" y="114935"/>
                    </a:lnTo>
                    <a:close/>
                  </a:path>
                </a:pathLst>
              </a:custGeom>
              <a:solidFill>
                <a:srgbClr val="505050"/>
              </a:solidFill>
            </p:spPr>
          </p:sp>
        </p:grpSp>
        <p:grpSp>
          <p:nvGrpSpPr>
            <p:cNvPr name="Group 34" id="34"/>
            <p:cNvGrpSpPr/>
            <p:nvPr/>
          </p:nvGrpSpPr>
          <p:grpSpPr>
            <a:xfrm rot="0">
              <a:off x="3077842" y="0"/>
              <a:ext cx="536533" cy="526290"/>
              <a:chOff x="0" y="0"/>
              <a:chExt cx="279400" cy="274066"/>
            </a:xfrm>
          </p:grpSpPr>
          <p:sp>
            <p:nvSpPr>
              <p:cNvPr name="Freeform 35" id="35"/>
              <p:cNvSpPr/>
              <p:nvPr/>
            </p:nvSpPr>
            <p:spPr>
              <a:xfrm flipH="false" flipV="false" rot="0">
                <a:off x="63500" y="63500"/>
                <a:ext cx="152400" cy="147066"/>
              </a:xfrm>
              <a:custGeom>
                <a:avLst/>
                <a:gdLst/>
                <a:ahLst/>
                <a:cxnLst/>
                <a:rect r="r" b="b" t="t" l="l"/>
                <a:pathLst>
                  <a:path h="147066" w="152400">
                    <a:moveTo>
                      <a:pt x="152400" y="138049"/>
                    </a:moveTo>
                    <a:lnTo>
                      <a:pt x="152400" y="1778"/>
                    </a:lnTo>
                    <a:cubicBezTo>
                      <a:pt x="152400" y="762"/>
                      <a:pt x="151384" y="0"/>
                      <a:pt x="149987" y="0"/>
                    </a:cubicBezTo>
                    <a:lnTo>
                      <a:pt x="2413" y="0"/>
                    </a:lnTo>
                    <a:cubicBezTo>
                      <a:pt x="1143" y="0"/>
                      <a:pt x="0" y="762"/>
                      <a:pt x="0" y="1778"/>
                    </a:cubicBezTo>
                    <a:lnTo>
                      <a:pt x="0" y="138049"/>
                    </a:lnTo>
                    <a:cubicBezTo>
                      <a:pt x="0" y="143002"/>
                      <a:pt x="5207" y="147066"/>
                      <a:pt x="11684" y="147066"/>
                    </a:cubicBezTo>
                    <a:lnTo>
                      <a:pt x="140716" y="147066"/>
                    </a:lnTo>
                    <a:cubicBezTo>
                      <a:pt x="147193" y="147066"/>
                      <a:pt x="152400" y="143002"/>
                      <a:pt x="152400" y="138049"/>
                    </a:cubicBezTo>
                    <a:close/>
                    <a:moveTo>
                      <a:pt x="4826" y="50292"/>
                    </a:moveTo>
                    <a:lnTo>
                      <a:pt x="147574" y="50292"/>
                    </a:lnTo>
                    <a:lnTo>
                      <a:pt x="147574" y="65405"/>
                    </a:lnTo>
                    <a:lnTo>
                      <a:pt x="4826" y="65405"/>
                    </a:lnTo>
                    <a:lnTo>
                      <a:pt x="4826" y="50292"/>
                    </a:lnTo>
                    <a:close/>
                    <a:moveTo>
                      <a:pt x="147574" y="3683"/>
                    </a:moveTo>
                    <a:lnTo>
                      <a:pt x="147574" y="46609"/>
                    </a:lnTo>
                    <a:lnTo>
                      <a:pt x="4826" y="46609"/>
                    </a:lnTo>
                    <a:lnTo>
                      <a:pt x="4826" y="3683"/>
                    </a:lnTo>
                    <a:lnTo>
                      <a:pt x="147574" y="3683"/>
                    </a:lnTo>
                    <a:close/>
                    <a:moveTo>
                      <a:pt x="4826" y="138049"/>
                    </a:moveTo>
                    <a:lnTo>
                      <a:pt x="4826" y="69088"/>
                    </a:lnTo>
                    <a:lnTo>
                      <a:pt x="147574" y="69088"/>
                    </a:lnTo>
                    <a:lnTo>
                      <a:pt x="147574" y="138049"/>
                    </a:lnTo>
                    <a:cubicBezTo>
                      <a:pt x="147574" y="140970"/>
                      <a:pt x="144526" y="143383"/>
                      <a:pt x="140716" y="143383"/>
                    </a:cubicBezTo>
                    <a:lnTo>
                      <a:pt x="11684" y="143383"/>
                    </a:lnTo>
                    <a:cubicBezTo>
                      <a:pt x="7874" y="143383"/>
                      <a:pt x="4826" y="140970"/>
                      <a:pt x="4826" y="138049"/>
                    </a:cubicBezTo>
                    <a:close/>
                  </a:path>
                </a:pathLst>
              </a:custGeom>
              <a:solidFill>
                <a:srgbClr val="505050"/>
              </a:solidFill>
            </p:spPr>
          </p:sp>
          <p:sp>
            <p:nvSpPr>
              <p:cNvPr name="Freeform 36" id="36"/>
              <p:cNvSpPr/>
              <p:nvPr/>
            </p:nvSpPr>
            <p:spPr>
              <a:xfrm flipH="false" flipV="false" rot="0">
                <a:off x="81407" y="71374"/>
                <a:ext cx="53340" cy="34925"/>
              </a:xfrm>
              <a:custGeom>
                <a:avLst/>
                <a:gdLst/>
                <a:ahLst/>
                <a:cxnLst/>
                <a:rect r="r" b="b" t="t" l="l"/>
                <a:pathLst>
                  <a:path h="34925" w="53340">
                    <a:moveTo>
                      <a:pt x="12065" y="34925"/>
                    </a:moveTo>
                    <a:lnTo>
                      <a:pt x="41275" y="34925"/>
                    </a:lnTo>
                    <a:cubicBezTo>
                      <a:pt x="47879" y="34925"/>
                      <a:pt x="53340" y="29718"/>
                      <a:pt x="53340" y="23241"/>
                    </a:cubicBezTo>
                    <a:lnTo>
                      <a:pt x="53340" y="11684"/>
                    </a:lnTo>
                    <a:cubicBezTo>
                      <a:pt x="53340" y="5207"/>
                      <a:pt x="47879" y="0"/>
                      <a:pt x="41275" y="0"/>
                    </a:cubicBezTo>
                    <a:lnTo>
                      <a:pt x="12065" y="0"/>
                    </a:lnTo>
                    <a:cubicBezTo>
                      <a:pt x="5461" y="0"/>
                      <a:pt x="0" y="5207"/>
                      <a:pt x="0" y="11684"/>
                    </a:cubicBezTo>
                    <a:lnTo>
                      <a:pt x="0" y="23241"/>
                    </a:lnTo>
                    <a:cubicBezTo>
                      <a:pt x="0" y="29718"/>
                      <a:pt x="5461" y="34925"/>
                      <a:pt x="12065" y="34925"/>
                    </a:cubicBezTo>
                    <a:close/>
                    <a:moveTo>
                      <a:pt x="4826" y="11684"/>
                    </a:moveTo>
                    <a:cubicBezTo>
                      <a:pt x="4826" y="7747"/>
                      <a:pt x="8128" y="4699"/>
                      <a:pt x="12065" y="4699"/>
                    </a:cubicBezTo>
                    <a:lnTo>
                      <a:pt x="41275" y="4699"/>
                    </a:lnTo>
                    <a:cubicBezTo>
                      <a:pt x="45339" y="4699"/>
                      <a:pt x="48514" y="7874"/>
                      <a:pt x="48514" y="11684"/>
                    </a:cubicBezTo>
                    <a:lnTo>
                      <a:pt x="48514" y="23241"/>
                    </a:lnTo>
                    <a:cubicBezTo>
                      <a:pt x="48514" y="27178"/>
                      <a:pt x="45212" y="30226"/>
                      <a:pt x="41275" y="30226"/>
                    </a:cubicBezTo>
                    <a:lnTo>
                      <a:pt x="12065" y="30226"/>
                    </a:lnTo>
                    <a:cubicBezTo>
                      <a:pt x="8001" y="30226"/>
                      <a:pt x="4826" y="27051"/>
                      <a:pt x="4826" y="23241"/>
                    </a:cubicBezTo>
                    <a:lnTo>
                      <a:pt x="4826" y="11684"/>
                    </a:lnTo>
                    <a:close/>
                  </a:path>
                </a:pathLst>
              </a:custGeom>
              <a:solidFill>
                <a:srgbClr val="505050"/>
              </a:solidFill>
            </p:spPr>
          </p:sp>
          <p:sp>
            <p:nvSpPr>
              <p:cNvPr name="Freeform 37" id="37"/>
              <p:cNvSpPr/>
              <p:nvPr/>
            </p:nvSpPr>
            <p:spPr>
              <a:xfrm flipH="false" flipV="false" rot="0">
                <a:off x="144653" y="71374"/>
                <a:ext cx="53213" cy="34925"/>
              </a:xfrm>
              <a:custGeom>
                <a:avLst/>
                <a:gdLst/>
                <a:ahLst/>
                <a:cxnLst/>
                <a:rect r="r" b="b" t="t" l="l"/>
                <a:pathLst>
                  <a:path h="34925" w="53213">
                    <a:moveTo>
                      <a:pt x="12065" y="34925"/>
                    </a:moveTo>
                    <a:lnTo>
                      <a:pt x="41148" y="34925"/>
                    </a:lnTo>
                    <a:cubicBezTo>
                      <a:pt x="47752" y="34925"/>
                      <a:pt x="53213" y="29718"/>
                      <a:pt x="53213" y="23241"/>
                    </a:cubicBezTo>
                    <a:lnTo>
                      <a:pt x="53213" y="11684"/>
                    </a:lnTo>
                    <a:cubicBezTo>
                      <a:pt x="53213" y="5207"/>
                      <a:pt x="47752" y="0"/>
                      <a:pt x="41148" y="0"/>
                    </a:cubicBezTo>
                    <a:lnTo>
                      <a:pt x="12065" y="0"/>
                    </a:lnTo>
                    <a:cubicBezTo>
                      <a:pt x="5461" y="0"/>
                      <a:pt x="0" y="5207"/>
                      <a:pt x="0" y="11684"/>
                    </a:cubicBezTo>
                    <a:lnTo>
                      <a:pt x="0" y="23241"/>
                    </a:lnTo>
                    <a:cubicBezTo>
                      <a:pt x="0" y="29718"/>
                      <a:pt x="5461" y="34925"/>
                      <a:pt x="12065" y="34925"/>
                    </a:cubicBezTo>
                    <a:close/>
                    <a:moveTo>
                      <a:pt x="4826" y="11684"/>
                    </a:moveTo>
                    <a:cubicBezTo>
                      <a:pt x="4826" y="7747"/>
                      <a:pt x="8128" y="4699"/>
                      <a:pt x="12065" y="4699"/>
                    </a:cubicBezTo>
                    <a:lnTo>
                      <a:pt x="41148" y="4699"/>
                    </a:lnTo>
                    <a:cubicBezTo>
                      <a:pt x="45212" y="4699"/>
                      <a:pt x="48387" y="7874"/>
                      <a:pt x="48387" y="11684"/>
                    </a:cubicBezTo>
                    <a:lnTo>
                      <a:pt x="48387" y="23241"/>
                    </a:lnTo>
                    <a:cubicBezTo>
                      <a:pt x="48387" y="27178"/>
                      <a:pt x="45085" y="30226"/>
                      <a:pt x="41148" y="30226"/>
                    </a:cubicBezTo>
                    <a:lnTo>
                      <a:pt x="12065" y="30226"/>
                    </a:lnTo>
                    <a:cubicBezTo>
                      <a:pt x="8001" y="30226"/>
                      <a:pt x="4826" y="27051"/>
                      <a:pt x="4826" y="23241"/>
                    </a:cubicBezTo>
                    <a:lnTo>
                      <a:pt x="4826" y="11684"/>
                    </a:lnTo>
                    <a:close/>
                  </a:path>
                </a:pathLst>
              </a:custGeom>
              <a:solidFill>
                <a:srgbClr val="505050"/>
              </a:solidFill>
            </p:spPr>
          </p:sp>
        </p:grpSp>
        <p:sp>
          <p:nvSpPr>
            <p:cNvPr name="TextBox 38" id="38"/>
            <p:cNvSpPr txBox="true"/>
            <p:nvPr/>
          </p:nvSpPr>
          <p:spPr>
            <a:xfrm rot="0">
              <a:off x="2066107" y="125793"/>
              <a:ext cx="862539" cy="265043"/>
            </a:xfrm>
            <a:prstGeom prst="rect">
              <a:avLst/>
            </a:prstGeom>
          </p:spPr>
          <p:txBody>
            <a:bodyPr anchor="t" rtlCol="false" tIns="0" lIns="0" bIns="0" rIns="0">
              <a:spAutoFit/>
            </a:bodyPr>
            <a:lstStyle/>
            <a:p>
              <a:pPr algn="l">
                <a:lnSpc>
                  <a:spcPts val="1512"/>
                </a:lnSpc>
              </a:pPr>
              <a:r>
                <a:rPr lang="en-US" b="true" sz="1080">
                  <a:solidFill>
                    <a:srgbClr val="CC0000"/>
                  </a:solidFill>
                  <a:latin typeface="Avenir Ultra-Bold"/>
                  <a:ea typeface="Avenir Ultra-Bold"/>
                  <a:cs typeface="Avenir Ultra-Bold"/>
                  <a:sym typeface="Avenir Ultra-Bold"/>
                </a:rPr>
                <a:t>Size </a:t>
              </a:r>
              <a:r>
                <a:rPr lang="en-US" b="true" sz="1080">
                  <a:solidFill>
                    <a:srgbClr val="CC0000"/>
                  </a:solidFill>
                  <a:latin typeface="Avenir Ultra-Bold"/>
                  <a:ea typeface="Avenir Ultra-Bold"/>
                  <a:cs typeface="Avenir Ultra-Bold"/>
                  <a:sym typeface="Avenir Ultra-Bold"/>
                </a:rPr>
                <a:t>m²</a:t>
              </a:r>
            </a:p>
          </p:txBody>
        </p:sp>
        <p:sp>
          <p:nvSpPr>
            <p:cNvPr name="TextBox 39" id="39"/>
            <p:cNvSpPr txBox="true"/>
            <p:nvPr/>
          </p:nvSpPr>
          <p:spPr>
            <a:xfrm rot="0">
              <a:off x="3597601" y="125793"/>
              <a:ext cx="1369273" cy="265043"/>
            </a:xfrm>
            <a:prstGeom prst="rect">
              <a:avLst/>
            </a:prstGeom>
          </p:spPr>
          <p:txBody>
            <a:bodyPr anchor="t" rtlCol="false" tIns="0" lIns="0" bIns="0" rIns="0">
              <a:spAutoFit/>
            </a:bodyPr>
            <a:lstStyle/>
            <a:p>
              <a:pPr algn="l">
                <a:lnSpc>
                  <a:spcPts val="1512"/>
                </a:lnSpc>
              </a:pPr>
              <a:r>
                <a:rPr lang="en-US" b="true" sz="1080">
                  <a:solidFill>
                    <a:srgbClr val="CC0000"/>
                  </a:solidFill>
                  <a:latin typeface="Avenir Ultra-Bold"/>
                  <a:ea typeface="Avenir Ultra-Bold"/>
                  <a:cs typeface="Avenir Ultra-Bold"/>
                  <a:sym typeface="Avenir Ultra-Bold"/>
                </a:rPr>
                <a:t>King / Twin</a:t>
              </a:r>
            </a:p>
          </p:txBody>
        </p:sp>
      </p:grpSp>
      <p:sp>
        <p:nvSpPr>
          <p:cNvPr name="TextBox 40" id="40"/>
          <p:cNvSpPr txBox="true"/>
          <p:nvPr/>
        </p:nvSpPr>
        <p:spPr>
          <a:xfrm rot="0">
            <a:off x="2479096" y="8144469"/>
            <a:ext cx="36847" cy="241090"/>
          </a:xfrm>
          <a:prstGeom prst="rect">
            <a:avLst/>
          </a:prstGeom>
        </p:spPr>
        <p:txBody>
          <a:bodyPr anchor="t" rtlCol="false" tIns="0" lIns="0" bIns="0" rIns="0">
            <a:spAutoFit/>
          </a:bodyPr>
          <a:lstStyle/>
          <a:p>
            <a:pPr algn="l">
              <a:lnSpc>
                <a:spcPts val="1786"/>
              </a:lnSpc>
            </a:pPr>
            <a:r>
              <a:rPr lang="en-US" b="true" sz="1137" i="true">
                <a:solidFill>
                  <a:srgbClr val="191919"/>
                </a:solidFill>
                <a:latin typeface="Avenir Medium Italics"/>
                <a:ea typeface="Avenir Medium Italics"/>
                <a:cs typeface="Avenir Medium Italics"/>
                <a:sym typeface="Avenir Medium Italics"/>
              </a:rPr>
              <a:t> </a:t>
            </a:r>
          </a:p>
        </p:txBody>
      </p:sp>
      <p:sp>
        <p:nvSpPr>
          <p:cNvPr name="TextBox 41" id="41"/>
          <p:cNvSpPr txBox="true"/>
          <p:nvPr/>
        </p:nvSpPr>
        <p:spPr>
          <a:xfrm rot="0">
            <a:off x="1644460" y="8381362"/>
            <a:ext cx="4046410" cy="425492"/>
          </a:xfrm>
          <a:prstGeom prst="rect">
            <a:avLst/>
          </a:prstGeom>
        </p:spPr>
        <p:txBody>
          <a:bodyPr anchor="t" rtlCol="false" tIns="0" lIns="0" bIns="0" rIns="0">
            <a:spAutoFit/>
          </a:bodyPr>
          <a:lstStyle/>
          <a:p>
            <a:pPr algn="l">
              <a:lnSpc>
                <a:spcPts val="1695"/>
              </a:lnSpc>
            </a:pPr>
            <a:r>
              <a:rPr lang="en-US" b="true" sz="1080">
                <a:solidFill>
                  <a:srgbClr val="505050"/>
                </a:solidFill>
                <a:latin typeface="Avenir Ultra-Bold"/>
                <a:ea typeface="Avenir Ultra-Bold"/>
                <a:cs typeface="Avenir Ultra-Bold"/>
                <a:sym typeface="Avenir Ultra-Bold"/>
              </a:rPr>
              <a:t>Fre</a:t>
            </a:r>
            <a:r>
              <a:rPr lang="en-US" b="true" sz="1080">
                <a:solidFill>
                  <a:srgbClr val="505050"/>
                </a:solidFill>
                <a:latin typeface="Avenir Ultra-Bold"/>
                <a:ea typeface="Avenir Ultra-Bold"/>
                <a:cs typeface="Avenir Ultra-Bold"/>
                <a:sym typeface="Avenir Ultra-Bold"/>
              </a:rPr>
              <a:t>e cancellation before </a:t>
            </a:r>
            <a:r>
              <a:rPr lang="en-US" b="true" sz="1080">
                <a:solidFill>
                  <a:srgbClr val="CC0000"/>
                </a:solidFill>
                <a:latin typeface="Avenir Ultra-Bold"/>
                <a:ea typeface="Avenir Ultra-Bold"/>
                <a:cs typeface="Avenir Ultra-Bold"/>
                <a:sym typeface="Avenir Ultra-Bold"/>
              </a:rPr>
              <a:t>time</a:t>
            </a:r>
            <a:r>
              <a:rPr lang="en-US" b="true" sz="1080">
                <a:solidFill>
                  <a:srgbClr val="505050"/>
                </a:solidFill>
                <a:latin typeface="Avenir Ultra-Bold"/>
                <a:ea typeface="Avenir Ultra-Bold"/>
                <a:cs typeface="Avenir Ultra-Bold"/>
                <a:sym typeface="Avenir Ultra-Bold"/>
              </a:rPr>
              <a:t> on </a:t>
            </a:r>
            <a:r>
              <a:rPr lang="en-US" b="true" sz="1080">
                <a:solidFill>
                  <a:srgbClr val="CC0000"/>
                </a:solidFill>
                <a:latin typeface="Avenir Ultra-Bold"/>
                <a:ea typeface="Avenir Ultra-Bold"/>
                <a:cs typeface="Avenir Ultra-Bold"/>
                <a:sym typeface="Avenir Ultra-Bold"/>
              </a:rPr>
              <a:t>Date Month Year </a:t>
            </a:r>
            <a:r>
              <a:rPr lang="en-US" b="true" sz="1080">
                <a:solidFill>
                  <a:srgbClr val="505050"/>
                </a:solidFill>
                <a:latin typeface="Avenir Ultra-Bold"/>
                <a:ea typeface="Avenir Ultra-Bold"/>
                <a:cs typeface="Avenir Ultra-Bold"/>
                <a:sym typeface="Avenir Ultra-Bold"/>
              </a:rPr>
              <a:t>after which a </a:t>
            </a:r>
            <a:r>
              <a:rPr lang="en-US" b="true" sz="1080">
                <a:solidFill>
                  <a:srgbClr val="505050"/>
                </a:solidFill>
                <a:latin typeface="Avenir Ultra-Bold"/>
                <a:ea typeface="Avenir Ultra-Bold"/>
                <a:cs typeface="Avenir Ultra-Bold"/>
                <a:sym typeface="Avenir Ultra-Bold"/>
              </a:rPr>
              <a:t>charge of EUR </a:t>
            </a:r>
            <a:r>
              <a:rPr lang="en-US" b="true" sz="1080">
                <a:solidFill>
                  <a:srgbClr val="CC0000"/>
                </a:solidFill>
                <a:latin typeface="Avenir Ultra-Bold"/>
                <a:ea typeface="Avenir Ultra-Bold"/>
                <a:cs typeface="Avenir Ultra-Bold"/>
                <a:sym typeface="Avenir Ultra-Bold"/>
              </a:rPr>
              <a:t>price</a:t>
            </a:r>
            <a:r>
              <a:rPr lang="en-US" b="true" sz="1080">
                <a:solidFill>
                  <a:srgbClr val="505050"/>
                </a:solidFill>
                <a:latin typeface="Avenir Ultra-Bold"/>
                <a:ea typeface="Avenir Ultra-Bold"/>
                <a:cs typeface="Avenir Ultra-Bold"/>
                <a:sym typeface="Avenir Ultra-Bold"/>
              </a:rPr>
              <a:t> will be incurred.</a:t>
            </a:r>
          </a:p>
        </p:txBody>
      </p:sp>
      <p:sp>
        <p:nvSpPr>
          <p:cNvPr name="TextBox 42" id="42"/>
          <p:cNvSpPr txBox="true"/>
          <p:nvPr/>
        </p:nvSpPr>
        <p:spPr>
          <a:xfrm rot="0">
            <a:off x="2479096" y="13166087"/>
            <a:ext cx="36847" cy="241090"/>
          </a:xfrm>
          <a:prstGeom prst="rect">
            <a:avLst/>
          </a:prstGeom>
        </p:spPr>
        <p:txBody>
          <a:bodyPr anchor="t" rtlCol="false" tIns="0" lIns="0" bIns="0" rIns="0">
            <a:spAutoFit/>
          </a:bodyPr>
          <a:lstStyle/>
          <a:p>
            <a:pPr algn="l">
              <a:lnSpc>
                <a:spcPts val="1786"/>
              </a:lnSpc>
            </a:pPr>
            <a:r>
              <a:rPr lang="en-US" b="true" sz="1137" i="true">
                <a:solidFill>
                  <a:srgbClr val="191919"/>
                </a:solidFill>
                <a:latin typeface="Avenir Medium Italics"/>
                <a:ea typeface="Avenir Medium Italics"/>
                <a:cs typeface="Avenir Medium Italics"/>
                <a:sym typeface="Avenir Medium Italics"/>
              </a:rPr>
              <a:t> </a:t>
            </a:r>
          </a:p>
        </p:txBody>
      </p:sp>
      <p:sp>
        <p:nvSpPr>
          <p:cNvPr name="TextBox 43" id="43"/>
          <p:cNvSpPr txBox="true"/>
          <p:nvPr/>
        </p:nvSpPr>
        <p:spPr>
          <a:xfrm rot="0">
            <a:off x="1644460" y="13402979"/>
            <a:ext cx="4329344" cy="395034"/>
          </a:xfrm>
          <a:prstGeom prst="rect">
            <a:avLst/>
          </a:prstGeom>
        </p:spPr>
        <p:txBody>
          <a:bodyPr anchor="t" rtlCol="false" tIns="0" lIns="0" bIns="0" rIns="0">
            <a:spAutoFit/>
          </a:bodyPr>
          <a:lstStyle/>
          <a:p>
            <a:pPr algn="l">
              <a:lnSpc>
                <a:spcPts val="1695"/>
              </a:lnSpc>
            </a:pPr>
            <a:r>
              <a:rPr lang="en-US" b="true" sz="1080">
                <a:solidFill>
                  <a:srgbClr val="505050"/>
                </a:solidFill>
                <a:latin typeface="Avenir Ultra-Bold"/>
                <a:ea typeface="Avenir Ultra-Bold"/>
                <a:cs typeface="Avenir Ultra-Bold"/>
                <a:sym typeface="Avenir Ultra-Bold"/>
              </a:rPr>
              <a:t>Free cancellation before </a:t>
            </a:r>
            <a:r>
              <a:rPr lang="en-US" b="true" sz="1080">
                <a:solidFill>
                  <a:srgbClr val="CC0000"/>
                </a:solidFill>
                <a:latin typeface="Avenir Ultra-Bold"/>
                <a:ea typeface="Avenir Ultra-Bold"/>
                <a:cs typeface="Avenir Ultra-Bold"/>
                <a:sym typeface="Avenir Ultra-Bold"/>
              </a:rPr>
              <a:t>time</a:t>
            </a:r>
            <a:r>
              <a:rPr lang="en-US" b="true" sz="1080">
                <a:solidFill>
                  <a:srgbClr val="505050"/>
                </a:solidFill>
                <a:latin typeface="Avenir Ultra-Bold"/>
                <a:ea typeface="Avenir Ultra-Bold"/>
                <a:cs typeface="Avenir Ultra-Bold"/>
                <a:sym typeface="Avenir Ultra-Bold"/>
              </a:rPr>
              <a:t> on </a:t>
            </a:r>
            <a:r>
              <a:rPr lang="en-US" b="true" sz="1080">
                <a:solidFill>
                  <a:srgbClr val="CC0000"/>
                </a:solidFill>
                <a:latin typeface="Avenir Ultra-Bold"/>
                <a:ea typeface="Avenir Ultra-Bold"/>
                <a:cs typeface="Avenir Ultra-Bold"/>
                <a:sym typeface="Avenir Ultra-Bold"/>
              </a:rPr>
              <a:t>Date</a:t>
            </a:r>
            <a:r>
              <a:rPr lang="en-US" b="true" sz="1080">
                <a:solidFill>
                  <a:srgbClr val="505050"/>
                </a:solidFill>
                <a:latin typeface="Avenir Ultra-Bold"/>
                <a:ea typeface="Avenir Ultra-Bold"/>
                <a:cs typeface="Avenir Ultra-Bold"/>
                <a:sym typeface="Avenir Ultra-Bold"/>
              </a:rPr>
              <a:t> </a:t>
            </a:r>
            <a:r>
              <a:rPr lang="en-US" b="true" sz="1080">
                <a:solidFill>
                  <a:srgbClr val="CC0000"/>
                </a:solidFill>
                <a:latin typeface="Avenir Ultra-Bold"/>
                <a:ea typeface="Avenir Ultra-Bold"/>
                <a:cs typeface="Avenir Ultra-Bold"/>
                <a:sym typeface="Avenir Ultra-Bold"/>
              </a:rPr>
              <a:t>Month</a:t>
            </a:r>
            <a:r>
              <a:rPr lang="en-US" b="true" sz="1080">
                <a:solidFill>
                  <a:srgbClr val="505050"/>
                </a:solidFill>
                <a:latin typeface="Avenir Ultra-Bold"/>
                <a:ea typeface="Avenir Ultra-Bold"/>
                <a:cs typeface="Avenir Ultra-Bold"/>
                <a:sym typeface="Avenir Ultra-Bold"/>
              </a:rPr>
              <a:t> </a:t>
            </a:r>
            <a:r>
              <a:rPr lang="en-US" b="true" sz="1080">
                <a:solidFill>
                  <a:srgbClr val="CC0000"/>
                </a:solidFill>
                <a:latin typeface="Avenir Ultra-Bold"/>
                <a:ea typeface="Avenir Ultra-Bold"/>
                <a:cs typeface="Avenir Ultra-Bold"/>
                <a:sym typeface="Avenir Ultra-Bold"/>
              </a:rPr>
              <a:t>Year</a:t>
            </a:r>
            <a:r>
              <a:rPr lang="en-US" b="true" sz="1080">
                <a:solidFill>
                  <a:srgbClr val="505050"/>
                </a:solidFill>
                <a:latin typeface="Avenir Ultra-Bold"/>
                <a:ea typeface="Avenir Ultra-Bold"/>
                <a:cs typeface="Avenir Ultra-Bold"/>
                <a:sym typeface="Avenir Ultra-Bold"/>
              </a:rPr>
              <a:t> after which a</a:t>
            </a:r>
          </a:p>
          <a:p>
            <a:pPr algn="l">
              <a:lnSpc>
                <a:spcPts val="1125"/>
              </a:lnSpc>
            </a:pPr>
            <a:r>
              <a:rPr lang="en-US" b="true" sz="1080">
                <a:solidFill>
                  <a:srgbClr val="505050"/>
                </a:solidFill>
                <a:latin typeface="Avenir Ultra-Bold"/>
                <a:ea typeface="Avenir Ultra-Bold"/>
                <a:cs typeface="Avenir Ultra-Bold"/>
                <a:sym typeface="Avenir Ultra-Bold"/>
              </a:rPr>
              <a:t>charge of EUR </a:t>
            </a:r>
            <a:r>
              <a:rPr lang="en-US" b="true" sz="1080">
                <a:solidFill>
                  <a:srgbClr val="CC0000"/>
                </a:solidFill>
                <a:latin typeface="Avenir Ultra-Bold"/>
                <a:ea typeface="Avenir Ultra-Bold"/>
                <a:cs typeface="Avenir Ultra-Bold"/>
                <a:sym typeface="Avenir Ultra-Bold"/>
              </a:rPr>
              <a:t>price</a:t>
            </a:r>
            <a:r>
              <a:rPr lang="en-US" b="true" sz="1080">
                <a:solidFill>
                  <a:srgbClr val="505050"/>
                </a:solidFill>
                <a:latin typeface="Avenir Ultra-Bold"/>
                <a:ea typeface="Avenir Ultra-Bold"/>
                <a:cs typeface="Avenir Ultra-Bold"/>
                <a:sym typeface="Avenir Ultra-Bold"/>
              </a:rPr>
              <a:t> will be incurred.</a:t>
            </a:r>
          </a:p>
        </p:txBody>
      </p:sp>
      <p:sp>
        <p:nvSpPr>
          <p:cNvPr name="TextBox 44" id="44"/>
          <p:cNvSpPr txBox="true"/>
          <p:nvPr/>
        </p:nvSpPr>
        <p:spPr>
          <a:xfrm rot="0">
            <a:off x="1699333" y="7807200"/>
            <a:ext cx="1170049" cy="203493"/>
          </a:xfrm>
          <a:prstGeom prst="rect">
            <a:avLst/>
          </a:prstGeom>
        </p:spPr>
        <p:txBody>
          <a:bodyPr anchor="t" rtlCol="false" tIns="0" lIns="0" bIns="0" rIns="0">
            <a:spAutoFit/>
          </a:bodyPr>
          <a:lstStyle/>
          <a:p>
            <a:pPr algn="l">
              <a:lnSpc>
                <a:spcPts val="1431"/>
              </a:lnSpc>
            </a:pPr>
            <a:r>
              <a:rPr lang="en-US" b="true" sz="1022">
                <a:solidFill>
                  <a:srgbClr val="000000"/>
                </a:solidFill>
                <a:latin typeface="Avenir Medium"/>
                <a:ea typeface="Avenir Medium"/>
                <a:cs typeface="Avenir Medium"/>
                <a:sym typeface="Avenir Medium"/>
              </a:rPr>
              <a:t>Best Available Rate</a:t>
            </a:r>
          </a:p>
        </p:txBody>
      </p:sp>
      <p:sp>
        <p:nvSpPr>
          <p:cNvPr name="TextBox 45" id="45"/>
          <p:cNvSpPr txBox="true"/>
          <p:nvPr/>
        </p:nvSpPr>
        <p:spPr>
          <a:xfrm rot="0">
            <a:off x="1699333" y="12828817"/>
            <a:ext cx="1170049" cy="203493"/>
          </a:xfrm>
          <a:prstGeom prst="rect">
            <a:avLst/>
          </a:prstGeom>
        </p:spPr>
        <p:txBody>
          <a:bodyPr anchor="t" rtlCol="false" tIns="0" lIns="0" bIns="0" rIns="0">
            <a:spAutoFit/>
          </a:bodyPr>
          <a:lstStyle/>
          <a:p>
            <a:pPr algn="l">
              <a:lnSpc>
                <a:spcPts val="1431"/>
              </a:lnSpc>
            </a:pPr>
            <a:r>
              <a:rPr lang="en-US" b="true" sz="1022">
                <a:solidFill>
                  <a:srgbClr val="000000"/>
                </a:solidFill>
                <a:latin typeface="Avenir Medium"/>
                <a:ea typeface="Avenir Medium"/>
                <a:cs typeface="Avenir Medium"/>
                <a:sym typeface="Avenir Medium"/>
              </a:rPr>
              <a:t>Best Available Rate</a:t>
            </a:r>
          </a:p>
        </p:txBody>
      </p:sp>
      <p:sp>
        <p:nvSpPr>
          <p:cNvPr name="TextBox 46" id="46"/>
          <p:cNvSpPr txBox="true"/>
          <p:nvPr/>
        </p:nvSpPr>
        <p:spPr>
          <a:xfrm rot="0">
            <a:off x="7072990" y="7791931"/>
            <a:ext cx="1478643" cy="800326"/>
          </a:xfrm>
          <a:prstGeom prst="rect">
            <a:avLst/>
          </a:prstGeom>
        </p:spPr>
        <p:txBody>
          <a:bodyPr anchor="t" rtlCol="false" tIns="0" lIns="0" bIns="0" rIns="0">
            <a:spAutoFit/>
          </a:bodyPr>
          <a:lstStyle/>
          <a:p>
            <a:pPr algn="r">
              <a:lnSpc>
                <a:spcPts val="1371"/>
              </a:lnSpc>
            </a:pPr>
            <a:r>
              <a:rPr lang="en-US" b="true" sz="979" i="true">
                <a:solidFill>
                  <a:srgbClr val="505050"/>
                </a:solidFill>
                <a:latin typeface="Avenir Medium Italics"/>
                <a:ea typeface="Avenir Medium Italics"/>
                <a:cs typeface="Avenir Medium Italics"/>
                <a:sym typeface="Avenir Medium Italics"/>
              </a:rPr>
              <a:t>Total for </a:t>
            </a:r>
            <a:r>
              <a:rPr lang="en-US" b="true" sz="979" i="true">
                <a:solidFill>
                  <a:srgbClr val="CC0000"/>
                </a:solidFill>
                <a:latin typeface="Avenir Medium Italics"/>
                <a:ea typeface="Avenir Medium Italics"/>
                <a:cs typeface="Avenir Medium Italics"/>
                <a:sym typeface="Avenir Medium Italics"/>
              </a:rPr>
              <a:t>x</a:t>
            </a:r>
            <a:r>
              <a:rPr lang="en-US" b="true" sz="979" i="true">
                <a:solidFill>
                  <a:srgbClr val="505050"/>
                </a:solidFill>
                <a:latin typeface="Avenir Medium Italics"/>
                <a:ea typeface="Avenir Medium Italics"/>
                <a:cs typeface="Avenir Medium Italics"/>
                <a:sym typeface="Avenir Medium Italics"/>
              </a:rPr>
              <a:t> nights inc tax</a:t>
            </a:r>
          </a:p>
          <a:p>
            <a:pPr algn="r">
              <a:lnSpc>
                <a:spcPts val="1814"/>
              </a:lnSpc>
            </a:pPr>
            <a:r>
              <a:rPr lang="en-US" b="true" sz="1296" i="true">
                <a:solidFill>
                  <a:srgbClr val="505050"/>
                </a:solidFill>
                <a:latin typeface="Avenir Medium Italics"/>
                <a:ea typeface="Avenir Medium Italics"/>
                <a:cs typeface="Avenir Medium Italics"/>
                <a:sym typeface="Avenir Medium Italics"/>
              </a:rPr>
              <a:t>€ </a:t>
            </a:r>
            <a:r>
              <a:rPr lang="en-US" b="true" sz="1296" i="true">
                <a:solidFill>
                  <a:srgbClr val="CC0000"/>
                </a:solidFill>
                <a:latin typeface="Avenir Medium Italics"/>
                <a:ea typeface="Avenir Medium Italics"/>
                <a:cs typeface="Avenir Medium Italics"/>
                <a:sym typeface="Avenir Medium Italics"/>
              </a:rPr>
              <a:t>price</a:t>
            </a:r>
          </a:p>
          <a:p>
            <a:pPr algn="r">
              <a:lnSpc>
                <a:spcPts val="1575"/>
              </a:lnSpc>
            </a:pPr>
            <a:r>
              <a:rPr lang="en-US" b="true" sz="979" i="true">
                <a:solidFill>
                  <a:srgbClr val="505050"/>
                </a:solidFill>
                <a:latin typeface="Avenir Medium Italics"/>
                <a:ea typeface="Avenir Medium Italics"/>
                <a:cs typeface="Avenir Medium Italics"/>
                <a:sym typeface="Avenir Medium Italics"/>
              </a:rPr>
              <a:t>Average per night inc tax € </a:t>
            </a:r>
            <a:r>
              <a:rPr lang="en-US" b="true" sz="979" i="true">
                <a:solidFill>
                  <a:srgbClr val="CC0000"/>
                </a:solidFill>
                <a:latin typeface="Avenir Medium Italics"/>
                <a:ea typeface="Avenir Medium Italics"/>
                <a:cs typeface="Avenir Medium Italics"/>
                <a:sym typeface="Avenir Medium Italics"/>
              </a:rPr>
              <a:t>price</a:t>
            </a:r>
          </a:p>
        </p:txBody>
      </p:sp>
      <p:sp>
        <p:nvSpPr>
          <p:cNvPr name="TextBox 47" id="47"/>
          <p:cNvSpPr txBox="true"/>
          <p:nvPr/>
        </p:nvSpPr>
        <p:spPr>
          <a:xfrm rot="0">
            <a:off x="6473512" y="12813549"/>
            <a:ext cx="2078121" cy="800326"/>
          </a:xfrm>
          <a:prstGeom prst="rect">
            <a:avLst/>
          </a:prstGeom>
        </p:spPr>
        <p:txBody>
          <a:bodyPr anchor="t" rtlCol="false" tIns="0" lIns="0" bIns="0" rIns="0">
            <a:spAutoFit/>
          </a:bodyPr>
          <a:lstStyle/>
          <a:p>
            <a:pPr algn="r">
              <a:lnSpc>
                <a:spcPts val="1371"/>
              </a:lnSpc>
            </a:pPr>
            <a:r>
              <a:rPr lang="en-US" b="true" sz="979" i="true">
                <a:solidFill>
                  <a:srgbClr val="505050"/>
                </a:solidFill>
                <a:latin typeface="Avenir Medium Italics"/>
                <a:ea typeface="Avenir Medium Italics"/>
                <a:cs typeface="Avenir Medium Italics"/>
                <a:sym typeface="Avenir Medium Italics"/>
              </a:rPr>
              <a:t>Total for </a:t>
            </a:r>
            <a:r>
              <a:rPr lang="en-US" b="true" sz="979" i="true">
                <a:solidFill>
                  <a:srgbClr val="CC0000"/>
                </a:solidFill>
                <a:latin typeface="Avenir Medium Italics"/>
                <a:ea typeface="Avenir Medium Italics"/>
                <a:cs typeface="Avenir Medium Italics"/>
                <a:sym typeface="Avenir Medium Italics"/>
              </a:rPr>
              <a:t>x </a:t>
            </a:r>
            <a:r>
              <a:rPr lang="en-US" b="true" sz="979" i="true">
                <a:solidFill>
                  <a:srgbClr val="505050"/>
                </a:solidFill>
                <a:latin typeface="Avenir Medium Italics"/>
                <a:ea typeface="Avenir Medium Italics"/>
                <a:cs typeface="Avenir Medium Italics"/>
                <a:sym typeface="Avenir Medium Italics"/>
              </a:rPr>
              <a:t>nights inc tax</a:t>
            </a:r>
          </a:p>
          <a:p>
            <a:pPr algn="r">
              <a:lnSpc>
                <a:spcPts val="1814"/>
              </a:lnSpc>
            </a:pPr>
            <a:r>
              <a:rPr lang="en-US" b="true" sz="1296" i="true">
                <a:solidFill>
                  <a:srgbClr val="505050"/>
                </a:solidFill>
                <a:latin typeface="Avenir Medium Italics"/>
                <a:ea typeface="Avenir Medium Italics"/>
                <a:cs typeface="Avenir Medium Italics"/>
                <a:sym typeface="Avenir Medium Italics"/>
              </a:rPr>
              <a:t>€ </a:t>
            </a:r>
            <a:r>
              <a:rPr lang="en-US" b="true" sz="1296" i="true">
                <a:solidFill>
                  <a:srgbClr val="CC0000"/>
                </a:solidFill>
                <a:latin typeface="Avenir Medium Italics"/>
                <a:ea typeface="Avenir Medium Italics"/>
                <a:cs typeface="Avenir Medium Italics"/>
                <a:sym typeface="Avenir Medium Italics"/>
              </a:rPr>
              <a:t>price</a:t>
            </a:r>
          </a:p>
          <a:p>
            <a:pPr algn="r">
              <a:lnSpc>
                <a:spcPts val="1575"/>
              </a:lnSpc>
            </a:pPr>
            <a:r>
              <a:rPr lang="en-US" b="true" sz="979" i="true">
                <a:solidFill>
                  <a:srgbClr val="505050"/>
                </a:solidFill>
                <a:latin typeface="Avenir Medium Italics"/>
                <a:ea typeface="Avenir Medium Italics"/>
                <a:cs typeface="Avenir Medium Italics"/>
                <a:sym typeface="Avenir Medium Italics"/>
              </a:rPr>
              <a:t>Average per night inc tax </a:t>
            </a:r>
          </a:p>
          <a:p>
            <a:pPr algn="r">
              <a:lnSpc>
                <a:spcPts val="1575"/>
              </a:lnSpc>
            </a:pPr>
            <a:r>
              <a:rPr lang="en-US" b="true" sz="979" i="true">
                <a:solidFill>
                  <a:srgbClr val="505050"/>
                </a:solidFill>
                <a:latin typeface="Avenir Medium Italics"/>
                <a:ea typeface="Avenir Medium Italics"/>
                <a:cs typeface="Avenir Medium Italics"/>
                <a:sym typeface="Avenir Medium Italics"/>
              </a:rPr>
              <a:t>€ </a:t>
            </a:r>
            <a:r>
              <a:rPr lang="en-US" b="true" sz="979" i="true">
                <a:solidFill>
                  <a:srgbClr val="CC0000"/>
                </a:solidFill>
                <a:latin typeface="Avenir Medium Italics"/>
                <a:ea typeface="Avenir Medium Italics"/>
                <a:cs typeface="Avenir Medium Italics"/>
                <a:sym typeface="Avenir Medium Italics"/>
              </a:rPr>
              <a:t>price</a:t>
            </a:r>
          </a:p>
        </p:txBody>
      </p:sp>
      <p:sp>
        <p:nvSpPr>
          <p:cNvPr name="TextBox 48" id="48"/>
          <p:cNvSpPr txBox="true"/>
          <p:nvPr/>
        </p:nvSpPr>
        <p:spPr>
          <a:xfrm rot="0">
            <a:off x="1644460" y="8163519"/>
            <a:ext cx="1231433" cy="210782"/>
          </a:xfrm>
          <a:prstGeom prst="rect">
            <a:avLst/>
          </a:prstGeom>
        </p:spPr>
        <p:txBody>
          <a:bodyPr anchor="t" rtlCol="false" tIns="0" lIns="0" bIns="0" rIns="0">
            <a:spAutoFit/>
          </a:bodyPr>
          <a:lstStyle/>
          <a:p>
            <a:pPr algn="l">
              <a:lnSpc>
                <a:spcPts val="1592"/>
              </a:lnSpc>
            </a:pPr>
            <a:r>
              <a:rPr lang="en-US" b="true" sz="1137" i="true">
                <a:solidFill>
                  <a:srgbClr val="191919"/>
                </a:solidFill>
                <a:latin typeface="Avenir Medium Italics"/>
                <a:ea typeface="Avenir Medium Italics"/>
                <a:cs typeface="Avenir Medium Italics"/>
                <a:sym typeface="Avenir Medium Italics"/>
              </a:rPr>
              <a:t>Cancellation policy</a:t>
            </a:r>
          </a:p>
        </p:txBody>
      </p:sp>
      <p:sp>
        <p:nvSpPr>
          <p:cNvPr name="TextBox 49" id="49"/>
          <p:cNvSpPr txBox="true"/>
          <p:nvPr/>
        </p:nvSpPr>
        <p:spPr>
          <a:xfrm rot="0">
            <a:off x="1644460" y="13185137"/>
            <a:ext cx="1231433" cy="210782"/>
          </a:xfrm>
          <a:prstGeom prst="rect">
            <a:avLst/>
          </a:prstGeom>
        </p:spPr>
        <p:txBody>
          <a:bodyPr anchor="t" rtlCol="false" tIns="0" lIns="0" bIns="0" rIns="0">
            <a:spAutoFit/>
          </a:bodyPr>
          <a:lstStyle/>
          <a:p>
            <a:pPr algn="l">
              <a:lnSpc>
                <a:spcPts val="1592"/>
              </a:lnSpc>
            </a:pPr>
            <a:r>
              <a:rPr lang="en-US" b="true" sz="1137" i="true">
                <a:solidFill>
                  <a:srgbClr val="191919"/>
                </a:solidFill>
                <a:latin typeface="Avenir Medium Italics"/>
                <a:ea typeface="Avenir Medium Italics"/>
                <a:cs typeface="Avenir Medium Italics"/>
                <a:sym typeface="Avenir Medium Italics"/>
              </a:rPr>
              <a:t>Cancellation policy</a:t>
            </a:r>
          </a:p>
        </p:txBody>
      </p:sp>
      <p:sp>
        <p:nvSpPr>
          <p:cNvPr name="Freeform 50" id="50"/>
          <p:cNvSpPr/>
          <p:nvPr/>
        </p:nvSpPr>
        <p:spPr>
          <a:xfrm flipH="false" flipV="false" rot="0">
            <a:off x="8809372" y="2775213"/>
            <a:ext cx="756397" cy="756397"/>
          </a:xfrm>
          <a:custGeom>
            <a:avLst/>
            <a:gdLst/>
            <a:ahLst/>
            <a:cxnLst/>
            <a:rect r="r" b="b" t="t" l="l"/>
            <a:pathLst>
              <a:path h="756397" w="756397">
                <a:moveTo>
                  <a:pt x="0" y="0"/>
                </a:moveTo>
                <a:lnTo>
                  <a:pt x="756397" y="0"/>
                </a:lnTo>
                <a:lnTo>
                  <a:pt x="756397" y="756397"/>
                </a:lnTo>
                <a:lnTo>
                  <a:pt x="0" y="756397"/>
                </a:lnTo>
                <a:lnTo>
                  <a:pt x="0" y="0"/>
                </a:lnTo>
                <a:close/>
              </a:path>
            </a:pathLst>
          </a:custGeom>
          <a:blipFill>
            <a:blip r:embed="rId6"/>
            <a:stretch>
              <a:fillRect l="0" t="0" r="0" b="0"/>
            </a:stretch>
          </a:blipFill>
        </p:spPr>
      </p:sp>
      <p:grpSp>
        <p:nvGrpSpPr>
          <p:cNvPr name="Group 51" id="51"/>
          <p:cNvGrpSpPr/>
          <p:nvPr/>
        </p:nvGrpSpPr>
        <p:grpSpPr>
          <a:xfrm rot="0">
            <a:off x="-84048" y="15237194"/>
            <a:ext cx="10455084" cy="647136"/>
            <a:chOff x="0" y="0"/>
            <a:chExt cx="7899400" cy="488950"/>
          </a:xfrm>
        </p:grpSpPr>
        <p:sp>
          <p:nvSpPr>
            <p:cNvPr name="Freeform 52" id="52"/>
            <p:cNvSpPr/>
            <p:nvPr/>
          </p:nvSpPr>
          <p:spPr>
            <a:xfrm flipH="false" flipV="false" rot="0">
              <a:off x="63500" y="63500"/>
              <a:ext cx="7772400" cy="361950"/>
            </a:xfrm>
            <a:custGeom>
              <a:avLst/>
              <a:gdLst/>
              <a:ahLst/>
              <a:cxnLst/>
              <a:rect r="r" b="b" t="t" l="l"/>
              <a:pathLst>
                <a:path h="361950" w="7772400">
                  <a:moveTo>
                    <a:pt x="0" y="361950"/>
                  </a:moveTo>
                  <a:lnTo>
                    <a:pt x="7772400" y="361950"/>
                  </a:lnTo>
                  <a:lnTo>
                    <a:pt x="7772400" y="0"/>
                  </a:lnTo>
                  <a:lnTo>
                    <a:pt x="0" y="0"/>
                  </a:lnTo>
                  <a:close/>
                </a:path>
              </a:pathLst>
            </a:custGeom>
            <a:solidFill>
              <a:srgbClr val="FFFFFF"/>
            </a:solidFill>
          </p:spPr>
        </p:sp>
        <p:sp>
          <p:nvSpPr>
            <p:cNvPr name="Freeform 53" id="53"/>
            <p:cNvSpPr/>
            <p:nvPr/>
          </p:nvSpPr>
          <p:spPr>
            <a:xfrm flipH="false" flipV="false" rot="0">
              <a:off x="63500" y="63500"/>
              <a:ext cx="7772400" cy="4826"/>
            </a:xfrm>
            <a:custGeom>
              <a:avLst/>
              <a:gdLst/>
              <a:ahLst/>
              <a:cxnLst/>
              <a:rect r="r" b="b" t="t" l="l"/>
              <a:pathLst>
                <a:path h="4826" w="7772400">
                  <a:moveTo>
                    <a:pt x="0" y="0"/>
                  </a:moveTo>
                  <a:lnTo>
                    <a:pt x="7772400" y="0"/>
                  </a:lnTo>
                  <a:lnTo>
                    <a:pt x="7772400" y="4826"/>
                  </a:lnTo>
                  <a:lnTo>
                    <a:pt x="0" y="4826"/>
                  </a:lnTo>
                </a:path>
              </a:pathLst>
            </a:custGeom>
            <a:solidFill>
              <a:srgbClr val="191919"/>
            </a:solidFill>
          </p:spPr>
        </p:sp>
      </p:grpSp>
      <p:sp>
        <p:nvSpPr>
          <p:cNvPr name="TextBox 54" id="54"/>
          <p:cNvSpPr txBox="true"/>
          <p:nvPr/>
        </p:nvSpPr>
        <p:spPr>
          <a:xfrm rot="0">
            <a:off x="276085" y="15458677"/>
            <a:ext cx="3809909" cy="175121"/>
          </a:xfrm>
          <a:prstGeom prst="rect">
            <a:avLst/>
          </a:prstGeom>
        </p:spPr>
        <p:txBody>
          <a:bodyPr anchor="t" rtlCol="false" tIns="0" lIns="0" bIns="0" rIns="0">
            <a:spAutoFit/>
          </a:bodyPr>
          <a:lstStyle/>
          <a:p>
            <a:pPr algn="l">
              <a:lnSpc>
                <a:spcPts val="1260"/>
              </a:lnSpc>
            </a:pPr>
            <a:r>
              <a:rPr lang="en-US" b="true" sz="900">
                <a:solidFill>
                  <a:srgbClr val="505050"/>
                </a:solidFill>
                <a:latin typeface="Avenir Ultra-Bold"/>
                <a:ea typeface="Avenir Ultra-Bold"/>
                <a:cs typeface="Avenir Ultra-Bold"/>
                <a:sym typeface="Avenir Ultra-Bold"/>
              </a:rPr>
              <a:t>All prices listed are subject to availability and change, none are on hold.</a:t>
            </a:r>
          </a:p>
        </p:txBody>
      </p:sp>
      <p:sp>
        <p:nvSpPr>
          <p:cNvPr name="Freeform 55" id="55"/>
          <p:cNvSpPr/>
          <p:nvPr/>
        </p:nvSpPr>
        <p:spPr>
          <a:xfrm flipH="false" flipV="false" rot="0">
            <a:off x="4156808" y="16565541"/>
            <a:ext cx="1973384" cy="1973384"/>
          </a:xfrm>
          <a:custGeom>
            <a:avLst/>
            <a:gdLst/>
            <a:ahLst/>
            <a:cxnLst/>
            <a:rect r="r" b="b" t="t" l="l"/>
            <a:pathLst>
              <a:path h="1973384" w="1973384">
                <a:moveTo>
                  <a:pt x="0" y="0"/>
                </a:moveTo>
                <a:lnTo>
                  <a:pt x="1973384" y="0"/>
                </a:lnTo>
                <a:lnTo>
                  <a:pt x="1973384" y="1973383"/>
                </a:lnTo>
                <a:lnTo>
                  <a:pt x="0" y="1973383"/>
                </a:lnTo>
                <a:lnTo>
                  <a:pt x="0" y="0"/>
                </a:lnTo>
                <a:close/>
              </a:path>
            </a:pathLst>
          </a:custGeom>
          <a:blipFill>
            <a:blip r:embed="rId7"/>
            <a:stretch>
              <a:fillRect l="0" t="0" r="0" b="0"/>
            </a:stretch>
          </a:blipFill>
        </p:spPr>
      </p:sp>
      <p:grpSp>
        <p:nvGrpSpPr>
          <p:cNvPr name="Group 56" id="56"/>
          <p:cNvGrpSpPr/>
          <p:nvPr/>
        </p:nvGrpSpPr>
        <p:grpSpPr>
          <a:xfrm rot="0">
            <a:off x="1618162" y="12291088"/>
            <a:ext cx="3725156" cy="394717"/>
            <a:chOff x="0" y="0"/>
            <a:chExt cx="4966875" cy="526290"/>
          </a:xfrm>
        </p:grpSpPr>
        <p:grpSp>
          <p:nvGrpSpPr>
            <p:cNvPr name="Group 57" id="57"/>
            <p:cNvGrpSpPr/>
            <p:nvPr/>
          </p:nvGrpSpPr>
          <p:grpSpPr>
            <a:xfrm rot="0">
              <a:off x="0" y="44749"/>
              <a:ext cx="536551" cy="436791"/>
              <a:chOff x="0" y="0"/>
              <a:chExt cx="279400" cy="227457"/>
            </a:xfrm>
          </p:grpSpPr>
          <p:sp>
            <p:nvSpPr>
              <p:cNvPr name="Freeform 58" id="58"/>
              <p:cNvSpPr/>
              <p:nvPr/>
            </p:nvSpPr>
            <p:spPr>
              <a:xfrm flipH="false" flipV="false" rot="0">
                <a:off x="63500" y="63474"/>
                <a:ext cx="152272" cy="100481"/>
              </a:xfrm>
              <a:custGeom>
                <a:avLst/>
                <a:gdLst/>
                <a:ahLst/>
                <a:cxnLst/>
                <a:rect r="r" b="b" t="t" l="l"/>
                <a:pathLst>
                  <a:path h="100481" w="152272">
                    <a:moveTo>
                      <a:pt x="75056" y="100481"/>
                    </a:moveTo>
                    <a:cubicBezTo>
                      <a:pt x="48894" y="100481"/>
                      <a:pt x="23875" y="84098"/>
                      <a:pt x="635" y="51841"/>
                    </a:cubicBezTo>
                    <a:cubicBezTo>
                      <a:pt x="254" y="51333"/>
                      <a:pt x="0" y="50571"/>
                      <a:pt x="0" y="49936"/>
                    </a:cubicBezTo>
                    <a:cubicBezTo>
                      <a:pt x="0" y="49301"/>
                      <a:pt x="127" y="48539"/>
                      <a:pt x="508" y="48031"/>
                    </a:cubicBezTo>
                    <a:cubicBezTo>
                      <a:pt x="1778" y="46126"/>
                      <a:pt x="32003" y="1041"/>
                      <a:pt x="75691" y="25"/>
                    </a:cubicBezTo>
                    <a:cubicBezTo>
                      <a:pt x="102488" y="-737"/>
                      <a:pt x="128015" y="15519"/>
                      <a:pt x="151637" y="47904"/>
                    </a:cubicBezTo>
                    <a:cubicBezTo>
                      <a:pt x="152018" y="48412"/>
                      <a:pt x="152272" y="49047"/>
                      <a:pt x="152272" y="49809"/>
                    </a:cubicBezTo>
                    <a:cubicBezTo>
                      <a:pt x="152272" y="50571"/>
                      <a:pt x="152145" y="51206"/>
                      <a:pt x="151764" y="51714"/>
                    </a:cubicBezTo>
                    <a:cubicBezTo>
                      <a:pt x="150494" y="53619"/>
                      <a:pt x="120141" y="99465"/>
                      <a:pt x="76453" y="100481"/>
                    </a:cubicBezTo>
                    <a:cubicBezTo>
                      <a:pt x="75945" y="100481"/>
                      <a:pt x="75437" y="100481"/>
                      <a:pt x="74929" y="100481"/>
                    </a:cubicBezTo>
                    <a:close/>
                    <a:moveTo>
                      <a:pt x="7366" y="49809"/>
                    </a:moveTo>
                    <a:cubicBezTo>
                      <a:pt x="29336" y="79526"/>
                      <a:pt x="52577" y="94385"/>
                      <a:pt x="76326" y="93750"/>
                    </a:cubicBezTo>
                    <a:cubicBezTo>
                      <a:pt x="111759" y="92988"/>
                      <a:pt x="138810" y="58445"/>
                      <a:pt x="144906" y="49936"/>
                    </a:cubicBezTo>
                    <a:cubicBezTo>
                      <a:pt x="123062" y="20726"/>
                      <a:pt x="99694" y="6248"/>
                      <a:pt x="75818" y="6756"/>
                    </a:cubicBezTo>
                    <a:cubicBezTo>
                      <a:pt x="40385" y="7518"/>
                      <a:pt x="13461" y="41427"/>
                      <a:pt x="7239" y="49936"/>
                    </a:cubicBezTo>
                    <a:close/>
                  </a:path>
                </a:pathLst>
              </a:custGeom>
              <a:solidFill>
                <a:srgbClr val="505050"/>
              </a:solidFill>
            </p:spPr>
          </p:sp>
          <p:sp>
            <p:nvSpPr>
              <p:cNvPr name="Freeform 59" id="59"/>
              <p:cNvSpPr/>
              <p:nvPr/>
            </p:nvSpPr>
            <p:spPr>
              <a:xfrm flipH="false" flipV="false" rot="0">
                <a:off x="112521" y="86359"/>
                <a:ext cx="54483" cy="54736"/>
              </a:xfrm>
              <a:custGeom>
                <a:avLst/>
                <a:gdLst/>
                <a:ahLst/>
                <a:cxnLst/>
                <a:rect r="r" b="b" t="t" l="l"/>
                <a:pathLst>
                  <a:path h="54736" w="54483">
                    <a:moveTo>
                      <a:pt x="27178" y="54736"/>
                    </a:moveTo>
                    <a:cubicBezTo>
                      <a:pt x="21844" y="54736"/>
                      <a:pt x="16510" y="53085"/>
                      <a:pt x="12065" y="50164"/>
                    </a:cubicBezTo>
                    <a:cubicBezTo>
                      <a:pt x="7620" y="47243"/>
                      <a:pt x="4064" y="42925"/>
                      <a:pt x="2032" y="37845"/>
                    </a:cubicBezTo>
                    <a:cubicBezTo>
                      <a:pt x="0" y="32766"/>
                      <a:pt x="-508" y="27305"/>
                      <a:pt x="508" y="21971"/>
                    </a:cubicBezTo>
                    <a:cubicBezTo>
                      <a:pt x="1524" y="16637"/>
                      <a:pt x="4191" y="11811"/>
                      <a:pt x="8001" y="8001"/>
                    </a:cubicBezTo>
                    <a:cubicBezTo>
                      <a:pt x="11811" y="4191"/>
                      <a:pt x="16637" y="1524"/>
                      <a:pt x="21971" y="508"/>
                    </a:cubicBezTo>
                    <a:cubicBezTo>
                      <a:pt x="27305" y="-508"/>
                      <a:pt x="32766" y="0"/>
                      <a:pt x="37719" y="2032"/>
                    </a:cubicBezTo>
                    <a:cubicBezTo>
                      <a:pt x="42672" y="4064"/>
                      <a:pt x="46990" y="7620"/>
                      <a:pt x="49911" y="12065"/>
                    </a:cubicBezTo>
                    <a:cubicBezTo>
                      <a:pt x="52832" y="16510"/>
                      <a:pt x="54483" y="21844"/>
                      <a:pt x="54483" y="27305"/>
                    </a:cubicBezTo>
                    <a:cubicBezTo>
                      <a:pt x="54483" y="34544"/>
                      <a:pt x="51562" y="41528"/>
                      <a:pt x="46482" y="46608"/>
                    </a:cubicBezTo>
                    <a:cubicBezTo>
                      <a:pt x="41402" y="51688"/>
                      <a:pt x="34417" y="54609"/>
                      <a:pt x="27178" y="54609"/>
                    </a:cubicBezTo>
                    <a:close/>
                    <a:moveTo>
                      <a:pt x="27178" y="6477"/>
                    </a:moveTo>
                    <a:cubicBezTo>
                      <a:pt x="23114" y="6477"/>
                      <a:pt x="19177" y="7747"/>
                      <a:pt x="15748" y="10033"/>
                    </a:cubicBezTo>
                    <a:cubicBezTo>
                      <a:pt x="12319" y="12319"/>
                      <a:pt x="9652" y="15494"/>
                      <a:pt x="8128" y="19304"/>
                    </a:cubicBezTo>
                    <a:cubicBezTo>
                      <a:pt x="6604" y="23114"/>
                      <a:pt x="6223" y="27305"/>
                      <a:pt x="6985" y="31242"/>
                    </a:cubicBezTo>
                    <a:cubicBezTo>
                      <a:pt x="7747" y="35179"/>
                      <a:pt x="9779" y="38988"/>
                      <a:pt x="12573" y="41782"/>
                    </a:cubicBezTo>
                    <a:cubicBezTo>
                      <a:pt x="15367" y="44576"/>
                      <a:pt x="19177" y="46608"/>
                      <a:pt x="23114" y="47497"/>
                    </a:cubicBezTo>
                    <a:cubicBezTo>
                      <a:pt x="27051" y="48386"/>
                      <a:pt x="31242" y="47878"/>
                      <a:pt x="35052" y="46354"/>
                    </a:cubicBezTo>
                    <a:cubicBezTo>
                      <a:pt x="38862" y="44830"/>
                      <a:pt x="42037" y="42163"/>
                      <a:pt x="44323" y="38734"/>
                    </a:cubicBezTo>
                    <a:cubicBezTo>
                      <a:pt x="46609" y="35306"/>
                      <a:pt x="47752" y="31369"/>
                      <a:pt x="47752" y="27178"/>
                    </a:cubicBezTo>
                    <a:cubicBezTo>
                      <a:pt x="47752" y="21717"/>
                      <a:pt x="45593" y="16383"/>
                      <a:pt x="41656" y="12573"/>
                    </a:cubicBezTo>
                    <a:cubicBezTo>
                      <a:pt x="37719" y="8763"/>
                      <a:pt x="32512" y="6477"/>
                      <a:pt x="27051" y="6477"/>
                    </a:cubicBezTo>
                    <a:close/>
                  </a:path>
                </a:pathLst>
              </a:custGeom>
              <a:solidFill>
                <a:srgbClr val="505050"/>
              </a:solidFill>
            </p:spPr>
          </p:sp>
        </p:grpSp>
        <p:sp>
          <p:nvSpPr>
            <p:cNvPr name="TextBox 60" id="60"/>
            <p:cNvSpPr txBox="true"/>
            <p:nvPr/>
          </p:nvSpPr>
          <p:spPr>
            <a:xfrm rot="0">
              <a:off x="519778" y="121119"/>
              <a:ext cx="1042789" cy="265043"/>
            </a:xfrm>
            <a:prstGeom prst="rect">
              <a:avLst/>
            </a:prstGeom>
          </p:spPr>
          <p:txBody>
            <a:bodyPr anchor="t" rtlCol="false" tIns="0" lIns="0" bIns="0" rIns="0">
              <a:spAutoFit/>
            </a:bodyPr>
            <a:lstStyle/>
            <a:p>
              <a:pPr algn="l">
                <a:lnSpc>
                  <a:spcPts val="1512"/>
                </a:lnSpc>
              </a:pPr>
              <a:r>
                <a:rPr lang="en-US" b="true" sz="1080">
                  <a:solidFill>
                    <a:srgbClr val="CC0000"/>
                  </a:solidFill>
                  <a:latin typeface="Avenir Ultra-Bold"/>
                  <a:ea typeface="Avenir Ultra-Bold"/>
                  <a:cs typeface="Avenir Ultra-Bold"/>
                  <a:sym typeface="Avenir Ultra-Bold"/>
                </a:rPr>
                <a:t>Room View </a:t>
              </a:r>
            </a:p>
          </p:txBody>
        </p:sp>
        <p:grpSp>
          <p:nvGrpSpPr>
            <p:cNvPr name="Group 61" id="61"/>
            <p:cNvGrpSpPr/>
            <p:nvPr/>
          </p:nvGrpSpPr>
          <p:grpSpPr>
            <a:xfrm rot="0">
              <a:off x="1668294" y="125422"/>
              <a:ext cx="292657" cy="282414"/>
              <a:chOff x="0" y="0"/>
              <a:chExt cx="152400" cy="147066"/>
            </a:xfrm>
          </p:grpSpPr>
          <p:sp>
            <p:nvSpPr>
              <p:cNvPr name="Freeform 62" id="62"/>
              <p:cNvSpPr/>
              <p:nvPr/>
            </p:nvSpPr>
            <p:spPr>
              <a:xfrm flipH="false" flipV="false" rot="0">
                <a:off x="0" y="0"/>
                <a:ext cx="152400" cy="147066"/>
              </a:xfrm>
              <a:custGeom>
                <a:avLst/>
                <a:gdLst/>
                <a:ahLst/>
                <a:cxnLst/>
                <a:rect r="r" b="b" t="t" l="l"/>
                <a:pathLst>
                  <a:path h="147066" w="152400">
                    <a:moveTo>
                      <a:pt x="0" y="0"/>
                    </a:moveTo>
                    <a:lnTo>
                      <a:pt x="0" y="147066"/>
                    </a:lnTo>
                    <a:lnTo>
                      <a:pt x="152400" y="147066"/>
                    </a:lnTo>
                    <a:lnTo>
                      <a:pt x="152400" y="0"/>
                    </a:lnTo>
                    <a:lnTo>
                      <a:pt x="130175" y="0"/>
                    </a:lnTo>
                    <a:lnTo>
                      <a:pt x="129540" y="508"/>
                    </a:lnTo>
                    <a:lnTo>
                      <a:pt x="93726" y="27813"/>
                    </a:lnTo>
                    <a:lnTo>
                      <a:pt x="96647" y="31496"/>
                    </a:lnTo>
                    <a:lnTo>
                      <a:pt x="131826" y="4572"/>
                    </a:lnTo>
                    <a:lnTo>
                      <a:pt x="147701" y="4572"/>
                    </a:lnTo>
                    <a:lnTo>
                      <a:pt x="147701" y="78105"/>
                    </a:lnTo>
                    <a:lnTo>
                      <a:pt x="81026" y="78105"/>
                    </a:lnTo>
                    <a:lnTo>
                      <a:pt x="81026" y="110363"/>
                    </a:lnTo>
                    <a:lnTo>
                      <a:pt x="4826" y="110363"/>
                    </a:lnTo>
                    <a:lnTo>
                      <a:pt x="4826" y="68961"/>
                    </a:lnTo>
                    <a:lnTo>
                      <a:pt x="71374" y="68961"/>
                    </a:lnTo>
                    <a:lnTo>
                      <a:pt x="71374" y="4572"/>
                    </a:lnTo>
                    <a:lnTo>
                      <a:pt x="95250" y="4572"/>
                    </a:lnTo>
                    <a:lnTo>
                      <a:pt x="95250" y="0"/>
                    </a:lnTo>
                    <a:lnTo>
                      <a:pt x="0" y="0"/>
                    </a:lnTo>
                    <a:close/>
                    <a:moveTo>
                      <a:pt x="4826" y="4572"/>
                    </a:moveTo>
                    <a:lnTo>
                      <a:pt x="66675" y="4572"/>
                    </a:lnTo>
                    <a:lnTo>
                      <a:pt x="66675" y="64262"/>
                    </a:lnTo>
                    <a:lnTo>
                      <a:pt x="4826" y="64262"/>
                    </a:lnTo>
                    <a:lnTo>
                      <a:pt x="4826" y="4572"/>
                    </a:lnTo>
                    <a:close/>
                    <a:moveTo>
                      <a:pt x="85725" y="82677"/>
                    </a:moveTo>
                    <a:lnTo>
                      <a:pt x="147701" y="82677"/>
                    </a:lnTo>
                    <a:lnTo>
                      <a:pt x="147701" y="142367"/>
                    </a:lnTo>
                    <a:lnTo>
                      <a:pt x="85725" y="142367"/>
                    </a:lnTo>
                    <a:lnTo>
                      <a:pt x="85725" y="82677"/>
                    </a:lnTo>
                    <a:close/>
                    <a:moveTo>
                      <a:pt x="4826" y="114935"/>
                    </a:moveTo>
                    <a:lnTo>
                      <a:pt x="81026" y="114935"/>
                    </a:lnTo>
                    <a:lnTo>
                      <a:pt x="81026" y="142494"/>
                    </a:lnTo>
                    <a:lnTo>
                      <a:pt x="4826" y="142494"/>
                    </a:lnTo>
                    <a:lnTo>
                      <a:pt x="4826" y="114935"/>
                    </a:lnTo>
                    <a:close/>
                  </a:path>
                </a:pathLst>
              </a:custGeom>
              <a:solidFill>
                <a:srgbClr val="505050"/>
              </a:solidFill>
            </p:spPr>
          </p:sp>
        </p:grpSp>
        <p:grpSp>
          <p:nvGrpSpPr>
            <p:cNvPr name="Group 63" id="63"/>
            <p:cNvGrpSpPr/>
            <p:nvPr/>
          </p:nvGrpSpPr>
          <p:grpSpPr>
            <a:xfrm rot="0">
              <a:off x="3077842" y="0"/>
              <a:ext cx="536533" cy="526290"/>
              <a:chOff x="0" y="0"/>
              <a:chExt cx="279400" cy="274066"/>
            </a:xfrm>
          </p:grpSpPr>
          <p:sp>
            <p:nvSpPr>
              <p:cNvPr name="Freeform 64" id="64"/>
              <p:cNvSpPr/>
              <p:nvPr/>
            </p:nvSpPr>
            <p:spPr>
              <a:xfrm flipH="false" flipV="false" rot="0">
                <a:off x="63500" y="63500"/>
                <a:ext cx="152400" cy="147066"/>
              </a:xfrm>
              <a:custGeom>
                <a:avLst/>
                <a:gdLst/>
                <a:ahLst/>
                <a:cxnLst/>
                <a:rect r="r" b="b" t="t" l="l"/>
                <a:pathLst>
                  <a:path h="147066" w="152400">
                    <a:moveTo>
                      <a:pt x="152400" y="138049"/>
                    </a:moveTo>
                    <a:lnTo>
                      <a:pt x="152400" y="1778"/>
                    </a:lnTo>
                    <a:cubicBezTo>
                      <a:pt x="152400" y="762"/>
                      <a:pt x="151384" y="0"/>
                      <a:pt x="149987" y="0"/>
                    </a:cubicBezTo>
                    <a:lnTo>
                      <a:pt x="2413" y="0"/>
                    </a:lnTo>
                    <a:cubicBezTo>
                      <a:pt x="1143" y="0"/>
                      <a:pt x="0" y="762"/>
                      <a:pt x="0" y="1778"/>
                    </a:cubicBezTo>
                    <a:lnTo>
                      <a:pt x="0" y="138049"/>
                    </a:lnTo>
                    <a:cubicBezTo>
                      <a:pt x="0" y="143002"/>
                      <a:pt x="5207" y="147066"/>
                      <a:pt x="11684" y="147066"/>
                    </a:cubicBezTo>
                    <a:lnTo>
                      <a:pt x="140716" y="147066"/>
                    </a:lnTo>
                    <a:cubicBezTo>
                      <a:pt x="147193" y="147066"/>
                      <a:pt x="152400" y="143002"/>
                      <a:pt x="152400" y="138049"/>
                    </a:cubicBezTo>
                    <a:close/>
                    <a:moveTo>
                      <a:pt x="4826" y="50292"/>
                    </a:moveTo>
                    <a:lnTo>
                      <a:pt x="147574" y="50292"/>
                    </a:lnTo>
                    <a:lnTo>
                      <a:pt x="147574" y="65405"/>
                    </a:lnTo>
                    <a:lnTo>
                      <a:pt x="4826" y="65405"/>
                    </a:lnTo>
                    <a:lnTo>
                      <a:pt x="4826" y="50292"/>
                    </a:lnTo>
                    <a:close/>
                    <a:moveTo>
                      <a:pt x="147574" y="3683"/>
                    </a:moveTo>
                    <a:lnTo>
                      <a:pt x="147574" y="46609"/>
                    </a:lnTo>
                    <a:lnTo>
                      <a:pt x="4826" y="46609"/>
                    </a:lnTo>
                    <a:lnTo>
                      <a:pt x="4826" y="3683"/>
                    </a:lnTo>
                    <a:lnTo>
                      <a:pt x="147574" y="3683"/>
                    </a:lnTo>
                    <a:close/>
                    <a:moveTo>
                      <a:pt x="4826" y="138049"/>
                    </a:moveTo>
                    <a:lnTo>
                      <a:pt x="4826" y="69088"/>
                    </a:lnTo>
                    <a:lnTo>
                      <a:pt x="147574" y="69088"/>
                    </a:lnTo>
                    <a:lnTo>
                      <a:pt x="147574" y="138049"/>
                    </a:lnTo>
                    <a:cubicBezTo>
                      <a:pt x="147574" y="140970"/>
                      <a:pt x="144526" y="143383"/>
                      <a:pt x="140716" y="143383"/>
                    </a:cubicBezTo>
                    <a:lnTo>
                      <a:pt x="11684" y="143383"/>
                    </a:lnTo>
                    <a:cubicBezTo>
                      <a:pt x="7874" y="143383"/>
                      <a:pt x="4826" y="140970"/>
                      <a:pt x="4826" y="138049"/>
                    </a:cubicBezTo>
                    <a:close/>
                  </a:path>
                </a:pathLst>
              </a:custGeom>
              <a:solidFill>
                <a:srgbClr val="505050"/>
              </a:solidFill>
            </p:spPr>
          </p:sp>
          <p:sp>
            <p:nvSpPr>
              <p:cNvPr name="Freeform 65" id="65"/>
              <p:cNvSpPr/>
              <p:nvPr/>
            </p:nvSpPr>
            <p:spPr>
              <a:xfrm flipH="false" flipV="false" rot="0">
                <a:off x="81407" y="71374"/>
                <a:ext cx="53340" cy="34925"/>
              </a:xfrm>
              <a:custGeom>
                <a:avLst/>
                <a:gdLst/>
                <a:ahLst/>
                <a:cxnLst/>
                <a:rect r="r" b="b" t="t" l="l"/>
                <a:pathLst>
                  <a:path h="34925" w="53340">
                    <a:moveTo>
                      <a:pt x="12065" y="34925"/>
                    </a:moveTo>
                    <a:lnTo>
                      <a:pt x="41275" y="34925"/>
                    </a:lnTo>
                    <a:cubicBezTo>
                      <a:pt x="47879" y="34925"/>
                      <a:pt x="53340" y="29718"/>
                      <a:pt x="53340" y="23241"/>
                    </a:cubicBezTo>
                    <a:lnTo>
                      <a:pt x="53340" y="11684"/>
                    </a:lnTo>
                    <a:cubicBezTo>
                      <a:pt x="53340" y="5207"/>
                      <a:pt x="47879" y="0"/>
                      <a:pt x="41275" y="0"/>
                    </a:cubicBezTo>
                    <a:lnTo>
                      <a:pt x="12065" y="0"/>
                    </a:lnTo>
                    <a:cubicBezTo>
                      <a:pt x="5461" y="0"/>
                      <a:pt x="0" y="5207"/>
                      <a:pt x="0" y="11684"/>
                    </a:cubicBezTo>
                    <a:lnTo>
                      <a:pt x="0" y="23241"/>
                    </a:lnTo>
                    <a:cubicBezTo>
                      <a:pt x="0" y="29718"/>
                      <a:pt x="5461" y="34925"/>
                      <a:pt x="12065" y="34925"/>
                    </a:cubicBezTo>
                    <a:close/>
                    <a:moveTo>
                      <a:pt x="4826" y="11684"/>
                    </a:moveTo>
                    <a:cubicBezTo>
                      <a:pt x="4826" y="7747"/>
                      <a:pt x="8128" y="4699"/>
                      <a:pt x="12065" y="4699"/>
                    </a:cubicBezTo>
                    <a:lnTo>
                      <a:pt x="41275" y="4699"/>
                    </a:lnTo>
                    <a:cubicBezTo>
                      <a:pt x="45339" y="4699"/>
                      <a:pt x="48514" y="7874"/>
                      <a:pt x="48514" y="11684"/>
                    </a:cubicBezTo>
                    <a:lnTo>
                      <a:pt x="48514" y="23241"/>
                    </a:lnTo>
                    <a:cubicBezTo>
                      <a:pt x="48514" y="27178"/>
                      <a:pt x="45212" y="30226"/>
                      <a:pt x="41275" y="30226"/>
                    </a:cubicBezTo>
                    <a:lnTo>
                      <a:pt x="12065" y="30226"/>
                    </a:lnTo>
                    <a:cubicBezTo>
                      <a:pt x="8001" y="30226"/>
                      <a:pt x="4826" y="27051"/>
                      <a:pt x="4826" y="23241"/>
                    </a:cubicBezTo>
                    <a:lnTo>
                      <a:pt x="4826" y="11684"/>
                    </a:lnTo>
                    <a:close/>
                  </a:path>
                </a:pathLst>
              </a:custGeom>
              <a:solidFill>
                <a:srgbClr val="505050"/>
              </a:solidFill>
            </p:spPr>
          </p:sp>
          <p:sp>
            <p:nvSpPr>
              <p:cNvPr name="Freeform 66" id="66"/>
              <p:cNvSpPr/>
              <p:nvPr/>
            </p:nvSpPr>
            <p:spPr>
              <a:xfrm flipH="false" flipV="false" rot="0">
                <a:off x="144653" y="71374"/>
                <a:ext cx="53213" cy="34925"/>
              </a:xfrm>
              <a:custGeom>
                <a:avLst/>
                <a:gdLst/>
                <a:ahLst/>
                <a:cxnLst/>
                <a:rect r="r" b="b" t="t" l="l"/>
                <a:pathLst>
                  <a:path h="34925" w="53213">
                    <a:moveTo>
                      <a:pt x="12065" y="34925"/>
                    </a:moveTo>
                    <a:lnTo>
                      <a:pt x="41148" y="34925"/>
                    </a:lnTo>
                    <a:cubicBezTo>
                      <a:pt x="47752" y="34925"/>
                      <a:pt x="53213" y="29718"/>
                      <a:pt x="53213" y="23241"/>
                    </a:cubicBezTo>
                    <a:lnTo>
                      <a:pt x="53213" y="11684"/>
                    </a:lnTo>
                    <a:cubicBezTo>
                      <a:pt x="53213" y="5207"/>
                      <a:pt x="47752" y="0"/>
                      <a:pt x="41148" y="0"/>
                    </a:cubicBezTo>
                    <a:lnTo>
                      <a:pt x="12065" y="0"/>
                    </a:lnTo>
                    <a:cubicBezTo>
                      <a:pt x="5461" y="0"/>
                      <a:pt x="0" y="5207"/>
                      <a:pt x="0" y="11684"/>
                    </a:cubicBezTo>
                    <a:lnTo>
                      <a:pt x="0" y="23241"/>
                    </a:lnTo>
                    <a:cubicBezTo>
                      <a:pt x="0" y="29718"/>
                      <a:pt x="5461" y="34925"/>
                      <a:pt x="12065" y="34925"/>
                    </a:cubicBezTo>
                    <a:close/>
                    <a:moveTo>
                      <a:pt x="4826" y="11684"/>
                    </a:moveTo>
                    <a:cubicBezTo>
                      <a:pt x="4826" y="7747"/>
                      <a:pt x="8128" y="4699"/>
                      <a:pt x="12065" y="4699"/>
                    </a:cubicBezTo>
                    <a:lnTo>
                      <a:pt x="41148" y="4699"/>
                    </a:lnTo>
                    <a:cubicBezTo>
                      <a:pt x="45212" y="4699"/>
                      <a:pt x="48387" y="7874"/>
                      <a:pt x="48387" y="11684"/>
                    </a:cubicBezTo>
                    <a:lnTo>
                      <a:pt x="48387" y="23241"/>
                    </a:lnTo>
                    <a:cubicBezTo>
                      <a:pt x="48387" y="27178"/>
                      <a:pt x="45085" y="30226"/>
                      <a:pt x="41148" y="30226"/>
                    </a:cubicBezTo>
                    <a:lnTo>
                      <a:pt x="12065" y="30226"/>
                    </a:lnTo>
                    <a:cubicBezTo>
                      <a:pt x="8001" y="30226"/>
                      <a:pt x="4826" y="27051"/>
                      <a:pt x="4826" y="23241"/>
                    </a:cubicBezTo>
                    <a:lnTo>
                      <a:pt x="4826" y="11684"/>
                    </a:lnTo>
                    <a:close/>
                  </a:path>
                </a:pathLst>
              </a:custGeom>
              <a:solidFill>
                <a:srgbClr val="505050"/>
              </a:solidFill>
            </p:spPr>
          </p:sp>
        </p:grpSp>
        <p:sp>
          <p:nvSpPr>
            <p:cNvPr name="TextBox 67" id="67"/>
            <p:cNvSpPr txBox="true"/>
            <p:nvPr/>
          </p:nvSpPr>
          <p:spPr>
            <a:xfrm rot="0">
              <a:off x="2066107" y="125793"/>
              <a:ext cx="862539" cy="265043"/>
            </a:xfrm>
            <a:prstGeom prst="rect">
              <a:avLst/>
            </a:prstGeom>
          </p:spPr>
          <p:txBody>
            <a:bodyPr anchor="t" rtlCol="false" tIns="0" lIns="0" bIns="0" rIns="0">
              <a:spAutoFit/>
            </a:bodyPr>
            <a:lstStyle/>
            <a:p>
              <a:pPr algn="l">
                <a:lnSpc>
                  <a:spcPts val="1512"/>
                </a:lnSpc>
              </a:pPr>
              <a:r>
                <a:rPr lang="en-US" b="true" sz="1080">
                  <a:solidFill>
                    <a:srgbClr val="CC0000"/>
                  </a:solidFill>
                  <a:latin typeface="Avenir Ultra-Bold"/>
                  <a:ea typeface="Avenir Ultra-Bold"/>
                  <a:cs typeface="Avenir Ultra-Bold"/>
                  <a:sym typeface="Avenir Ultra-Bold"/>
                </a:rPr>
                <a:t>Size </a:t>
              </a:r>
              <a:r>
                <a:rPr lang="en-US" b="true" sz="1080">
                  <a:solidFill>
                    <a:srgbClr val="CC0000"/>
                  </a:solidFill>
                  <a:latin typeface="Avenir Ultra-Bold"/>
                  <a:ea typeface="Avenir Ultra-Bold"/>
                  <a:cs typeface="Avenir Ultra-Bold"/>
                  <a:sym typeface="Avenir Ultra-Bold"/>
                </a:rPr>
                <a:t>m²</a:t>
              </a:r>
            </a:p>
          </p:txBody>
        </p:sp>
        <p:sp>
          <p:nvSpPr>
            <p:cNvPr name="TextBox 68" id="68"/>
            <p:cNvSpPr txBox="true"/>
            <p:nvPr/>
          </p:nvSpPr>
          <p:spPr>
            <a:xfrm rot="0">
              <a:off x="3597601" y="125793"/>
              <a:ext cx="1369273" cy="265043"/>
            </a:xfrm>
            <a:prstGeom prst="rect">
              <a:avLst/>
            </a:prstGeom>
          </p:spPr>
          <p:txBody>
            <a:bodyPr anchor="t" rtlCol="false" tIns="0" lIns="0" bIns="0" rIns="0">
              <a:spAutoFit/>
            </a:bodyPr>
            <a:lstStyle/>
            <a:p>
              <a:pPr algn="l">
                <a:lnSpc>
                  <a:spcPts val="1512"/>
                </a:lnSpc>
              </a:pPr>
              <a:r>
                <a:rPr lang="en-US" b="true" sz="1080">
                  <a:solidFill>
                    <a:srgbClr val="CC0000"/>
                  </a:solidFill>
                  <a:latin typeface="Avenir Ultra-Bold"/>
                  <a:ea typeface="Avenir Ultra-Bold"/>
                  <a:cs typeface="Avenir Ultra-Bold"/>
                  <a:sym typeface="Avenir Ultra-Bold"/>
                </a:rPr>
                <a:t>King / Twin</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4499575" y="2243265"/>
            <a:ext cx="1150482" cy="0"/>
          </a:xfrm>
          <a:prstGeom prst="line">
            <a:avLst/>
          </a:prstGeom>
          <a:ln cap="flat" w="9525">
            <a:solidFill>
              <a:srgbClr val="131F5B"/>
            </a:solidFill>
            <a:prstDash val="solid"/>
            <a:headEnd type="none" len="sm" w="sm"/>
            <a:tailEnd type="none" len="sm" w="sm"/>
          </a:ln>
        </p:spPr>
      </p:sp>
      <p:grpSp>
        <p:nvGrpSpPr>
          <p:cNvPr name="Group 3" id="3"/>
          <p:cNvGrpSpPr/>
          <p:nvPr/>
        </p:nvGrpSpPr>
        <p:grpSpPr>
          <a:xfrm rot="0">
            <a:off x="1025255" y="6969253"/>
            <a:ext cx="3943672" cy="394367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2"/>
              <a:stretch>
                <a:fillRect l="-78303" t="0" r="-78303" b="0"/>
              </a:stretch>
            </a:blipFill>
          </p:spPr>
        </p:sp>
      </p:grpSp>
      <p:sp>
        <p:nvSpPr>
          <p:cNvPr name="TextBox 5" id="5"/>
          <p:cNvSpPr txBox="true"/>
          <p:nvPr/>
        </p:nvSpPr>
        <p:spPr>
          <a:xfrm rot="0">
            <a:off x="1700092" y="1029717"/>
            <a:ext cx="6886817" cy="589154"/>
          </a:xfrm>
          <a:prstGeom prst="rect">
            <a:avLst/>
          </a:prstGeom>
        </p:spPr>
        <p:txBody>
          <a:bodyPr anchor="t" rtlCol="false" tIns="0" lIns="0" bIns="0" rIns="0">
            <a:spAutoFit/>
          </a:bodyPr>
          <a:lstStyle/>
          <a:p>
            <a:pPr algn="ctr" marL="0" indent="0" lvl="1">
              <a:lnSpc>
                <a:spcPts val="4801"/>
              </a:lnSpc>
              <a:spcBef>
                <a:spcPct val="0"/>
              </a:spcBef>
            </a:pPr>
            <a:r>
              <a:rPr lang="en-US" b="true" sz="3429" spc="1251">
                <a:solidFill>
                  <a:srgbClr val="131F5B"/>
                </a:solidFill>
                <a:latin typeface="Montserrat Bold"/>
                <a:ea typeface="Montserrat Bold"/>
                <a:cs typeface="Montserrat Bold"/>
                <a:sym typeface="Montserrat Bold"/>
              </a:rPr>
              <a:t>COSTS</a:t>
            </a:r>
          </a:p>
        </p:txBody>
      </p:sp>
      <p:sp>
        <p:nvSpPr>
          <p:cNvPr name="TextBox 6" id="6"/>
          <p:cNvSpPr txBox="true"/>
          <p:nvPr/>
        </p:nvSpPr>
        <p:spPr>
          <a:xfrm rot="0">
            <a:off x="1168951" y="2571878"/>
            <a:ext cx="8089349" cy="3197225"/>
          </a:xfrm>
          <a:prstGeom prst="rect">
            <a:avLst/>
          </a:prstGeom>
        </p:spPr>
        <p:txBody>
          <a:bodyPr anchor="t" rtlCol="false" tIns="0" lIns="0" bIns="0" rIns="0">
            <a:spAutoFit/>
          </a:bodyPr>
          <a:lstStyle/>
          <a:p>
            <a:pPr algn="ctr">
              <a:lnSpc>
                <a:spcPts val="2519"/>
              </a:lnSpc>
            </a:pPr>
            <a:r>
              <a:rPr lang="en-US" sz="1799" spc="113">
                <a:solidFill>
                  <a:srgbClr val="131F5B"/>
                </a:solidFill>
                <a:latin typeface="Montserrat"/>
                <a:ea typeface="Montserrat"/>
                <a:cs typeface="Montserrat"/>
                <a:sym typeface="Montserrat"/>
              </a:rPr>
              <a:t>Total Cost of Accommodation + Benefits:</a:t>
            </a:r>
          </a:p>
          <a:p>
            <a:pPr algn="ctr">
              <a:lnSpc>
                <a:spcPts val="2519"/>
              </a:lnSpc>
            </a:pPr>
          </a:p>
          <a:p>
            <a:pPr algn="ctr">
              <a:lnSpc>
                <a:spcPts val="3219"/>
              </a:lnSpc>
            </a:pPr>
            <a:r>
              <a:rPr lang="en-US" b="true" sz="2299" spc="144">
                <a:solidFill>
                  <a:srgbClr val="131F5B"/>
                </a:solidFill>
                <a:latin typeface="Montserrat Bold"/>
                <a:ea typeface="Montserrat Bold"/>
                <a:cs typeface="Montserrat Bold"/>
                <a:sym typeface="Montserrat Bold"/>
              </a:rPr>
              <a:t>Accommodation Total: </a:t>
            </a:r>
            <a:r>
              <a:rPr lang="en-US" b="true" sz="2299" spc="144">
                <a:solidFill>
                  <a:srgbClr val="CC0000"/>
                </a:solidFill>
                <a:latin typeface="Montserrat Bold"/>
                <a:ea typeface="Montserrat Bold"/>
                <a:cs typeface="Montserrat Bold"/>
                <a:sym typeface="Montserrat Bold"/>
              </a:rPr>
              <a:t>€TBC approx.</a:t>
            </a:r>
          </a:p>
          <a:p>
            <a:pPr algn="ctr">
              <a:lnSpc>
                <a:spcPts val="3359"/>
              </a:lnSpc>
            </a:pPr>
          </a:p>
          <a:p>
            <a:pPr algn="ctr">
              <a:lnSpc>
                <a:spcPts val="2379"/>
              </a:lnSpc>
            </a:pPr>
            <a:r>
              <a:rPr lang="en-US" sz="1699" spc="107">
                <a:solidFill>
                  <a:srgbClr val="131F5B"/>
                </a:solidFill>
                <a:latin typeface="Montserrat"/>
                <a:ea typeface="Montserrat"/>
                <a:cs typeface="Montserrat"/>
                <a:sym typeface="Montserrat"/>
              </a:rPr>
              <a:t>Extra add-on: Little Blue Door Trip Design, Itinerary Planning, Booking &amp; Concierge Services, 24/7 support on the ground</a:t>
            </a:r>
          </a:p>
          <a:p>
            <a:pPr algn="ctr">
              <a:lnSpc>
                <a:spcPts val="3079"/>
              </a:lnSpc>
            </a:pPr>
            <a:r>
              <a:rPr lang="en-US" b="true" sz="2199" spc="138">
                <a:solidFill>
                  <a:srgbClr val="131F5B"/>
                </a:solidFill>
                <a:latin typeface="Montserrat Bold"/>
                <a:ea typeface="Montserrat Bold"/>
                <a:cs typeface="Montserrat Bold"/>
                <a:sym typeface="Montserrat Bold"/>
              </a:rPr>
              <a:t>€15%</a:t>
            </a:r>
          </a:p>
          <a:p>
            <a:pPr algn="ctr">
              <a:lnSpc>
                <a:spcPts val="3079"/>
              </a:lnSpc>
            </a:pPr>
          </a:p>
          <a:p>
            <a:pPr algn="ctr">
              <a:lnSpc>
                <a:spcPts val="3079"/>
              </a:lnSpc>
            </a:pPr>
            <a:r>
              <a:rPr lang="en-US" sz="2199" i="true" spc="138">
                <a:solidFill>
                  <a:srgbClr val="131F5B"/>
                </a:solidFill>
                <a:latin typeface="Montserrat Italics"/>
                <a:ea typeface="Montserrat Italics"/>
                <a:cs typeface="Montserrat Italics"/>
                <a:sym typeface="Montserrat Italics"/>
              </a:rPr>
              <a:t>Deposit to settle: $TBC</a:t>
            </a:r>
          </a:p>
        </p:txBody>
      </p:sp>
      <p:grpSp>
        <p:nvGrpSpPr>
          <p:cNvPr name="Group 7" id="7"/>
          <p:cNvGrpSpPr/>
          <p:nvPr/>
        </p:nvGrpSpPr>
        <p:grpSpPr>
          <a:xfrm rot="0">
            <a:off x="5314628" y="6969253"/>
            <a:ext cx="3943672" cy="3943672"/>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2"/>
              <a:stretch>
                <a:fillRect l="-78303" t="0" r="-78303" b="0"/>
              </a:stretch>
            </a:blipFill>
          </p:spPr>
        </p:sp>
      </p:grpSp>
      <p:grpSp>
        <p:nvGrpSpPr>
          <p:cNvPr name="Group 9" id="9"/>
          <p:cNvGrpSpPr/>
          <p:nvPr/>
        </p:nvGrpSpPr>
        <p:grpSpPr>
          <a:xfrm rot="0">
            <a:off x="5314628" y="11274875"/>
            <a:ext cx="3943672" cy="3943672"/>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2"/>
              <a:stretch>
                <a:fillRect l="-78303" t="0" r="-78303" b="0"/>
              </a:stretch>
            </a:blipFill>
          </p:spPr>
        </p:sp>
      </p:grpSp>
      <p:grpSp>
        <p:nvGrpSpPr>
          <p:cNvPr name="Group 11" id="11"/>
          <p:cNvGrpSpPr/>
          <p:nvPr/>
        </p:nvGrpSpPr>
        <p:grpSpPr>
          <a:xfrm rot="0">
            <a:off x="1025255" y="11274875"/>
            <a:ext cx="3943672" cy="394367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blipFill>
              <a:blip r:embed="rId2"/>
              <a:stretch>
                <a:fillRect l="-78303" t="0" r="-78303" b="0"/>
              </a:stretch>
            </a:blipFill>
          </p:spPr>
        </p:sp>
      </p:grpSp>
      <p:sp>
        <p:nvSpPr>
          <p:cNvPr name="AutoShape 13" id="13"/>
          <p:cNvSpPr/>
          <p:nvPr/>
        </p:nvSpPr>
        <p:spPr>
          <a:xfrm flipH="true">
            <a:off x="617837" y="16944085"/>
            <a:ext cx="9258300" cy="0"/>
          </a:xfrm>
          <a:prstGeom prst="line">
            <a:avLst/>
          </a:prstGeom>
          <a:ln cap="flat" w="38100">
            <a:solidFill>
              <a:srgbClr val="131F5B"/>
            </a:solidFill>
            <a:prstDash val="solid"/>
            <a:headEnd type="none" len="sm" w="sm"/>
            <a:tailEnd type="none" len="sm" w="sm"/>
          </a:ln>
        </p:spPr>
      </p:sp>
      <p:sp>
        <p:nvSpPr>
          <p:cNvPr name="Freeform 14" id="14"/>
          <p:cNvSpPr/>
          <p:nvPr/>
        </p:nvSpPr>
        <p:spPr>
          <a:xfrm flipH="false" flipV="false" rot="0">
            <a:off x="4156808" y="16565541"/>
            <a:ext cx="1973384" cy="1973384"/>
          </a:xfrm>
          <a:custGeom>
            <a:avLst/>
            <a:gdLst/>
            <a:ahLst/>
            <a:cxnLst/>
            <a:rect r="r" b="b" t="t" l="l"/>
            <a:pathLst>
              <a:path h="1973384" w="1973384">
                <a:moveTo>
                  <a:pt x="0" y="0"/>
                </a:moveTo>
                <a:lnTo>
                  <a:pt x="1973384" y="0"/>
                </a:lnTo>
                <a:lnTo>
                  <a:pt x="1973384" y="1973383"/>
                </a:lnTo>
                <a:lnTo>
                  <a:pt x="0" y="1973383"/>
                </a:lnTo>
                <a:lnTo>
                  <a:pt x="0" y="0"/>
                </a:lnTo>
                <a:close/>
              </a:path>
            </a:pathLst>
          </a:custGeom>
          <a:blipFill>
            <a:blip r:embed="rId3"/>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700092" y="1029717"/>
            <a:ext cx="6886817" cy="589154"/>
          </a:xfrm>
          <a:prstGeom prst="rect">
            <a:avLst/>
          </a:prstGeom>
        </p:spPr>
        <p:txBody>
          <a:bodyPr anchor="t" rtlCol="false" tIns="0" lIns="0" bIns="0" rIns="0">
            <a:spAutoFit/>
          </a:bodyPr>
          <a:lstStyle/>
          <a:p>
            <a:pPr algn="ctr" marL="0" indent="0" lvl="1">
              <a:lnSpc>
                <a:spcPts val="4801"/>
              </a:lnSpc>
              <a:spcBef>
                <a:spcPct val="0"/>
              </a:spcBef>
            </a:pPr>
            <a:r>
              <a:rPr lang="en-US" b="true" sz="3429" spc="1251">
                <a:solidFill>
                  <a:srgbClr val="131F5B"/>
                </a:solidFill>
                <a:latin typeface="Montserrat Bold"/>
                <a:ea typeface="Montserrat Bold"/>
                <a:cs typeface="Montserrat Bold"/>
                <a:sym typeface="Montserrat Bold"/>
              </a:rPr>
              <a:t>TERMS</a:t>
            </a:r>
          </a:p>
        </p:txBody>
      </p:sp>
      <p:sp>
        <p:nvSpPr>
          <p:cNvPr name="AutoShape 3" id="3"/>
          <p:cNvSpPr/>
          <p:nvPr/>
        </p:nvSpPr>
        <p:spPr>
          <a:xfrm flipH="true">
            <a:off x="617837" y="16944085"/>
            <a:ext cx="9258300" cy="0"/>
          </a:xfrm>
          <a:prstGeom prst="line">
            <a:avLst/>
          </a:prstGeom>
          <a:ln cap="flat" w="38100">
            <a:solidFill>
              <a:srgbClr val="131F5B"/>
            </a:solidFill>
            <a:prstDash val="solid"/>
            <a:headEnd type="none" len="sm" w="sm"/>
            <a:tailEnd type="none" len="sm" w="sm"/>
          </a:ln>
        </p:spPr>
      </p:sp>
      <p:sp>
        <p:nvSpPr>
          <p:cNvPr name="Freeform 4" id="4"/>
          <p:cNvSpPr/>
          <p:nvPr/>
        </p:nvSpPr>
        <p:spPr>
          <a:xfrm flipH="false" flipV="false" rot="0">
            <a:off x="4156808" y="16565541"/>
            <a:ext cx="1973384" cy="1973384"/>
          </a:xfrm>
          <a:custGeom>
            <a:avLst/>
            <a:gdLst/>
            <a:ahLst/>
            <a:cxnLst/>
            <a:rect r="r" b="b" t="t" l="l"/>
            <a:pathLst>
              <a:path h="1973384" w="1973384">
                <a:moveTo>
                  <a:pt x="0" y="0"/>
                </a:moveTo>
                <a:lnTo>
                  <a:pt x="1973384" y="0"/>
                </a:lnTo>
                <a:lnTo>
                  <a:pt x="1973384" y="1973383"/>
                </a:lnTo>
                <a:lnTo>
                  <a:pt x="0" y="1973383"/>
                </a:lnTo>
                <a:lnTo>
                  <a:pt x="0" y="0"/>
                </a:lnTo>
                <a:close/>
              </a:path>
            </a:pathLst>
          </a:custGeom>
          <a:blipFill>
            <a:blip r:embed="rId2"/>
            <a:stretch>
              <a:fillRect l="0" t="0" r="0" b="0"/>
            </a:stretch>
          </a:blipFill>
        </p:spPr>
      </p:sp>
      <p:sp>
        <p:nvSpPr>
          <p:cNvPr name="AutoShape 5" id="5"/>
          <p:cNvSpPr/>
          <p:nvPr/>
        </p:nvSpPr>
        <p:spPr>
          <a:xfrm>
            <a:off x="4638384" y="2763101"/>
            <a:ext cx="1150482" cy="0"/>
          </a:xfrm>
          <a:prstGeom prst="line">
            <a:avLst/>
          </a:prstGeom>
          <a:ln cap="flat" w="9525">
            <a:solidFill>
              <a:srgbClr val="131E5B"/>
            </a:solidFill>
            <a:prstDash val="solid"/>
            <a:headEnd type="none" len="sm" w="sm"/>
            <a:tailEnd type="none" len="sm" w="sm"/>
          </a:ln>
        </p:spPr>
      </p:sp>
      <p:sp>
        <p:nvSpPr>
          <p:cNvPr name="TextBox 6" id="6"/>
          <p:cNvSpPr txBox="true"/>
          <p:nvPr/>
        </p:nvSpPr>
        <p:spPr>
          <a:xfrm rot="0">
            <a:off x="1168951" y="3227311"/>
            <a:ext cx="8089349" cy="7733647"/>
          </a:xfrm>
          <a:prstGeom prst="rect">
            <a:avLst/>
          </a:prstGeom>
        </p:spPr>
        <p:txBody>
          <a:bodyPr anchor="t" rtlCol="false" tIns="0" lIns="0" bIns="0" rIns="0">
            <a:spAutoFit/>
          </a:bodyPr>
          <a:lstStyle/>
          <a:p>
            <a:pPr algn="l" marL="329404" indent="-164702" lvl="1">
              <a:lnSpc>
                <a:spcPts val="2136"/>
              </a:lnSpc>
              <a:buFont typeface="Arial"/>
              <a:buChar char="•"/>
            </a:pPr>
            <a:r>
              <a:rPr lang="en-US" sz="1525" spc="96" strike="noStrike" u="none">
                <a:solidFill>
                  <a:srgbClr val="131E5B"/>
                </a:solidFill>
                <a:latin typeface="Montserrat"/>
                <a:ea typeface="Montserrat"/>
                <a:cs typeface="Montserrat"/>
                <a:sym typeface="Montserrat"/>
              </a:rPr>
              <a:t>We provide only the best, vetted advice and insider knowledge. Avoid the tourist traps and fall in love with the authenticity of every location.</a:t>
            </a:r>
          </a:p>
          <a:p>
            <a:pPr algn="l">
              <a:lnSpc>
                <a:spcPts val="2136"/>
              </a:lnSpc>
            </a:pPr>
          </a:p>
          <a:p>
            <a:pPr algn="l" marL="329404" indent="-164702" lvl="1">
              <a:lnSpc>
                <a:spcPts val="2136"/>
              </a:lnSpc>
              <a:buFont typeface="Arial"/>
              <a:buChar char="•"/>
            </a:pPr>
            <a:r>
              <a:rPr lang="en-US" sz="1525" spc="96" strike="noStrike" u="none">
                <a:solidFill>
                  <a:srgbClr val="131E5B"/>
                </a:solidFill>
                <a:latin typeface="Montserrat"/>
                <a:ea typeface="Montserrat"/>
                <a:cs typeface="Montserrat"/>
                <a:sym typeface="Montserrat"/>
              </a:rPr>
              <a:t>Our experts and dedicated support managers will be avalibale on WhatsApp if you have any issues or requests during your trip.</a:t>
            </a:r>
          </a:p>
          <a:p>
            <a:pPr algn="l">
              <a:lnSpc>
                <a:spcPts val="2136"/>
              </a:lnSpc>
            </a:pPr>
          </a:p>
          <a:p>
            <a:pPr algn="l" marL="329404" indent="-164702" lvl="1">
              <a:lnSpc>
                <a:spcPts val="2136"/>
              </a:lnSpc>
              <a:buFont typeface="Arial"/>
              <a:buChar char="•"/>
            </a:pPr>
            <a:r>
              <a:rPr lang="en-US" sz="1525" spc="96" strike="noStrike" u="none">
                <a:solidFill>
                  <a:srgbClr val="131E5B"/>
                </a:solidFill>
                <a:latin typeface="Montserrat"/>
                <a:ea typeface="Montserrat"/>
                <a:cs typeface="Montserrat"/>
                <a:sym typeface="Montserrat"/>
              </a:rPr>
              <a:t>All bookings included in the travel guide will be guaranteed and made for you, including restaurant reservations, boat reservations, tour guides, etc.</a:t>
            </a:r>
          </a:p>
          <a:p>
            <a:pPr algn="l">
              <a:lnSpc>
                <a:spcPts val="2136"/>
              </a:lnSpc>
            </a:pPr>
          </a:p>
          <a:p>
            <a:pPr algn="l" marL="329404" indent="-164702" lvl="1">
              <a:lnSpc>
                <a:spcPts val="2136"/>
              </a:lnSpc>
              <a:buFont typeface="Arial"/>
              <a:buChar char="•"/>
            </a:pPr>
            <a:r>
              <a:rPr lang="en-US" sz="1525" spc="96" strike="noStrike" u="none">
                <a:solidFill>
                  <a:srgbClr val="131E5B"/>
                </a:solidFill>
                <a:latin typeface="Montserrat"/>
                <a:ea typeface="Montserrat"/>
                <a:cs typeface="Montserrat"/>
                <a:sym typeface="Montserrat"/>
              </a:rPr>
              <a:t>One big point of difference between our concierge service and booking activities directly through the hotel, is that they are likely to add a 2x mark up on all the experiences. </a:t>
            </a:r>
            <a:r>
              <a:rPr lang="en-US" b="true" sz="1525" spc="96" strike="noStrike" u="none">
                <a:solidFill>
                  <a:srgbClr val="131E5B"/>
                </a:solidFill>
                <a:latin typeface="Montserrat Bold"/>
                <a:ea typeface="Montserrat Bold"/>
                <a:cs typeface="Montserrat Bold"/>
                <a:sym typeface="Montserrat Bold"/>
              </a:rPr>
              <a:t>All bookings we arrange are done at the original rates, without any markups. We like to remain as transparent as possible! </a:t>
            </a:r>
          </a:p>
          <a:p>
            <a:pPr algn="l">
              <a:lnSpc>
                <a:spcPts val="2136"/>
              </a:lnSpc>
            </a:pPr>
          </a:p>
          <a:p>
            <a:pPr algn="l" marL="329404" indent="-164702" lvl="1">
              <a:lnSpc>
                <a:spcPts val="2136"/>
              </a:lnSpc>
              <a:buFont typeface="Arial"/>
              <a:buChar char="•"/>
            </a:pPr>
            <a:r>
              <a:rPr lang="en-US" sz="1525" spc="96" strike="noStrike" u="none">
                <a:solidFill>
                  <a:srgbClr val="131E5B"/>
                </a:solidFill>
                <a:latin typeface="Montserrat"/>
                <a:ea typeface="Montserrat"/>
                <a:cs typeface="Montserrat"/>
                <a:sym typeface="Montserrat"/>
              </a:rPr>
              <a:t>We are able to secure certain perks and preferential treatments, such as discounts, upgrades and the best tables at certain locations.</a:t>
            </a:r>
          </a:p>
          <a:p>
            <a:pPr algn="l">
              <a:lnSpc>
                <a:spcPts val="2136"/>
              </a:lnSpc>
            </a:pPr>
          </a:p>
          <a:p>
            <a:pPr algn="l" marL="329404" indent="-164702" lvl="1">
              <a:lnSpc>
                <a:spcPts val="2136"/>
              </a:lnSpc>
              <a:buFont typeface="Arial"/>
              <a:buChar char="•"/>
            </a:pPr>
            <a:r>
              <a:rPr lang="en-US" sz="1525" spc="96" strike="noStrike" u="none">
                <a:solidFill>
                  <a:srgbClr val="131E5B"/>
                </a:solidFill>
                <a:latin typeface="Montserrat"/>
                <a:ea typeface="Montserrat"/>
                <a:cs typeface="Montserrat"/>
                <a:sym typeface="Montserrat"/>
              </a:rPr>
              <a:t>The final bespoke itinerary would also include exact timings for your reference. It will also include pro tips, links and descriptions of each locations and restaurant, so you have the full scoop on each place.  </a:t>
            </a:r>
          </a:p>
          <a:p>
            <a:pPr algn="l">
              <a:lnSpc>
                <a:spcPts val="2136"/>
              </a:lnSpc>
            </a:pPr>
          </a:p>
          <a:p>
            <a:pPr algn="l" marL="329404" indent="-164702" lvl="1">
              <a:lnSpc>
                <a:spcPts val="2136"/>
              </a:lnSpc>
              <a:buFont typeface="Arial"/>
              <a:buChar char="•"/>
            </a:pPr>
            <a:r>
              <a:rPr lang="en-US" sz="1525" spc="96" strike="noStrike" u="none">
                <a:solidFill>
                  <a:srgbClr val="131E5B"/>
                </a:solidFill>
                <a:latin typeface="Montserrat"/>
                <a:ea typeface="Montserrat"/>
                <a:cs typeface="Montserrat"/>
                <a:sym typeface="Montserrat"/>
              </a:rPr>
              <a:t>Any amendments you wish to make to the guide once its done is free of any extra charge - including changes to bookings and activities. </a:t>
            </a:r>
          </a:p>
          <a:p>
            <a:pPr algn="l">
              <a:lnSpc>
                <a:spcPts val="2136"/>
              </a:lnSpc>
            </a:pPr>
          </a:p>
          <a:p>
            <a:pPr algn="l" marL="329404" indent="-164702" lvl="1">
              <a:lnSpc>
                <a:spcPts val="2136"/>
              </a:lnSpc>
              <a:buFont typeface="Arial"/>
              <a:buChar char="•"/>
            </a:pPr>
            <a:r>
              <a:rPr lang="en-US" sz="1525" spc="96" strike="noStrike" u="none">
                <a:solidFill>
                  <a:srgbClr val="131E5B"/>
                </a:solidFill>
                <a:latin typeface="Montserrat"/>
                <a:ea typeface="Montserrat"/>
                <a:cs typeface="Montserrat"/>
                <a:sym typeface="Montserrat"/>
              </a:rPr>
              <a:t>Prior to preparing the final itinerary,  we will ask you to fill out a form, so we know a little bit more about you and what your ideal holiday looks like. </a:t>
            </a:r>
          </a:p>
        </p:txBody>
      </p:sp>
      <p:sp>
        <p:nvSpPr>
          <p:cNvPr name="TextBox 7" id="7"/>
          <p:cNvSpPr txBox="true"/>
          <p:nvPr/>
        </p:nvSpPr>
        <p:spPr>
          <a:xfrm rot="0">
            <a:off x="1168951" y="1964017"/>
            <a:ext cx="7949099" cy="365696"/>
          </a:xfrm>
          <a:prstGeom prst="rect">
            <a:avLst/>
          </a:prstGeom>
        </p:spPr>
        <p:txBody>
          <a:bodyPr anchor="t" rtlCol="false" tIns="0" lIns="0" bIns="0" rIns="0">
            <a:spAutoFit/>
          </a:bodyPr>
          <a:lstStyle/>
          <a:p>
            <a:pPr algn="ctr">
              <a:lnSpc>
                <a:spcPts val="3015"/>
              </a:lnSpc>
            </a:pPr>
            <a:r>
              <a:rPr lang="en-US" sz="1850" spc="876">
                <a:solidFill>
                  <a:srgbClr val="131E5B"/>
                </a:solidFill>
                <a:latin typeface="Nunito"/>
                <a:ea typeface="Nunito"/>
                <a:cs typeface="Nunito"/>
                <a:sym typeface="Nunito"/>
              </a:rPr>
              <a:t>WHY USE LBD’S BESPOKE SERVICES?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992415"/>
            <a:ext cx="10287000" cy="10287000"/>
          </a:xfrm>
          <a:custGeom>
            <a:avLst/>
            <a:gdLst/>
            <a:ahLst/>
            <a:cxnLst/>
            <a:rect r="r" b="b" t="t" l="l"/>
            <a:pathLst>
              <a:path h="10287000" w="10287000">
                <a:moveTo>
                  <a:pt x="0" y="0"/>
                </a:moveTo>
                <a:lnTo>
                  <a:pt x="10287000" y="0"/>
                </a:lnTo>
                <a:lnTo>
                  <a:pt x="10287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3351202" y="7918846"/>
            <a:ext cx="3584597" cy="3334089"/>
          </a:xfrm>
          <a:prstGeom prst="rect">
            <a:avLst/>
          </a:prstGeom>
        </p:spPr>
        <p:txBody>
          <a:bodyPr anchor="t" rtlCol="false" tIns="0" lIns="0" bIns="0" rIns="0">
            <a:spAutoFit/>
          </a:bodyPr>
          <a:lstStyle/>
          <a:p>
            <a:pPr algn="ctr" marL="0" indent="0" lvl="1">
              <a:lnSpc>
                <a:spcPts val="2081"/>
              </a:lnSpc>
              <a:spcBef>
                <a:spcPct val="0"/>
              </a:spcBef>
            </a:pPr>
          </a:p>
          <a:p>
            <a:pPr algn="ctr" marL="0" indent="0" lvl="1">
              <a:lnSpc>
                <a:spcPts val="2081"/>
              </a:lnSpc>
              <a:spcBef>
                <a:spcPct val="0"/>
              </a:spcBef>
            </a:pPr>
            <a:r>
              <a:rPr lang="en-US" b="true" sz="1486" spc="542" strike="noStrike" u="none">
                <a:solidFill>
                  <a:srgbClr val="131F5B"/>
                </a:solidFill>
                <a:latin typeface="Montserrat Medium"/>
                <a:ea typeface="Montserrat Medium"/>
                <a:cs typeface="Montserrat Medium"/>
                <a:sym typeface="Montserrat Medium"/>
              </a:rPr>
              <a:t>BESPOKE BOOKINGS</a:t>
            </a:r>
          </a:p>
          <a:p>
            <a:pPr algn="ctr" marL="0" indent="0" lvl="1">
              <a:lnSpc>
                <a:spcPts val="2081"/>
              </a:lnSpc>
              <a:spcBef>
                <a:spcPct val="0"/>
              </a:spcBef>
            </a:pPr>
          </a:p>
          <a:p>
            <a:pPr algn="ctr" marL="0" indent="0" lvl="1">
              <a:lnSpc>
                <a:spcPts val="2081"/>
              </a:lnSpc>
              <a:spcBef>
                <a:spcPct val="0"/>
              </a:spcBef>
            </a:pPr>
            <a:r>
              <a:rPr lang="en-US" b="true" sz="1486" spc="542" strike="noStrike" u="none">
                <a:solidFill>
                  <a:srgbClr val="131F5B"/>
                </a:solidFill>
                <a:latin typeface="Montserrat Medium"/>
                <a:ea typeface="Montserrat Medium"/>
                <a:cs typeface="Montserrat Medium"/>
                <a:sym typeface="Montserrat Medium"/>
              </a:rPr>
              <a:t>CUSTOM </a:t>
            </a:r>
          </a:p>
          <a:p>
            <a:pPr algn="ctr" marL="0" indent="0" lvl="1">
              <a:lnSpc>
                <a:spcPts val="2081"/>
              </a:lnSpc>
              <a:spcBef>
                <a:spcPct val="0"/>
              </a:spcBef>
            </a:pPr>
            <a:r>
              <a:rPr lang="en-US" b="true" sz="1486" spc="542" strike="noStrike" u="none">
                <a:solidFill>
                  <a:srgbClr val="131F5B"/>
                </a:solidFill>
                <a:latin typeface="Montserrat Medium"/>
                <a:ea typeface="Montserrat Medium"/>
                <a:cs typeface="Montserrat Medium"/>
                <a:sym typeface="Montserrat Medium"/>
              </a:rPr>
              <a:t>ITINERARIES</a:t>
            </a:r>
          </a:p>
          <a:p>
            <a:pPr algn="ctr" marL="0" indent="0" lvl="1">
              <a:lnSpc>
                <a:spcPts val="2081"/>
              </a:lnSpc>
              <a:spcBef>
                <a:spcPct val="0"/>
              </a:spcBef>
            </a:pPr>
          </a:p>
          <a:p>
            <a:pPr algn="ctr" marL="0" indent="0" lvl="1">
              <a:lnSpc>
                <a:spcPts val="2081"/>
              </a:lnSpc>
              <a:spcBef>
                <a:spcPct val="0"/>
              </a:spcBef>
            </a:pPr>
            <a:r>
              <a:rPr lang="en-US" b="true" sz="1486" spc="542" strike="noStrike" u="none">
                <a:solidFill>
                  <a:srgbClr val="131F5B"/>
                </a:solidFill>
                <a:latin typeface="Montserrat Medium"/>
                <a:ea typeface="Montserrat Medium"/>
                <a:cs typeface="Montserrat Medium"/>
                <a:sym typeface="Montserrat Medium"/>
              </a:rPr>
              <a:t>EXCLUSIVE </a:t>
            </a:r>
          </a:p>
          <a:p>
            <a:pPr algn="ctr" marL="0" indent="0" lvl="1">
              <a:lnSpc>
                <a:spcPts val="2081"/>
              </a:lnSpc>
              <a:spcBef>
                <a:spcPct val="0"/>
              </a:spcBef>
            </a:pPr>
            <a:r>
              <a:rPr lang="en-US" b="true" sz="1486" spc="542" strike="noStrike" u="none">
                <a:solidFill>
                  <a:srgbClr val="131F5B"/>
                </a:solidFill>
                <a:latin typeface="Montserrat Medium"/>
                <a:ea typeface="Montserrat Medium"/>
                <a:cs typeface="Montserrat Medium"/>
                <a:sym typeface="Montserrat Medium"/>
              </a:rPr>
              <a:t>BENEFITS</a:t>
            </a:r>
          </a:p>
          <a:p>
            <a:pPr algn="ctr" marL="0" indent="0" lvl="1">
              <a:lnSpc>
                <a:spcPts val="2081"/>
              </a:lnSpc>
              <a:spcBef>
                <a:spcPct val="0"/>
              </a:spcBef>
            </a:pPr>
          </a:p>
          <a:p>
            <a:pPr algn="ctr" marL="0" indent="0" lvl="1">
              <a:lnSpc>
                <a:spcPts val="2081"/>
              </a:lnSpc>
              <a:spcBef>
                <a:spcPct val="0"/>
              </a:spcBef>
            </a:pPr>
            <a:r>
              <a:rPr lang="en-US" b="true" sz="1486" spc="542" strike="noStrike" u="none">
                <a:solidFill>
                  <a:srgbClr val="131F5B"/>
                </a:solidFill>
                <a:latin typeface="Montserrat Medium"/>
                <a:ea typeface="Montserrat Medium"/>
                <a:cs typeface="Montserrat Medium"/>
                <a:sym typeface="Montserrat Medium"/>
              </a:rPr>
              <a:t>INSIDER KNOWLEDGE</a:t>
            </a:r>
          </a:p>
          <a:p>
            <a:pPr algn="ctr" marL="0" indent="0" lvl="1">
              <a:lnSpc>
                <a:spcPts val="2081"/>
              </a:lnSpc>
              <a:spcBef>
                <a:spcPct val="0"/>
              </a:spcBef>
            </a:pPr>
          </a:p>
          <a:p>
            <a:pPr algn="ctr" marL="0" indent="0" lvl="1">
              <a:lnSpc>
                <a:spcPts val="2081"/>
              </a:lnSpc>
              <a:spcBef>
                <a:spcPct val="0"/>
              </a:spcBef>
            </a:pPr>
            <a:r>
              <a:rPr lang="en-US" b="true" sz="1486" spc="542" strike="noStrike" u="none">
                <a:solidFill>
                  <a:srgbClr val="131F5B"/>
                </a:solidFill>
                <a:latin typeface="Montserrat Medium"/>
                <a:ea typeface="Montserrat Medium"/>
                <a:cs typeface="Montserrat Medium"/>
                <a:sym typeface="Montserrat Medium"/>
              </a:rPr>
              <a:t>PERSONALIZED CONCIERGE SERVICES</a:t>
            </a:r>
          </a:p>
        </p:txBody>
      </p:sp>
      <p:sp>
        <p:nvSpPr>
          <p:cNvPr name="TextBox 4" id="4"/>
          <p:cNvSpPr txBox="true"/>
          <p:nvPr/>
        </p:nvSpPr>
        <p:spPr>
          <a:xfrm rot="0">
            <a:off x="2356973" y="15901607"/>
            <a:ext cx="5715278" cy="273472"/>
          </a:xfrm>
          <a:prstGeom prst="rect">
            <a:avLst/>
          </a:prstGeom>
        </p:spPr>
        <p:txBody>
          <a:bodyPr anchor="t" rtlCol="false" tIns="0" lIns="0" bIns="0" rIns="0">
            <a:spAutoFit/>
          </a:bodyPr>
          <a:lstStyle/>
          <a:p>
            <a:pPr algn="ctr" marL="0" indent="0" lvl="0">
              <a:lnSpc>
                <a:spcPts val="2251"/>
              </a:lnSpc>
              <a:spcBef>
                <a:spcPct val="0"/>
              </a:spcBef>
            </a:pPr>
            <a:r>
              <a:rPr lang="en-US" b="true" sz="1608" spc="587">
                <a:solidFill>
                  <a:srgbClr val="131F5B"/>
                </a:solidFill>
                <a:latin typeface="Montserrat Bold"/>
                <a:ea typeface="Montserrat Bold"/>
                <a:cs typeface="Montserrat Bold"/>
                <a:sym typeface="Montserrat Bold"/>
              </a:rPr>
              <a:t>INFO@LITTLEBLUEDOOR.IO</a:t>
            </a:r>
          </a:p>
        </p:txBody>
      </p:sp>
      <p:sp>
        <p:nvSpPr>
          <p:cNvPr name="TextBox 5" id="5"/>
          <p:cNvSpPr txBox="true"/>
          <p:nvPr/>
        </p:nvSpPr>
        <p:spPr>
          <a:xfrm rot="0">
            <a:off x="689198" y="2713880"/>
            <a:ext cx="8908604" cy="1462437"/>
          </a:xfrm>
          <a:prstGeom prst="rect">
            <a:avLst/>
          </a:prstGeom>
        </p:spPr>
        <p:txBody>
          <a:bodyPr anchor="t" rtlCol="false" tIns="0" lIns="0" bIns="0" rIns="0">
            <a:spAutoFit/>
          </a:bodyPr>
          <a:lstStyle/>
          <a:p>
            <a:pPr algn="ctr" marL="0" indent="0" lvl="1">
              <a:lnSpc>
                <a:spcPts val="3918"/>
              </a:lnSpc>
              <a:spcBef>
                <a:spcPct val="0"/>
              </a:spcBef>
            </a:pPr>
            <a:r>
              <a:rPr lang="en-US" b="true" sz="2798" spc="1021">
                <a:solidFill>
                  <a:srgbClr val="131F5B"/>
                </a:solidFill>
                <a:latin typeface="Montserrat Semi-Bold"/>
                <a:ea typeface="Montserrat Semi-Bold"/>
                <a:cs typeface="Montserrat Semi-Bold"/>
                <a:sym typeface="Montserrat Semi-Bold"/>
              </a:rPr>
              <a:t>WE LOOK FORWARD TO CURATING YOUR DREAM TRIP T</a:t>
            </a:r>
            <a:r>
              <a:rPr lang="en-US" b="true" sz="2798" spc="1021">
                <a:solidFill>
                  <a:srgbClr val="131F5B"/>
                </a:solidFill>
                <a:latin typeface="Montserrat Semi-Bold"/>
                <a:ea typeface="Montserrat Semi-Bold"/>
                <a:cs typeface="Montserrat Semi-Bold"/>
                <a:sym typeface="Montserrat Semi-Bold"/>
              </a:rPr>
              <a:t>O</a:t>
            </a:r>
            <a:r>
              <a:rPr lang="en-US" b="true" sz="2798" spc="1021">
                <a:solidFill>
                  <a:srgbClr val="131F5B"/>
                </a:solidFill>
                <a:latin typeface="Montserrat Semi-Bold"/>
                <a:ea typeface="Montserrat Semi-Bold"/>
                <a:cs typeface="Montserrat Semi-Bold"/>
                <a:sym typeface="Montserrat Semi-Bold"/>
              </a:rPr>
              <a:t> </a:t>
            </a:r>
            <a:r>
              <a:rPr lang="en-US" b="true" sz="2798" i="true" spc="1021">
                <a:solidFill>
                  <a:srgbClr val="CC0000"/>
                </a:solidFill>
                <a:latin typeface="Montserrat Semi-Bold Italics"/>
                <a:ea typeface="Montserrat Semi-Bold Italics"/>
                <a:cs typeface="Montserrat Semi-Bold Italics"/>
                <a:sym typeface="Montserrat Semi-Bold Italics"/>
              </a:rPr>
              <a:t>LOCATION</a:t>
            </a:r>
          </a:p>
        </p:txBody>
      </p:sp>
      <p:sp>
        <p:nvSpPr>
          <p:cNvPr name="Freeform 6" id="6"/>
          <p:cNvSpPr/>
          <p:nvPr/>
        </p:nvSpPr>
        <p:spPr>
          <a:xfrm flipH="false" flipV="false" rot="0">
            <a:off x="4156808" y="16565541"/>
            <a:ext cx="1973384" cy="1973384"/>
          </a:xfrm>
          <a:custGeom>
            <a:avLst/>
            <a:gdLst/>
            <a:ahLst/>
            <a:cxnLst/>
            <a:rect r="r" b="b" t="t" l="l"/>
            <a:pathLst>
              <a:path h="1973384" w="1973384">
                <a:moveTo>
                  <a:pt x="0" y="0"/>
                </a:moveTo>
                <a:lnTo>
                  <a:pt x="1973384" y="0"/>
                </a:lnTo>
                <a:lnTo>
                  <a:pt x="1973384" y="1973383"/>
                </a:lnTo>
                <a:lnTo>
                  <a:pt x="0" y="1973383"/>
                </a:lnTo>
                <a:lnTo>
                  <a:pt x="0" y="0"/>
                </a:lnTo>
                <a:close/>
              </a:path>
            </a:pathLst>
          </a:custGeom>
          <a:blipFill>
            <a:blip r:embed="rId3"/>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DAHHN8KFNps</dc:identifier>
  <dcterms:modified xsi:type="dcterms:W3CDTF">2011-08-01T06:04:30Z</dcterms:modified>
  <cp:revision>1</cp:revision>
  <dc:title>LBD template hotel only proposal</dc:title>
</cp:coreProperties>
</file>